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Pendapatan usaha</c:v>
                </c:pt>
              </c:strCache>
            </c:strRef>
          </c:tx>
          <c:spPr>
            <a:solidFill>
              <a:srgbClr val="154C5B"/>
            </a:solidFill>
            <a:effectLst/>
          </c:spPr>
          <c:invertIfNegative val="0"/>
          <c:dLbls>
            <c:numFmt formatCode="0.0" sourceLinked="0"/>
            <c:txPr>
              <a:bodyPr/>
              <a:lstStyle/>
              <a:p>
                <a:pPr>
                  <a:defRPr b="0" i="0" strike="noStrike" sz="700" u="none">
                    <a:solidFill>
                      <a:srgbClr val="3A4046"/>
                    </a:solidFill>
                    <a:latin typeface="Arial"/>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406.3</c:v>
                </c:pt>
                <c:pt idx="1">
                  <c:v>407.1</c:v>
                </c:pt>
                <c:pt idx="2">
                  <c:v>432.7</c:v>
                </c:pt>
              </c:numCache>
            </c:numRef>
          </c:val>
        </c:ser>
        <c:ser>
          <c:idx val="1"/>
          <c:order val="1"/>
          <c:tx>
            <c:strRef>
              <c:f>Sheet1!$C$1</c:f>
              <c:strCache>
                <c:ptCount val="1"/>
                <c:pt idx="0">
                  <c:v>Laba usaha</c:v>
                </c:pt>
              </c:strCache>
            </c:strRef>
          </c:tx>
          <c:spPr>
            <a:solidFill>
              <a:srgbClr val="B08327"/>
            </a:solidFill>
            <a:effectLst/>
          </c:spPr>
          <c:invertIfNegative val="0"/>
          <c:dLbls>
            <c:numFmt formatCode="0.0" sourceLinked="0"/>
            <c:txPr>
              <a:bodyPr/>
              <a:lstStyle/>
              <a:p>
                <a:pPr>
                  <a:defRPr b="0" i="0" strike="noStrike" sz="700" u="none">
                    <a:solidFill>
                      <a:srgbClr val="3A4046"/>
                    </a:solidFill>
                    <a:latin typeface="Arial"/>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226.1</c:v>
                </c:pt>
                <c:pt idx="1">
                  <c:v>210.3</c:v>
                </c:pt>
                <c:pt idx="2">
                  <c:v>205.6</c:v>
                </c:pt>
              </c:numCache>
            </c:numRef>
          </c:val>
        </c:ser>
        <c:ser>
          <c:idx val="2"/>
          <c:order val="2"/>
          <c:tx>
            <c:strRef>
              <c:f>Sheet1!$D$1</c:f>
              <c:strCache>
                <c:ptCount val="1"/>
                <c:pt idx="0">
                  <c:v>Laba tahun berjalan</c:v>
                </c:pt>
              </c:strCache>
            </c:strRef>
          </c:tx>
          <c:spPr>
            <a:solidFill>
              <a:srgbClr val="C1502E"/>
            </a:solidFill>
            <a:effectLst/>
          </c:spPr>
          <c:invertIfNegative val="0"/>
          <c:dLbls>
            <c:numFmt formatCode="0.0" sourceLinked="0"/>
            <c:txPr>
              <a:bodyPr/>
              <a:lstStyle/>
              <a:p>
                <a:pPr>
                  <a:defRPr b="0" i="0" strike="noStrike" sz="700" u="none">
                    <a:solidFill>
                      <a:srgbClr val="3A4046"/>
                    </a:solidFill>
                    <a:latin typeface="Arial"/>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Sheet1!$D$2:$D$4</c:f>
              <c:numCache>
                <c:formatCode>General</c:formatCode>
                <c:ptCount val="3"/>
                <c:pt idx="0">
                  <c:v>163.6</c:v>
                </c:pt>
                <c:pt idx="1">
                  <c:v>160.3</c:v>
                </c:pt>
                <c:pt idx="2">
                  <c:v>137.7</c:v>
                </c:pt>
              </c:numCache>
            </c:numRef>
          </c:val>
        </c:ser>
        <c:dLbls>
          <c:numFmt formatCode="0.0" sourceLinked="0"/>
          <c:txPr>
            <a:bodyPr/>
            <a:lstStyle/>
            <a:p>
              <a:pPr>
                <a:defRPr b="0" i="0" strike="noStrike" sz="700" u="none">
                  <a:solidFill>
                    <a:srgbClr val="3A4046"/>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0"/>
          <c:min val="0"/>
        </c:scaling>
        <c:delete val="0"/>
        <c:axPos val="l"/>
        <c:majorGridlines>
          <c:spPr>
            <a:ln w="6350" cap="flat">
              <a:solidFill>
                <a:srgbClr val="E4E0D8"/>
              </a:solidFill>
              <a:prstDash val="solid"/>
              <a:round/>
            </a:ln>
          </c:spPr>
        </c:majorGridlines>
        <c:title>
          <c:tx>
            <c:rich>
              <a:bodyPr/>
              <a:lstStyle/>
              <a:p>
                <a:pPr>
                  <a:defRPr sz="800" b="0" i="0" u="none" strike="noStrike">
                    <a:solidFill>
                      <a:srgbClr val="000000"/>
                    </a:solidFill>
                    <a:latin typeface="Arial"/>
                  </a:defRPr>
                </a:pPr>
                <a:r>
                  <a:rPr sz="800" b="0" i="0" u="none" strike="noStrike">
                    <a:solidFill>
                      <a:srgbClr val="000000"/>
                    </a:solidFill>
                    <a:latin typeface="Arial"/>
                  </a:rPr>
                  <a:t>USD juta</a:t>
                </a:r>
              </a:p>
            </c:rich>
          </c:tx>
          <c:layout/>
          <c:overlay val="0"/>
        </c:title>
        <c:numFmt formatCode="General" sourceLinked="0"/>
        <c:majorTickMark val="out"/>
        <c:minorTickMark val="none"/>
        <c:tickLblPos val="nextTo"/>
        <c:spPr>
          <a:ln w="12700" cap="flat">
            <a:no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150"/>
      </c:valAx>
      <c:spPr>
        <a:solidFill>
          <a:srgbClr val="FFFFFF"/>
        </a:solidFill>
        <a:ln>
          <a:noFill/>
        </a:ln>
        <a:effectLst/>
      </c:spPr>
    </c:plotArea>
    <c:legend>
      <c:legendPos val="b"/>
      <c:overlay val="0"/>
      <c:txPr>
        <a:bodyPr/>
        <a:lstStyle/>
        <a:p>
          <a:pPr>
            <a:defRPr sz="8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Perubahan</c:v>
                </c:pt>
              </c:strCache>
            </c:strRef>
          </c:tx>
          <c:spPr>
            <a:solidFill>
              <a:srgbClr val="154C5B"/>
            </a:solidFill>
            <a:effectLst/>
          </c:spPr>
          <c:invertIfNegative val="0"/>
          <c:dLbls>
            <c:numFmt formatCode="0.0" sourceLinked="0"/>
            <c:txPr>
              <a:bodyPr/>
              <a:lstStyle/>
              <a:p>
                <a:pPr>
                  <a:defRPr b="0" i="0" strike="noStrike" sz="750" u="none">
                    <a:solidFill>
                      <a:srgbClr val="3A4046"/>
                    </a:solidFill>
                    <a:latin typeface="Arial"/>
                  </a:defRPr>
                </a:pPr>
              </a:p>
            </c:txPr>
            <c:showLegendKey val="0"/>
            <c:showVal val="1"/>
            <c:showCatName val="0"/>
            <c:showSerName val="0"/>
            <c:showPercent val="0"/>
            <c:showBubbleSize val="0"/>
            <c:showLeaderLines val="0"/>
          </c:dLbls>
          <c:dPt>
            <c:idx val="0"/>
            <c:invertIfNegative val="0"/>
            <c:bubble3D val="0"/>
            <c:spPr>
              <a:solidFill>
                <a:srgbClr val="C1502E"/>
              </a:solidFill>
              <a:effectLst/>
            </c:spPr>
          </c:dPt>
          <c:dPt>
            <c:idx val="1"/>
            <c:invertIfNegative val="0"/>
            <c:bubble3D val="0"/>
            <c:spPr>
              <a:solidFill>
                <a:srgbClr val="C1502E"/>
              </a:solidFill>
              <a:effectLst/>
            </c:spPr>
          </c:dPt>
          <c:dPt>
            <c:idx val="2"/>
            <c:invertIfNegative val="0"/>
            <c:bubble3D val="0"/>
            <c:spPr>
              <a:solidFill>
                <a:srgbClr val="C1502E"/>
              </a:solidFill>
              <a:effectLst/>
            </c:spPr>
          </c:dPt>
          <c:dPt>
            <c:idx val="3"/>
            <c:invertIfNegative val="0"/>
            <c:bubble3D val="0"/>
            <c:spPr>
              <a:solidFill>
                <a:srgbClr val="C1502E"/>
              </a:solidFill>
              <a:effectLst/>
            </c:spPr>
          </c:dPt>
          <c:dPt>
            <c:idx val="4"/>
            <c:invertIfNegative val="0"/>
            <c:bubble3D val="0"/>
            <c:spPr>
              <a:solidFill>
                <a:srgbClr val="C1502E"/>
              </a:solidFill>
              <a:effectLst/>
            </c:spPr>
          </c:dPt>
          <c:dPt>
            <c:idx val="5"/>
            <c:invertIfNegative val="0"/>
            <c:bubble3D val="0"/>
            <c:spPr>
              <a:solidFill>
                <a:srgbClr val="154C5B"/>
              </a:solidFill>
              <a:effectLst/>
            </c:spPr>
          </c:dPt>
          <c:dPt>
            <c:idx val="6"/>
            <c:invertIfNegative val="0"/>
            <c:bubble3D val="0"/>
            <c:spPr>
              <a:solidFill>
                <a:srgbClr val="154C5B"/>
              </a:solidFill>
              <a:effectLst/>
            </c:spPr>
          </c:dPt>
          <c:dPt>
            <c:idx val="7"/>
            <c:invertIfNegative val="0"/>
            <c:bubble3D val="0"/>
            <c:spPr>
              <a:solidFill>
                <a:srgbClr val="154C5B"/>
              </a:solidFill>
              <a:effectLst/>
            </c:spPr>
          </c:dPt>
          <c:cat>
            <c:multiLvlStrRef>
              <c:f>Sheet1!$A$2:$A$9</c:f>
              <c:multiLvlStrCache>
                <c:ptCount val="8"/>
                <c:lvl>
                  <c:pt idx="0">
                    <c:v>Beban pokok pendapatan</c:v>
                  </c:pt>
                  <c:pt idx="1">
                    <c:v>Selisih kurs</c:v>
                  </c:pt>
                  <c:pt idx="2">
                    <c:v>Pendapatan keuangan</c:v>
                  </c:pt>
                  <c:pt idx="3">
                    <c:v>Beban umum &amp; adm</c:v>
                  </c:pt>
                  <c:pt idx="4">
                    <c:v>Ventura bersama</c:v>
                  </c:pt>
                  <c:pt idx="5">
                    <c:v>Beban keuangan</c:v>
                  </c:pt>
                  <c:pt idx="6">
                    <c:v>Pendapatan lain-lain</c:v>
                  </c:pt>
                  <c:pt idx="7">
                    <c:v>Pendapatan usaha</c:v>
                  </c:pt>
                </c:lvl>
              </c:multiLvlStrCache>
            </c:multiLvlStrRef>
          </c:cat>
          <c:val>
            <c:numRef>
              <c:f>Sheet1!$B$2:$B$9</c:f>
              <c:numCache>
                <c:formatCode>General</c:formatCode>
                <c:ptCount val="8"/>
                <c:pt idx="0">
                  <c:v>-32.9</c:v>
                </c:pt>
                <c:pt idx="1">
                  <c:v>-23.6</c:v>
                </c:pt>
                <c:pt idx="2">
                  <c:v>-5.3</c:v>
                </c:pt>
                <c:pt idx="3">
                  <c:v>-1</c:v>
                </c:pt>
                <c:pt idx="4">
                  <c:v>-0.4</c:v>
                </c:pt>
                <c:pt idx="5">
                  <c:v>1.8</c:v>
                </c:pt>
                <c:pt idx="6">
                  <c:v>3.6</c:v>
                </c:pt>
                <c:pt idx="7">
                  <c:v>25.6</c:v>
                </c:pt>
              </c:numCache>
            </c:numRef>
          </c:val>
        </c:ser>
        <c:dLbls>
          <c:numFmt formatCode="0.0" sourceLinked="0"/>
          <c:txPr>
            <a:bodyPr/>
            <a:lstStyle/>
            <a:p>
              <a:pPr>
                <a:defRPr b="0" i="0" strike="noStrike" sz="750" u="none">
                  <a:solidFill>
                    <a:srgbClr val="3A4046"/>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7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0"/>
          <c:min val="-40"/>
        </c:scaling>
        <c:delete val="0"/>
        <c:axPos val="b"/>
        <c:majorGridlines>
          <c:spPr>
            <a:ln w="6350" cap="flat">
              <a:solidFill>
                <a:srgbClr val="E4E0D8"/>
              </a:solidFill>
              <a:prstDash val="solid"/>
              <a:round/>
            </a:ln>
          </c:spPr>
        </c:majorGridlines>
        <c:title>
          <c:tx>
            <c:rich>
              <a:bodyPr/>
              <a:lstStyle/>
              <a:p>
                <a:pPr>
                  <a:defRPr sz="800" b="0" i="0" u="none" strike="noStrike">
                    <a:solidFill>
                      <a:srgbClr val="000000"/>
                    </a:solidFill>
                    <a:latin typeface="Arial"/>
                  </a:defRPr>
                </a:pPr>
                <a:r>
                  <a:rPr sz="800" b="0" i="0" u="none" strike="noStrike">
                    <a:solidFill>
                      <a:srgbClr val="000000"/>
                    </a:solidFill>
                    <a:latin typeface="Arial"/>
                  </a:rPr>
                  <a:t>USD juta</a:t>
                </a:r>
              </a:p>
            </c:rich>
          </c:tx>
          <c:layout/>
          <c:overlay val="0"/>
        </c:title>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1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Komposisi aset</c:v>
                </c:pt>
              </c:strCache>
            </c:strRef>
          </c:tx>
          <c:spPr>
            <a:solidFill>
              <a:schemeClr val="accent1"/>
            </a:solidFill>
            <a:ln w="9525" cap="flat">
              <a:solidFill>
                <a:srgbClr val="F9F9F9"/>
              </a:solidFill>
              <a:prstDash val="solid"/>
              <a:round/>
            </a:ln>
            <a:effectLst/>
          </c:spPr>
          <c:dPt>
            <c:idx val="0"/>
            <c:bubble3D val="0"/>
            <c:spPr>
              <a:solidFill>
                <a:srgbClr val="6E7379"/>
              </a:solidFill>
              <a:effectLst/>
            </c:spPr>
          </c:dPt>
          <c:dPt>
            <c:idx val="1"/>
            <c:bubble3D val="0"/>
            <c:spPr>
              <a:solidFill>
                <a:srgbClr val="C1502E"/>
              </a:solidFill>
              <a:effectLst/>
            </c:spPr>
          </c:dPt>
          <c:dPt>
            <c:idx val="2"/>
            <c:bubble3D val="0"/>
            <c:spPr>
              <a:solidFill>
                <a:srgbClr val="B08327"/>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Aset produktif dan lainnya</c:v>
                </c:pt>
                <c:pt idx="1">
                  <c:v>Aset dalam penyelesaian</c:v>
                </c:pt>
                <c:pt idx="2">
                  <c:v>PPN dapat ditagihkan kembali</c:v>
                </c:pt>
              </c:strCache>
            </c:strRef>
          </c:cat>
          <c:val>
            <c:numRef>
              <c:f>Sheet1!$B$2:$B$4</c:f>
              <c:numCache>
                <c:ptCount val="3"/>
                <c:pt idx="0">
                  <c:v>2307</c:v>
                </c:pt>
                <c:pt idx="1">
                  <c:v>626.2</c:v>
                </c:pt>
                <c:pt idx="2">
                  <c:v>101.2</c:v>
                </c:pt>
              </c:numCache>
            </c:numRef>
          </c:val>
        </c:ser>
        <c:firstSliceAng val="0"/>
        <c:holeSize val="52"/>
      </c:doughnutChart>
      <c:spPr>
        <a:noFill/>
        <a:ln>
          <a:noFill/>
        </a:ln>
        <a:effectLst/>
      </c:spPr>
    </c:plotArea>
    <c:legend>
      <c:legendPos val="b"/>
      <c:overlay val="0"/>
      <c:txPr>
        <a:bodyPr/>
        <a:lstStyle/>
        <a:p>
          <a:pPr>
            <a:defRPr sz="8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Rp triliun</c:v>
                </c:pt>
              </c:strCache>
            </c:strRef>
          </c:tx>
          <c:spPr>
            <a:solidFill>
              <a:srgbClr val="154C5B"/>
            </a:solidFill>
            <a:effectLst/>
          </c:spPr>
          <c:invertIfNegative val="0"/>
          <c:dLbls>
            <c:numFmt formatCode="0.0" sourceLinked="0"/>
            <c:txPr>
              <a:bodyPr/>
              <a:lstStyle/>
              <a:p>
                <a:pPr>
                  <a:defRPr b="0" i="0" strike="noStrike" sz="750" u="none">
                    <a:solidFill>
                      <a:srgbClr val="3A4046"/>
                    </a:solidFill>
                    <a:latin typeface="Arial"/>
                  </a:defRPr>
                </a:pPr>
              </a:p>
            </c:txPr>
            <c:showLegendKey val="0"/>
            <c:showVal val="1"/>
            <c:showCatName val="0"/>
            <c:showSerName val="0"/>
            <c:showPercent val="0"/>
            <c:showBubbleSize val="0"/>
            <c:showLeaderLines val="0"/>
          </c:dLbls>
          <c:cat>
            <c:multiLvlStrRef>
              <c:f>Sheet1!$A$2:$A$9</c:f>
              <c:multiLvlStrCache>
                <c:ptCount val="8"/>
                <c:lvl>
                  <c:pt idx="0">
                    <c:v>Pengolahan air dan air limbah</c:v>
                  </c:pt>
                  <c:pt idx="1">
                    <c:v>Bangunan hijau</c:v>
                  </c:pt>
                  <c:pt idx="2">
                    <c:v>Lainnya berwawasan lingkungan</c:v>
                  </c:pt>
                  <c:pt idx="3">
                    <c:v>Transportasi ramah lingkungan</c:v>
                  </c:pt>
                  <c:pt idx="4">
                    <c:v>Energi terbarukan</c:v>
                  </c:pt>
                  <c:pt idx="5">
                    <c:v>Eco-efficient</c:v>
                  </c:pt>
                  <c:pt idx="6">
                    <c:v>SDA hayati dan penggunaan lahan</c:v>
                  </c:pt>
                  <c:pt idx="7">
                    <c:v>UMKM</c:v>
                  </c:pt>
                </c:lvl>
              </c:multiLvlStrCache>
            </c:multiLvlStrRef>
          </c:cat>
          <c:val>
            <c:numRef>
              <c:f>Sheet1!$B$2:$B$9</c:f>
              <c:numCache>
                <c:formatCode>General</c:formatCode>
                <c:ptCount val="8"/>
                <c:pt idx="0">
                  <c:v>5.8</c:v>
                </c:pt>
                <c:pt idx="1">
                  <c:v>6.5</c:v>
                </c:pt>
                <c:pt idx="2">
                  <c:v>9.6</c:v>
                </c:pt>
                <c:pt idx="3">
                  <c:v>10.3</c:v>
                </c:pt>
                <c:pt idx="4">
                  <c:v>12.9</c:v>
                </c:pt>
                <c:pt idx="5">
                  <c:v>15</c:v>
                </c:pt>
                <c:pt idx="6">
                  <c:v>115.7</c:v>
                </c:pt>
                <c:pt idx="7">
                  <c:v>140.1</c:v>
                </c:pt>
              </c:numCache>
            </c:numRef>
          </c:val>
        </c:ser>
        <c:dLbls>
          <c:numFmt formatCode="0.0" sourceLinked="0"/>
          <c:txPr>
            <a:bodyPr/>
            <a:lstStyle/>
            <a:p>
              <a:pPr>
                <a:defRPr b="0" i="0" strike="noStrike" sz="750" u="none">
                  <a:solidFill>
                    <a:srgbClr val="3A4046"/>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7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
          <c:min val="0"/>
        </c:scaling>
        <c:delete val="0"/>
        <c:axPos val="b"/>
        <c:majorGridlines>
          <c:spPr>
            <a:ln w="6350" cap="flat">
              <a:solidFill>
                <a:srgbClr val="E4E0D8"/>
              </a:solidFill>
              <a:prstDash val="solid"/>
              <a:round/>
            </a:ln>
          </c:spPr>
        </c:majorGridlines>
        <c:title>
          <c:tx>
            <c:rich>
              <a:bodyPr/>
              <a:lstStyle/>
              <a:p>
                <a:pPr>
                  <a:defRPr sz="800" b="0" i="0" u="none" strike="noStrike">
                    <a:solidFill>
                      <a:srgbClr val="000000"/>
                    </a:solidFill>
                    <a:latin typeface="Arial"/>
                  </a:defRPr>
                </a:pPr>
                <a:r>
                  <a:rPr sz="800" b="0" i="0" u="none" strike="noStrike">
                    <a:solidFill>
                      <a:srgbClr val="000000"/>
                    </a:solidFill>
                    <a:latin typeface="Arial"/>
                  </a:rPr>
                  <a:t>Rp triliun</a:t>
                </a:r>
              </a:p>
            </c:rich>
          </c:tx>
          <c:layout/>
          <c:overlay val="0"/>
        </c:title>
        <c:numFmt formatCode="General" sourceLinked="0"/>
        <c:majorTickMark val="out"/>
        <c:minorTickMark val="none"/>
        <c:tickLblPos val="low"/>
        <c:spPr>
          <a:ln w="12700" cap="flat">
            <a:no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50"/>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Pangsa</c:v>
                </c:pt>
              </c:strCache>
            </c:strRef>
          </c:tx>
          <c:spPr>
            <a:solidFill>
              <a:srgbClr val="154C5B"/>
            </a:solidFill>
            <a:effectLst/>
          </c:spPr>
          <c:invertIfNegative val="0"/>
          <c:dLbls>
            <c:numFmt formatCode="0.00" sourceLinked="0"/>
            <c:txPr>
              <a:bodyPr/>
              <a:lstStyle/>
              <a:p>
                <a:pPr>
                  <a:defRPr b="0" i="0" strike="noStrike" sz="11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24.3</c:v>
                </c:pt>
                <c:pt idx="1">
                  <c:v>22.32</c:v>
                </c:pt>
                <c:pt idx="2">
                  <c:v>21.11</c:v>
                </c:pt>
              </c:numCache>
            </c:numRef>
          </c:val>
        </c:ser>
        <c:dLbls>
          <c:numFmt formatCode="0.00" sourceLinked="0"/>
          <c:txPr>
            <a:bodyPr/>
            <a:lstStyle/>
            <a:p>
              <a:pPr>
                <a:defRPr b="0" i="0" strike="noStrike" sz="1100" u="none">
                  <a:solidFill>
                    <a:srgbClr val="FFFFFF"/>
                  </a:solidFill>
                  <a:latin typeface="Arial"/>
                </a:defRPr>
              </a:pPr>
            </a:p>
          </c:txPr>
          <c:dLblPos val="inEnd"/>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6"/>
          <c:min val="18"/>
        </c:scaling>
        <c:delete val="0"/>
        <c:axPos val="l"/>
        <c:majorGridlines>
          <c:spPr>
            <a:ln w="6350" cap="flat">
              <a:solidFill>
                <a:srgbClr val="E4E0D8"/>
              </a:solidFill>
              <a:prstDash val="solid"/>
              <a:round/>
            </a:ln>
          </c:spPr>
        </c:majorGridlines>
        <c:title>
          <c:tx>
            <c:rich>
              <a:bodyPr/>
              <a:lstStyle/>
              <a:p>
                <a:pPr>
                  <a:defRPr sz="800" b="0" i="0" u="none" strike="noStrike">
                    <a:solidFill>
                      <a:srgbClr val="000000"/>
                    </a:solidFill>
                    <a:latin typeface="Arial"/>
                  </a:defRPr>
                </a:pPr>
                <a:r>
                  <a:rPr sz="800" b="0" i="0" u="none" strike="noStrike">
                    <a:solidFill>
                      <a:srgbClr val="000000"/>
                    </a:solidFill>
                    <a:latin typeface="Arial"/>
                  </a:rPr>
                  <a:t>% pembiayaan berkelanjutan terhadap total kredit</a:t>
                </a:r>
              </a:p>
            </c:rich>
          </c:tx>
          <c:layout/>
          <c:overlay val="0"/>
        </c:title>
        <c:numFmt formatCode="General" sourceLinked="0"/>
        <c:majorTickMark val="out"/>
        <c:minorTickMark val="none"/>
        <c:tickLblPos val="nextTo"/>
        <c:spPr>
          <a:ln w="12700" cap="flat">
            <a:no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2"/>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Cakupan 1</c:v>
                </c:pt>
              </c:strCache>
            </c:strRef>
          </c:tx>
          <c:spPr>
            <a:solidFill>
              <a:srgbClr val="C1502E"/>
            </a:solidFill>
            <a:effectLst/>
          </c:spPr>
          <c:invertIfNegative val="0"/>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2019</c:v>
                  </c:pt>
                  <c:pt idx="1">
                    <c:v>2023</c:v>
                  </c:pt>
                  <c:pt idx="2">
                    <c:v>2024</c:v>
                  </c:pt>
                  <c:pt idx="3">
                    <c:v>2025</c:v>
                  </c:pt>
                </c:lvl>
              </c:multiLvlStrCache>
            </c:multiLvlStrRef>
          </c:cat>
          <c:val>
            <c:numRef>
              <c:f>Sheet1!$B$2:$B$5</c:f>
              <c:numCache>
                <c:formatCode>General</c:formatCode>
                <c:ptCount val="4"/>
                <c:pt idx="0">
                  <c:v>75.6</c:v>
                </c:pt>
                <c:pt idx="1">
                  <c:v>43.1</c:v>
                </c:pt>
                <c:pt idx="2">
                  <c:v>46.7</c:v>
                </c:pt>
                <c:pt idx="3">
                  <c:v>52.8</c:v>
                </c:pt>
              </c:numCache>
            </c:numRef>
          </c:val>
        </c:ser>
        <c:ser>
          <c:idx val="1"/>
          <c:order val="1"/>
          <c:tx>
            <c:strRef>
              <c:f>Sheet1!$C$1</c:f>
              <c:strCache>
                <c:ptCount val="1"/>
                <c:pt idx="0">
                  <c:v>Cakupan 2</c:v>
                </c:pt>
              </c:strCache>
            </c:strRef>
          </c:tx>
          <c:spPr>
            <a:solidFill>
              <a:srgbClr val="154C5B"/>
            </a:solidFill>
            <a:effectLst/>
          </c:spPr>
          <c:invertIfNegative val="0"/>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2019</c:v>
                  </c:pt>
                  <c:pt idx="1">
                    <c:v>2023</c:v>
                  </c:pt>
                  <c:pt idx="2">
                    <c:v>2024</c:v>
                  </c:pt>
                  <c:pt idx="3">
                    <c:v>2025</c:v>
                  </c:pt>
                </c:lvl>
              </c:multiLvlStrCache>
            </c:multiLvlStrRef>
          </c:cat>
          <c:val>
            <c:numRef>
              <c:f>Sheet1!$C$2:$C$5</c:f>
              <c:numCache>
                <c:formatCode>General</c:formatCode>
                <c:ptCount val="4"/>
                <c:pt idx="0">
                  <c:v>283.1</c:v>
                </c:pt>
                <c:pt idx="1">
                  <c:v>252.6</c:v>
                </c:pt>
                <c:pt idx="2">
                  <c:v>192.9</c:v>
                </c:pt>
                <c:pt idx="3">
                  <c:v>190.9</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6350" cap="flat">
              <a:solidFill>
                <a:srgbClr val="E4E0D8"/>
              </a:solidFill>
              <a:prstDash val="solid"/>
              <a:round/>
            </a:ln>
          </c:spPr>
        </c:majorGridlines>
        <c:title>
          <c:tx>
            <c:rich>
              <a:bodyPr/>
              <a:lstStyle/>
              <a:p>
                <a:pPr>
                  <a:defRPr sz="800" b="0" i="0" u="none" strike="noStrike">
                    <a:solidFill>
                      <a:srgbClr val="000000"/>
                    </a:solidFill>
                    <a:latin typeface="Arial"/>
                  </a:defRPr>
                </a:pPr>
                <a:r>
                  <a:rPr sz="800" b="0" i="0" u="none" strike="noStrike">
                    <a:solidFill>
                      <a:srgbClr val="000000"/>
                    </a:solidFill>
                    <a:latin typeface="Arial"/>
                  </a:rPr>
                  <a:t>ribu tCO2e</a:t>
                </a:r>
              </a:p>
            </c:rich>
          </c:tx>
          <c:layout/>
          <c:overlay val="0"/>
        </c:title>
        <c:numFmt formatCode="General" sourceLinked="0"/>
        <c:majorTickMark val="out"/>
        <c:minorTickMark val="none"/>
        <c:tickLblPos val="nextTo"/>
        <c:spPr>
          <a:ln w="12700" cap="flat">
            <a:no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100"/>
      </c:valAx>
      <c:spPr>
        <a:solidFill>
          <a:srgbClr val="FFFFFF"/>
        </a:solidFill>
        <a:ln>
          <a:noFill/>
        </a:ln>
        <a:effectLst/>
      </c:spPr>
    </c:plotArea>
    <c:legend>
      <c:legendPos val="b"/>
      <c:overlay val="0"/>
      <c:txPr>
        <a:bodyPr/>
        <a:lstStyle/>
        <a:p>
          <a:pPr>
            <a:defRPr sz="8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6191D"/>
          </a:solidFill>
          <a:ln/>
        </p:spPr>
        <p:txBody>
          <a:bodyPr wrap="square" rtlCol="0" anchor="ctr"/>
          <a:lstStyle/>
          <a:p>
            <a:pPr indent="0" marL="0">
              <a:buNone/>
            </a:pPr>
            <a:endParaRPr lang="en-US" dirty="0"/>
          </a:p>
        </p:txBody>
      </p:sp>
      <p:sp>
        <p:nvSpPr>
          <p:cNvPr id="3" name="Text 1"/>
          <p:cNvSpPr/>
          <p:nvPr/>
        </p:nvSpPr>
        <p:spPr>
          <a:xfrm>
            <a:off x="584150" y="558701"/>
            <a:ext cx="584150" cy="50750"/>
          </a:xfrm>
          <a:prstGeom prst="rect">
            <a:avLst/>
          </a:prstGeom>
          <a:solidFill>
            <a:srgbClr val="C1502E"/>
          </a:solidFill>
          <a:ln/>
        </p:spPr>
        <p:txBody>
          <a:bodyPr wrap="square" rtlCol="0" anchor="ctr"/>
          <a:lstStyle/>
          <a:p>
            <a:pPr indent="0" marL="0">
              <a:buNone/>
            </a:pPr>
            <a:endParaRPr lang="en-US" dirty="0"/>
          </a:p>
        </p:txBody>
      </p:sp>
      <p:sp>
        <p:nvSpPr>
          <p:cNvPr id="4" name="Text 2"/>
          <p:cNvSpPr/>
          <p:nvPr/>
        </p:nvSpPr>
        <p:spPr>
          <a:xfrm>
            <a:off x="1168301" y="558701"/>
            <a:ext cx="584150" cy="50750"/>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584150" y="888802"/>
            <a:ext cx="8135213" cy="104775"/>
          </a:xfrm>
          <a:prstGeom prst="rect">
            <a:avLst/>
          </a:prstGeom>
          <a:noFill/>
          <a:ln/>
        </p:spPr>
        <p:txBody>
          <a:bodyPr wrap="square" lIns="0" tIns="0" rIns="0" bIns="0" rtlCol="0" anchor="t"/>
          <a:lstStyle/>
          <a:p>
            <a:pPr algn="l" indent="0" marL="0">
              <a:spcBef>
                <a:spcPts val="2200"/>
              </a:spcBef>
              <a:buNone/>
            </a:pPr>
            <a:r>
              <a:rPr lang="en-US" sz="750" b="1" dirty="0">
                <a:solidFill>
                  <a:srgbClr val="8B9096"/>
                </a:solidFill>
                <a:latin typeface="Arial" pitchFamily="34" charset="0"/>
                <a:ea typeface="Arial" pitchFamily="34" charset="-122"/>
                <a:cs typeface="Arial" pitchFamily="34" charset="-120"/>
              </a:rPr>
              <a:t>ANALISIS DOKUMEN KORPORAT · SEPTEMBER 2026</a:t>
            </a:r>
            <a:endParaRPr lang="en-US" sz="750" dirty="0"/>
          </a:p>
        </p:txBody>
      </p:sp>
      <p:sp>
        <p:nvSpPr>
          <p:cNvPr id="6" name="Text 4"/>
          <p:cNvSpPr/>
          <p:nvPr/>
        </p:nvSpPr>
        <p:spPr>
          <a:xfrm>
            <a:off x="584150" y="1171277"/>
            <a:ext cx="7772400" cy="528191"/>
          </a:xfrm>
          <a:prstGeom prst="rect">
            <a:avLst/>
          </a:prstGeom>
          <a:noFill/>
          <a:ln/>
        </p:spPr>
        <p:txBody>
          <a:bodyPr wrap="square" lIns="0" tIns="0" rIns="0" bIns="0" rtlCol="0" anchor="t"/>
          <a:lstStyle/>
          <a:p>
            <a:pPr algn="l" indent="0" marL="0">
              <a:lnSpc>
                <a:spcPts val="4160"/>
              </a:lnSpc>
              <a:spcBef>
                <a:spcPts val="1400"/>
              </a:spcBef>
              <a:buNone/>
            </a:pPr>
            <a:r>
              <a:rPr lang="en-US" sz="4000" b="1" dirty="0">
                <a:solidFill>
                  <a:srgbClr val="F2EFE9"/>
                </a:solidFill>
                <a:latin typeface="Arial" pitchFamily="34" charset="0"/>
                <a:ea typeface="Arial" pitchFamily="34" charset="-122"/>
                <a:cs typeface="Arial" pitchFamily="34" charset="-120"/>
              </a:rPr>
              <a:t>Telaah Laporan Tahunan</a:t>
            </a:r>
            <a:endParaRPr lang="en-US" sz="4000" dirty="0"/>
          </a:p>
        </p:txBody>
      </p:sp>
      <p:sp>
        <p:nvSpPr>
          <p:cNvPr id="7" name="Text 5"/>
          <p:cNvSpPr/>
          <p:nvPr/>
        </p:nvSpPr>
        <p:spPr>
          <a:xfrm>
            <a:off x="584150" y="1699468"/>
            <a:ext cx="8031379" cy="528191"/>
          </a:xfrm>
          <a:prstGeom prst="rect">
            <a:avLst/>
          </a:prstGeom>
          <a:noFill/>
          <a:ln/>
        </p:spPr>
        <p:txBody>
          <a:bodyPr wrap="square" lIns="0" tIns="0" rIns="0" bIns="0" rtlCol="0" anchor="t"/>
          <a:lstStyle/>
          <a:p>
            <a:pPr algn="l" indent="0" marL="0">
              <a:lnSpc>
                <a:spcPts val="4160"/>
              </a:lnSpc>
              <a:buNone/>
            </a:pPr>
            <a:r>
              <a:rPr lang="en-US" sz="4000" b="1" dirty="0">
                <a:solidFill>
                  <a:srgbClr val="F2EFE9"/>
                </a:solidFill>
                <a:latin typeface="Arial" pitchFamily="34" charset="0"/>
                <a:ea typeface="Arial" pitchFamily="34" charset="-122"/>
                <a:cs typeface="Arial" pitchFamily="34" charset="-120"/>
              </a:rPr>
              <a:t>dan Laporan Keberlanjutan</a:t>
            </a:r>
            <a:endParaRPr lang="en-US" sz="4000" dirty="0"/>
          </a:p>
        </p:txBody>
      </p:sp>
      <p:sp>
        <p:nvSpPr>
          <p:cNvPr id="8" name="Text 6"/>
          <p:cNvSpPr/>
          <p:nvPr/>
        </p:nvSpPr>
        <p:spPr>
          <a:xfrm>
            <a:off x="584150" y="2507010"/>
            <a:ext cx="7975550" cy="12650"/>
          </a:xfrm>
          <a:prstGeom prst="rect">
            <a:avLst/>
          </a:prstGeom>
          <a:solidFill>
            <a:srgbClr val="3A4046"/>
          </a:solidFill>
          <a:ln/>
        </p:spPr>
        <p:txBody>
          <a:bodyPr wrap="square" rtlCol="0" anchor="ctr"/>
          <a:lstStyle/>
          <a:p>
            <a:pPr indent="0" marL="0">
              <a:buNone/>
            </a:pPr>
            <a:endParaRPr lang="en-US" dirty="0"/>
          </a:p>
        </p:txBody>
      </p:sp>
      <p:sp>
        <p:nvSpPr>
          <p:cNvPr id="9" name="Shape 7"/>
          <p:cNvSpPr/>
          <p:nvPr/>
        </p:nvSpPr>
        <p:spPr>
          <a:xfrm>
            <a:off x="603200" y="2748260"/>
            <a:ext cx="0" cy="680442"/>
          </a:xfrm>
          <a:prstGeom prst="line">
            <a:avLst/>
          </a:prstGeom>
          <a:noFill/>
          <a:ln w="38100">
            <a:solidFill>
              <a:srgbClr val="C1502E"/>
            </a:solidFill>
            <a:prstDash val="solid"/>
          </a:ln>
        </p:spPr>
      </p:sp>
      <p:sp>
        <p:nvSpPr>
          <p:cNvPr id="10" name="Text 8"/>
          <p:cNvSpPr/>
          <p:nvPr/>
        </p:nvSpPr>
        <p:spPr>
          <a:xfrm>
            <a:off x="774650" y="2748260"/>
            <a:ext cx="3691890" cy="95250"/>
          </a:xfrm>
          <a:prstGeom prst="rect">
            <a:avLst/>
          </a:prstGeom>
          <a:noFill/>
          <a:ln/>
        </p:spPr>
        <p:txBody>
          <a:bodyPr wrap="square" lIns="0" tIns="0" rIns="0" bIns="0" rtlCol="0" anchor="t"/>
          <a:lstStyle/>
          <a:p>
            <a:pPr algn="l" indent="0" marL="0">
              <a:buNone/>
            </a:pPr>
            <a:r>
              <a:rPr lang="en-US" sz="680" b="1" dirty="0">
                <a:solidFill>
                  <a:srgbClr val="C1502E"/>
                </a:solidFill>
                <a:latin typeface="Arial" pitchFamily="34" charset="0"/>
                <a:ea typeface="Arial" pitchFamily="34" charset="-122"/>
                <a:cs typeface="Arial" pitchFamily="34" charset="-120"/>
              </a:rPr>
              <a:t>DOKUMEN 01</a:t>
            </a:r>
            <a:endParaRPr lang="en-US" sz="680" dirty="0"/>
          </a:p>
        </p:txBody>
      </p:sp>
      <p:sp>
        <p:nvSpPr>
          <p:cNvPr id="11" name="Text 9"/>
          <p:cNvSpPr/>
          <p:nvPr/>
        </p:nvSpPr>
        <p:spPr>
          <a:xfrm>
            <a:off x="774650" y="2906911"/>
            <a:ext cx="3691890" cy="204490"/>
          </a:xfrm>
          <a:prstGeom prst="rect">
            <a:avLst/>
          </a:prstGeom>
          <a:noFill/>
          <a:ln/>
        </p:spPr>
        <p:txBody>
          <a:bodyPr wrap="square" lIns="0" tIns="0" rIns="0" bIns="0" rtlCol="0" anchor="t"/>
          <a:lstStyle/>
          <a:p>
            <a:pPr algn="l" indent="0" marL="0">
              <a:lnSpc>
                <a:spcPts val="1610"/>
              </a:lnSpc>
              <a:spcBef>
                <a:spcPts val="500"/>
              </a:spcBef>
              <a:buNone/>
            </a:pPr>
            <a:r>
              <a:rPr lang="en-US" sz="1400" b="1" dirty="0">
                <a:solidFill>
                  <a:srgbClr val="F2EFE9"/>
                </a:solidFill>
                <a:latin typeface="Arial" pitchFamily="34" charset="0"/>
                <a:ea typeface="Arial" pitchFamily="34" charset="-122"/>
                <a:cs typeface="Arial" pitchFamily="34" charset="-120"/>
              </a:rPr>
              <a:t>PT Pertamina Geothermal Energy Tbk</a:t>
            </a:r>
            <a:endParaRPr lang="en-US" sz="1400" dirty="0"/>
          </a:p>
        </p:txBody>
      </p:sp>
      <p:sp>
        <p:nvSpPr>
          <p:cNvPr id="12" name="Text 10"/>
          <p:cNvSpPr/>
          <p:nvPr/>
        </p:nvSpPr>
        <p:spPr>
          <a:xfrm>
            <a:off x="774650" y="3174802"/>
            <a:ext cx="3691890" cy="114300"/>
          </a:xfrm>
          <a:prstGeom prst="rect">
            <a:avLst/>
          </a:prstGeom>
          <a:noFill/>
          <a:ln/>
        </p:spPr>
        <p:txBody>
          <a:bodyPr wrap="square" lIns="0" tIns="0" rIns="0" bIns="0" rtlCol="0" anchor="t"/>
          <a:lstStyle/>
          <a:p>
            <a:pPr algn="l" indent="0" marL="0">
              <a:spcBef>
                <a:spcPts val="500"/>
              </a:spcBef>
              <a:buNone/>
            </a:pPr>
            <a:r>
              <a:rPr lang="en-US" sz="850" dirty="0">
                <a:solidFill>
                  <a:srgbClr val="9AA0A6"/>
                </a:solidFill>
                <a:latin typeface="Arial" pitchFamily="34" charset="0"/>
                <a:ea typeface="Arial" pitchFamily="34" charset="-122"/>
                <a:cs typeface="Arial" pitchFamily="34" charset="-120"/>
              </a:rPr>
              <a:t>Laporan Tahunan 2025 · 689 halaman</a:t>
            </a:r>
            <a:endParaRPr lang="en-US" sz="850" dirty="0"/>
          </a:p>
        </p:txBody>
      </p:sp>
      <p:sp>
        <p:nvSpPr>
          <p:cNvPr id="13" name="Text 11"/>
          <p:cNvSpPr/>
          <p:nvPr/>
        </p:nvSpPr>
        <p:spPr>
          <a:xfrm>
            <a:off x="774650" y="3314402"/>
            <a:ext cx="3691890" cy="114300"/>
          </a:xfrm>
          <a:prstGeom prst="rect">
            <a:avLst/>
          </a:prstGeom>
          <a:noFill/>
          <a:ln/>
        </p:spPr>
        <p:txBody>
          <a:bodyPr wrap="square" lIns="0" tIns="0" rIns="0" bIns="0" rtlCol="0" anchor="t"/>
          <a:lstStyle/>
          <a:p>
            <a:pPr algn="l" indent="0" marL="0">
              <a:spcBef>
                <a:spcPts val="200"/>
              </a:spcBef>
              <a:buNone/>
            </a:pPr>
            <a:r>
              <a:rPr lang="en-US" sz="850" dirty="0">
                <a:solidFill>
                  <a:srgbClr val="9AA0A6"/>
                </a:solidFill>
                <a:latin typeface="Arial" pitchFamily="34" charset="0"/>
                <a:ea typeface="Arial" pitchFamily="34" charset="-122"/>
                <a:cs typeface="Arial" pitchFamily="34" charset="-120"/>
              </a:rPr>
              <a:t>Auditor: KAP Purwanto Susanti dan Surja (EY)</a:t>
            </a:r>
            <a:endParaRPr lang="en-US" sz="850" dirty="0"/>
          </a:p>
        </p:txBody>
      </p:sp>
      <p:sp>
        <p:nvSpPr>
          <p:cNvPr id="14" name="Shape 12"/>
          <p:cNvSpPr/>
          <p:nvPr/>
        </p:nvSpPr>
        <p:spPr>
          <a:xfrm>
            <a:off x="4768751" y="2748260"/>
            <a:ext cx="0" cy="680442"/>
          </a:xfrm>
          <a:prstGeom prst="line">
            <a:avLst/>
          </a:prstGeom>
          <a:noFill/>
          <a:ln w="38100">
            <a:solidFill>
              <a:srgbClr val="2E7D91"/>
            </a:solidFill>
            <a:prstDash val="solid"/>
          </a:ln>
        </p:spPr>
      </p:sp>
      <p:sp>
        <p:nvSpPr>
          <p:cNvPr id="15" name="Text 13"/>
          <p:cNvSpPr/>
          <p:nvPr/>
        </p:nvSpPr>
        <p:spPr>
          <a:xfrm>
            <a:off x="4940201" y="2748260"/>
            <a:ext cx="3691890" cy="95250"/>
          </a:xfrm>
          <a:prstGeom prst="rect">
            <a:avLst/>
          </a:prstGeom>
          <a:noFill/>
          <a:ln/>
        </p:spPr>
        <p:txBody>
          <a:bodyPr wrap="square" lIns="0" tIns="0" rIns="0" bIns="0" rtlCol="0" anchor="t"/>
          <a:lstStyle/>
          <a:p>
            <a:pPr algn="l" indent="0" marL="0">
              <a:buNone/>
            </a:pPr>
            <a:r>
              <a:rPr lang="en-US" sz="680" b="1" dirty="0">
                <a:solidFill>
                  <a:srgbClr val="2E7D91"/>
                </a:solidFill>
                <a:latin typeface="Arial" pitchFamily="34" charset="0"/>
                <a:ea typeface="Arial" pitchFamily="34" charset="-122"/>
                <a:cs typeface="Arial" pitchFamily="34" charset="-120"/>
              </a:rPr>
              <a:t>DOKUMEN 02</a:t>
            </a:r>
            <a:endParaRPr lang="en-US" sz="680" dirty="0"/>
          </a:p>
        </p:txBody>
      </p:sp>
      <p:sp>
        <p:nvSpPr>
          <p:cNvPr id="16" name="Text 14"/>
          <p:cNvSpPr/>
          <p:nvPr/>
        </p:nvSpPr>
        <p:spPr>
          <a:xfrm>
            <a:off x="4940201" y="2906911"/>
            <a:ext cx="3691890" cy="204490"/>
          </a:xfrm>
          <a:prstGeom prst="rect">
            <a:avLst/>
          </a:prstGeom>
          <a:noFill/>
          <a:ln/>
        </p:spPr>
        <p:txBody>
          <a:bodyPr wrap="square" lIns="0" tIns="0" rIns="0" bIns="0" rtlCol="0" anchor="t"/>
          <a:lstStyle/>
          <a:p>
            <a:pPr algn="l" indent="0" marL="0">
              <a:lnSpc>
                <a:spcPts val="1610"/>
              </a:lnSpc>
              <a:spcBef>
                <a:spcPts val="500"/>
              </a:spcBef>
              <a:buNone/>
            </a:pPr>
            <a:r>
              <a:rPr lang="en-US" sz="1400" b="1" dirty="0">
                <a:solidFill>
                  <a:srgbClr val="F2EFE9"/>
                </a:solidFill>
                <a:latin typeface="Arial" pitchFamily="34" charset="0"/>
                <a:ea typeface="Arial" pitchFamily="34" charset="-122"/>
                <a:cs typeface="Arial" pitchFamily="34" charset="-120"/>
              </a:rPr>
              <a:t>PT Bank Mandiri (Persero) Tbk</a:t>
            </a:r>
            <a:endParaRPr lang="en-US" sz="1400" dirty="0"/>
          </a:p>
        </p:txBody>
      </p:sp>
      <p:sp>
        <p:nvSpPr>
          <p:cNvPr id="17" name="Text 15"/>
          <p:cNvSpPr/>
          <p:nvPr/>
        </p:nvSpPr>
        <p:spPr>
          <a:xfrm>
            <a:off x="4940201" y="3174802"/>
            <a:ext cx="3691890" cy="114300"/>
          </a:xfrm>
          <a:prstGeom prst="rect">
            <a:avLst/>
          </a:prstGeom>
          <a:noFill/>
          <a:ln/>
        </p:spPr>
        <p:txBody>
          <a:bodyPr wrap="square" lIns="0" tIns="0" rIns="0" bIns="0" rtlCol="0" anchor="t"/>
          <a:lstStyle/>
          <a:p>
            <a:pPr algn="l" indent="0" marL="0">
              <a:spcBef>
                <a:spcPts val="500"/>
              </a:spcBef>
              <a:buNone/>
            </a:pPr>
            <a:r>
              <a:rPr lang="en-US" sz="850" dirty="0">
                <a:solidFill>
                  <a:srgbClr val="9AA0A6"/>
                </a:solidFill>
                <a:latin typeface="Arial" pitchFamily="34" charset="0"/>
                <a:ea typeface="Arial" pitchFamily="34" charset="-122"/>
                <a:cs typeface="Arial" pitchFamily="34" charset="-120"/>
              </a:rPr>
              <a:t>Laporan Keberlanjutan 2025 · 490 halaman</a:t>
            </a:r>
            <a:endParaRPr lang="en-US" sz="850" dirty="0"/>
          </a:p>
        </p:txBody>
      </p:sp>
      <p:sp>
        <p:nvSpPr>
          <p:cNvPr id="18" name="Text 16"/>
          <p:cNvSpPr/>
          <p:nvPr/>
        </p:nvSpPr>
        <p:spPr>
          <a:xfrm>
            <a:off x="4940201" y="3314402"/>
            <a:ext cx="3691890" cy="114300"/>
          </a:xfrm>
          <a:prstGeom prst="rect">
            <a:avLst/>
          </a:prstGeom>
          <a:noFill/>
          <a:ln/>
        </p:spPr>
        <p:txBody>
          <a:bodyPr wrap="square" lIns="0" tIns="0" rIns="0" bIns="0" rtlCol="0" anchor="t"/>
          <a:lstStyle/>
          <a:p>
            <a:pPr algn="l" indent="0" marL="0">
              <a:spcBef>
                <a:spcPts val="200"/>
              </a:spcBef>
              <a:buNone/>
            </a:pPr>
            <a:r>
              <a:rPr lang="en-US" sz="850" dirty="0">
                <a:solidFill>
                  <a:srgbClr val="9AA0A6"/>
                </a:solidFill>
                <a:latin typeface="Arial" pitchFamily="34" charset="0"/>
                <a:ea typeface="Arial" pitchFamily="34" charset="-122"/>
                <a:cs typeface="Arial" pitchFamily="34" charset="-120"/>
              </a:rPr>
              <a:t>Assurance: PT Sucofindo (AA1000AS v3)</a:t>
            </a:r>
            <a:endParaRPr lang="en-US" sz="850" dirty="0"/>
          </a:p>
        </p:txBody>
      </p:sp>
      <p:sp>
        <p:nvSpPr>
          <p:cNvPr id="19" name="Text 17"/>
          <p:cNvSpPr/>
          <p:nvPr/>
        </p:nvSpPr>
        <p:spPr>
          <a:xfrm>
            <a:off x="584150" y="3758803"/>
            <a:ext cx="8135213" cy="95250"/>
          </a:xfrm>
          <a:prstGeom prst="rect">
            <a:avLst/>
          </a:prstGeom>
          <a:noFill/>
          <a:ln/>
        </p:spPr>
        <p:txBody>
          <a:bodyPr wrap="square" lIns="0" tIns="0" rIns="0" bIns="0" rtlCol="0" anchor="t"/>
          <a:lstStyle/>
          <a:p>
            <a:pPr algn="l" indent="0" marL="0">
              <a:spcBef>
                <a:spcPts val="2600"/>
              </a:spcBef>
              <a:buNone/>
            </a:pPr>
            <a:r>
              <a:rPr lang="en-US" sz="650" dirty="0">
                <a:solidFill>
                  <a:srgbClr val="9AA0A6"/>
                </a:solidFill>
                <a:latin typeface="Arial" pitchFamily="34" charset="0"/>
                <a:ea typeface="Arial" pitchFamily="34" charset="-122"/>
                <a:cs typeface="Arial" pitchFamily="34" charset="-120"/>
              </a:rPr>
              <a:t>Kinerja Keuangan · Kesehatan Keuangan · Kualitas Pengungkapan</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8B9096"/>
                </a:solidFill>
                <a:latin typeface="Arial" pitchFamily="34" charset="0"/>
                <a:ea typeface="Arial" pitchFamily="34" charset="-122"/>
                <a:cs typeface="Arial" pitchFamily="34" charset="-120"/>
              </a:rPr>
              <a:t>PANDUAN BACA</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Isi Deck dan Batasan Analisis</a:t>
            </a:r>
            <a:endParaRPr lang="en-US" sz="2400" dirty="0"/>
          </a:p>
        </p:txBody>
      </p:sp>
      <p:sp>
        <p:nvSpPr>
          <p:cNvPr id="4" name="Text 2"/>
          <p:cNvSpPr/>
          <p:nvPr/>
        </p:nvSpPr>
        <p:spPr>
          <a:xfrm>
            <a:off x="406301" y="916335"/>
            <a:ext cx="8331398" cy="25301"/>
          </a:xfrm>
          <a:prstGeom prst="rect">
            <a:avLst/>
          </a:prstGeom>
          <a:solidFill>
            <a:srgbClr val="16191D"/>
          </a:solidFill>
          <a:ln/>
        </p:spPr>
        <p:txBody>
          <a:bodyPr wrap="square" rtlCol="0" anchor="ctr"/>
          <a:lstStyle/>
          <a:p>
            <a:pPr indent="0" marL="0">
              <a:buNone/>
            </a:pPr>
            <a:endParaRPr lang="en-US" dirty="0"/>
          </a:p>
        </p:txBody>
      </p:sp>
      <p:sp>
        <p:nvSpPr>
          <p:cNvPr id="5" name="Text 3"/>
          <p:cNvSpPr/>
          <p:nvPr/>
        </p:nvSpPr>
        <p:spPr>
          <a:xfrm>
            <a:off x="406301" y="1119336"/>
            <a:ext cx="2746147"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BAGIAN 01 — PGE</a:t>
            </a:r>
            <a:endParaRPr lang="en-US" sz="680" dirty="0"/>
          </a:p>
        </p:txBody>
      </p:sp>
      <p:sp>
        <p:nvSpPr>
          <p:cNvPr id="6" name="Text 4"/>
          <p:cNvSpPr/>
          <p:nvPr/>
        </p:nvSpPr>
        <p:spPr>
          <a:xfrm>
            <a:off x="406301" y="1303437"/>
            <a:ext cx="2692301" cy="1451372"/>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Profil dan konteks operasi</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Financial highlights: laba rugi, neraca, arus kas</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Financial health: 10 indikator</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Dekomposisi penurunan laba</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Produktivitas aset</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Target vs realisasi dan rencana 2026</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Temuan kualitas pelaporan</a:t>
            </a:r>
            <a:endParaRPr lang="en-US" sz="860" dirty="0"/>
          </a:p>
        </p:txBody>
      </p:sp>
      <p:sp>
        <p:nvSpPr>
          <p:cNvPr id="7" name="Text 5"/>
          <p:cNvSpPr/>
          <p:nvPr/>
        </p:nvSpPr>
        <p:spPr>
          <a:xfrm>
            <a:off x="3352502" y="1119336"/>
            <a:ext cx="2746147"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BAGIAN 02 — BANK MANDIRI</a:t>
            </a:r>
            <a:endParaRPr lang="en-US" sz="680" dirty="0"/>
          </a:p>
        </p:txBody>
      </p:sp>
      <p:sp>
        <p:nvSpPr>
          <p:cNvPr id="8" name="Text 6"/>
          <p:cNvSpPr/>
          <p:nvPr/>
        </p:nvSpPr>
        <p:spPr>
          <a:xfrm>
            <a:off x="3352502" y="1303437"/>
            <a:ext cx="2692301" cy="1451372"/>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Cakupan dan standar laporan</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Financial highlights konsolidasi</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Financial health: 10 rasio perbankan</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Anatomi portofolio berkelanjutan</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Emisi operasional dan emisi pembiayaan</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Manajemen risiko iklim (CRMS)</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Assurance dan batas data</a:t>
            </a:r>
            <a:endParaRPr lang="en-US" sz="860" dirty="0"/>
          </a:p>
        </p:txBody>
      </p:sp>
      <p:sp>
        <p:nvSpPr>
          <p:cNvPr id="9" name="Text 7"/>
          <p:cNvSpPr/>
          <p:nvPr/>
        </p:nvSpPr>
        <p:spPr>
          <a:xfrm>
            <a:off x="6298704" y="1119336"/>
            <a:ext cx="2438400" cy="1924794"/>
          </a:xfrm>
          <a:prstGeom prst="rect">
            <a:avLst/>
          </a:prstGeom>
          <a:solidFill>
            <a:srgbClr val="FFFFFF"/>
          </a:solidFill>
          <a:ln/>
        </p:spPr>
        <p:txBody>
          <a:bodyPr wrap="square" rtlCol="0" anchor="ctr"/>
          <a:lstStyle/>
          <a:p>
            <a:pPr indent="0" marL="0">
              <a:buNone/>
            </a:pPr>
            <a:endParaRPr lang="en-US" dirty="0"/>
          </a:p>
        </p:txBody>
      </p:sp>
      <p:sp>
        <p:nvSpPr>
          <p:cNvPr id="10" name="Shape 8"/>
          <p:cNvSpPr/>
          <p:nvPr/>
        </p:nvSpPr>
        <p:spPr>
          <a:xfrm>
            <a:off x="6298704" y="1133624"/>
            <a:ext cx="2438400" cy="0"/>
          </a:xfrm>
          <a:prstGeom prst="line">
            <a:avLst/>
          </a:prstGeom>
          <a:noFill/>
          <a:ln w="28575">
            <a:solidFill>
              <a:srgbClr val="B08327"/>
            </a:solidFill>
            <a:prstDash val="solid"/>
          </a:ln>
        </p:spPr>
      </p:sp>
      <p:sp>
        <p:nvSpPr>
          <p:cNvPr id="11" name="Text 9"/>
          <p:cNvSpPr/>
          <p:nvPr/>
        </p:nvSpPr>
        <p:spPr>
          <a:xfrm>
            <a:off x="6451104" y="1300311"/>
            <a:ext cx="2176272" cy="95250"/>
          </a:xfrm>
          <a:prstGeom prst="rect">
            <a:avLst/>
          </a:prstGeom>
          <a:noFill/>
          <a:ln/>
        </p:spPr>
        <p:txBody>
          <a:bodyPr wrap="square" lIns="0" tIns="0" rIns="0" bIns="0" rtlCol="0" anchor="t"/>
          <a:lstStyle/>
          <a:p>
            <a:pPr algn="l" indent="0" marL="0">
              <a:buNone/>
            </a:pPr>
            <a:r>
              <a:rPr lang="en-US" sz="680" b="1" dirty="0">
                <a:solidFill>
                  <a:srgbClr val="8B6A1F"/>
                </a:solidFill>
                <a:latin typeface="Arial" pitchFamily="34" charset="0"/>
                <a:ea typeface="Arial" pitchFamily="34" charset="-122"/>
                <a:cs typeface="Arial" pitchFamily="34" charset="-120"/>
              </a:rPr>
              <a:t>BATASAN</a:t>
            </a:r>
            <a:endParaRPr lang="en-US" sz="680" dirty="0"/>
          </a:p>
        </p:txBody>
      </p:sp>
      <p:sp>
        <p:nvSpPr>
          <p:cNvPr id="12" name="Text 10"/>
          <p:cNvSpPr/>
          <p:nvPr/>
        </p:nvSpPr>
        <p:spPr>
          <a:xfrm>
            <a:off x="6451104" y="1484412"/>
            <a:ext cx="2133600" cy="1350169"/>
          </a:xfrm>
          <a:prstGeom prst="rect">
            <a:avLst/>
          </a:prstGeom>
          <a:noFill/>
          <a:ln/>
        </p:spPr>
        <p:txBody>
          <a:bodyPr wrap="square" lIns="69850" tIns="0" rIns="0" bIns="0" rtlCol="0" anchor="t"/>
          <a:lstStyle/>
          <a:p>
            <a:pPr algn="l" marL="69850" indent="-69850">
              <a:lnSpc>
                <a:spcPts val="1160"/>
              </a:lnSpc>
              <a:spcAft>
                <a:spcPts val="450"/>
              </a:spcAft>
              <a:buSzPct val="100000"/>
              <a:buChar char="•"/>
            </a:pPr>
            <a:r>
              <a:rPr lang="en-US" sz="800" dirty="0">
                <a:solidFill>
                  <a:srgbClr val="2C3136"/>
                </a:solidFill>
                <a:latin typeface="Arial" pitchFamily="34" charset="0"/>
                <a:ea typeface="Arial" pitchFamily="34" charset="-122"/>
                <a:cs typeface="Arial" pitchFamily="34" charset="-120"/>
              </a:rPr>
              <a:t>Seluruh angka bersumber dari kedua dokumen; tidak ada data eksternal</a:t>
            </a:r>
            <a:endParaRPr lang="en-US" sz="800" dirty="0"/>
          </a:p>
          <a:p>
            <a:pPr algn="l" marL="69850" indent="-69850">
              <a:lnSpc>
                <a:spcPts val="1160"/>
              </a:lnSpc>
              <a:spcAft>
                <a:spcPts val="450"/>
              </a:spcAft>
              <a:buSzPct val="100000"/>
              <a:buChar char="•"/>
            </a:pPr>
            <a:r>
              <a:rPr lang="en-US" sz="800" dirty="0">
                <a:solidFill>
                  <a:srgbClr val="2C3136"/>
                </a:solidFill>
                <a:latin typeface="Arial" pitchFamily="34" charset="0"/>
                <a:ea typeface="Arial" pitchFamily="34" charset="-122"/>
                <a:cs typeface="Arial" pitchFamily="34" charset="-120"/>
              </a:rPr>
              <a:t>Angka turunan (FCF, utang neto, komposisi) dihitung dari data yang diungkapkan</a:t>
            </a:r>
            <a:endParaRPr lang="en-US" sz="800" dirty="0"/>
          </a:p>
          <a:p>
            <a:pPr algn="l" marL="69850" indent="-69850">
              <a:lnSpc>
                <a:spcPts val="1160"/>
              </a:lnSpc>
              <a:spcAft>
                <a:spcPts val="450"/>
              </a:spcAft>
              <a:buSzPct val="100000"/>
              <a:buChar char="•"/>
            </a:pPr>
            <a:r>
              <a:rPr lang="en-US" sz="800" dirty="0">
                <a:solidFill>
                  <a:srgbClr val="2C3136"/>
                </a:solidFill>
                <a:latin typeface="Arial" pitchFamily="34" charset="0"/>
                <a:ea typeface="Arial" pitchFamily="34" charset="-122"/>
                <a:cs typeface="Arial" pitchFamily="34" charset="-120"/>
              </a:rPr>
              <a:t>PGE dalam USD ribu; Bank Mandiri dalam Rupiah</a:t>
            </a:r>
            <a:endParaRPr lang="en-US" sz="800" dirty="0"/>
          </a:p>
          <a:p>
            <a:pPr algn="l" marL="69850" indent="-69850">
              <a:lnSpc>
                <a:spcPts val="1160"/>
              </a:lnSpc>
              <a:spcAft>
                <a:spcPts val="450"/>
              </a:spcAft>
              <a:buSzPct val="100000"/>
              <a:buChar char="•"/>
            </a:pPr>
            <a:r>
              <a:rPr lang="en-US" sz="800" dirty="0">
                <a:solidFill>
                  <a:srgbClr val="2C3136"/>
                </a:solidFill>
                <a:latin typeface="Arial" pitchFamily="34" charset="0"/>
                <a:ea typeface="Arial" pitchFamily="34" charset="-122"/>
                <a:cs typeface="Arial" pitchFamily="34" charset="-120"/>
              </a:rPr>
              <a:t>Temuan inkonsistensi adalah hal yang perlu diverifikasi, bukan kesimpulan audit</a:t>
            </a:r>
            <a:endParaRPr lang="en-US" sz="800" dirty="0"/>
          </a:p>
        </p:txBody>
      </p:sp>
      <p:sp>
        <p:nvSpPr>
          <p:cNvPr id="13" name="Text 11"/>
          <p:cNvSpPr/>
          <p:nvPr/>
        </p:nvSpPr>
        <p:spPr>
          <a:xfrm>
            <a:off x="406301" y="3247281"/>
            <a:ext cx="8498026" cy="95250"/>
          </a:xfrm>
          <a:prstGeom prst="rect">
            <a:avLst/>
          </a:prstGeom>
          <a:noFill/>
          <a:ln/>
        </p:spPr>
        <p:txBody>
          <a:bodyPr wrap="square" lIns="0" tIns="0" rIns="0" bIns="0" rtlCol="0" anchor="t"/>
          <a:lstStyle/>
          <a:p>
            <a:pPr algn="l" indent="0" marL="0">
              <a:spcBef>
                <a:spcPts val="1600"/>
              </a:spcBef>
              <a:buNone/>
            </a:pPr>
            <a:r>
              <a:rPr lang="en-US" sz="650" dirty="0">
                <a:solidFill>
                  <a:srgbClr val="9AA0A6"/>
                </a:solidFill>
                <a:latin typeface="Arial" pitchFamily="34" charset="0"/>
                <a:ea typeface="Arial" pitchFamily="34" charset="-122"/>
                <a:cs typeface="Arial" pitchFamily="34" charset="-120"/>
              </a:rPr>
              <a:t>Sumber: PGE Laporan Tahunan 2025; Bank Mandiri Laporan Keberlanjutan 2025</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8B9096"/>
                </a:solidFill>
                <a:latin typeface="Arial" pitchFamily="34" charset="0"/>
                <a:ea typeface="Arial" pitchFamily="34" charset="-122"/>
                <a:cs typeface="Arial" pitchFamily="34" charset="-120"/>
              </a:rPr>
              <a:t>RINGKASAN EKSEKUTIF</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Dua Dokumen, Satu Pola yang Sama</a:t>
            </a:r>
            <a:endParaRPr lang="en-US" sz="2400" dirty="0"/>
          </a:p>
        </p:txBody>
      </p:sp>
      <p:sp>
        <p:nvSpPr>
          <p:cNvPr id="4" name="Text 2"/>
          <p:cNvSpPr/>
          <p:nvPr/>
        </p:nvSpPr>
        <p:spPr>
          <a:xfrm>
            <a:off x="406301" y="865584"/>
            <a:ext cx="8290509" cy="315218"/>
          </a:xfrm>
          <a:prstGeom prst="rect">
            <a:avLst/>
          </a:prstGeom>
          <a:noFill/>
          <a:ln/>
        </p:spPr>
        <p:txBody>
          <a:bodyPr wrap="square" lIns="0" tIns="0" rIns="0" bIns="0" rtlCol="0" anchor="t"/>
          <a:lstStyle/>
          <a:p>
            <a:pPr algn="l" indent="0" marL="0">
              <a:lnSpc>
                <a:spcPts val="1242"/>
              </a:lnSpc>
              <a:spcBef>
                <a:spcPts val="600"/>
              </a:spcBef>
              <a:buNone/>
            </a:pPr>
            <a:r>
              <a:rPr lang="en-US" sz="900" dirty="0">
                <a:solidFill>
                  <a:srgbClr val="4A4F55"/>
                </a:solidFill>
                <a:latin typeface="Arial" pitchFamily="34" charset="0"/>
                <a:ea typeface="Arial" pitchFamily="34" charset="-122"/>
                <a:cs typeface="Arial" pitchFamily="34" charset="-120"/>
              </a:rPr>
              <a:t>Pada keduanya, kerangka dan tata kelola bergerak maju lebih cepat daripada angka yang dilaporkan di dalamnya. Metrik yang membaik ditampilkan di depan; metrik yang memburuk tersedia lengkap namun tidak diberi narasi.</a:t>
            </a:r>
            <a:endParaRPr lang="en-US" sz="900" dirty="0"/>
          </a:p>
        </p:txBody>
      </p:sp>
      <p:sp>
        <p:nvSpPr>
          <p:cNvPr id="5" name="Text 3"/>
          <p:cNvSpPr/>
          <p:nvPr/>
        </p:nvSpPr>
        <p:spPr>
          <a:xfrm>
            <a:off x="406301" y="1307753"/>
            <a:ext cx="8331398" cy="25301"/>
          </a:xfrm>
          <a:prstGeom prst="rect">
            <a:avLst/>
          </a:prstGeom>
          <a:solidFill>
            <a:srgbClr val="16191D"/>
          </a:solidFill>
          <a:ln/>
        </p:spPr>
        <p:txBody>
          <a:bodyPr wrap="square" rtlCol="0" anchor="ctr"/>
          <a:lstStyle/>
          <a:p>
            <a:pPr indent="0" marL="0">
              <a:buNone/>
            </a:pPr>
            <a:endParaRPr lang="en-US" dirty="0"/>
          </a:p>
        </p:txBody>
      </p:sp>
      <p:sp>
        <p:nvSpPr>
          <p:cNvPr id="6" name="Shape 4"/>
          <p:cNvSpPr/>
          <p:nvPr/>
        </p:nvSpPr>
        <p:spPr>
          <a:xfrm>
            <a:off x="425351" y="1498104"/>
            <a:ext cx="0" cy="1731466"/>
          </a:xfrm>
          <a:prstGeom prst="line">
            <a:avLst/>
          </a:prstGeom>
          <a:noFill/>
          <a:ln w="38100">
            <a:solidFill>
              <a:srgbClr val="C1502E"/>
            </a:solidFill>
            <a:prstDash val="solid"/>
          </a:ln>
        </p:spPr>
      </p:sp>
      <p:sp>
        <p:nvSpPr>
          <p:cNvPr id="7" name="Text 5"/>
          <p:cNvSpPr/>
          <p:nvPr/>
        </p:nvSpPr>
        <p:spPr>
          <a:xfrm>
            <a:off x="596801" y="1498104"/>
            <a:ext cx="3925062" cy="95250"/>
          </a:xfrm>
          <a:prstGeom prst="rect">
            <a:avLst/>
          </a:prstGeom>
          <a:noFill/>
          <a:ln/>
        </p:spPr>
        <p:txBody>
          <a:bodyPr wrap="square" lIns="0" tIns="0" rIns="0" bIns="0" rtlCol="0" anchor="t"/>
          <a:lstStyle/>
          <a:p>
            <a:pPr algn="l" indent="0" marL="0">
              <a:buNone/>
            </a:pPr>
            <a:r>
              <a:rPr lang="en-US" sz="680" b="1" dirty="0">
                <a:solidFill>
                  <a:srgbClr val="A8421F"/>
                </a:solidFill>
                <a:latin typeface="Arial" pitchFamily="34" charset="0"/>
                <a:ea typeface="Arial" pitchFamily="34" charset="-122"/>
                <a:cs typeface="Arial" pitchFamily="34" charset="-120"/>
              </a:rPr>
              <a:t>PGE — LAPORAN TAHUNAN 2025</a:t>
            </a:r>
            <a:endParaRPr lang="en-US" sz="680" dirty="0"/>
          </a:p>
        </p:txBody>
      </p:sp>
      <p:sp>
        <p:nvSpPr>
          <p:cNvPr id="8" name="Text 6"/>
          <p:cNvSpPr/>
          <p:nvPr/>
        </p:nvSpPr>
        <p:spPr>
          <a:xfrm>
            <a:off x="596801" y="1669554"/>
            <a:ext cx="3925062" cy="381000"/>
          </a:xfrm>
          <a:prstGeom prst="rect">
            <a:avLst/>
          </a:prstGeom>
          <a:noFill/>
          <a:ln/>
        </p:spPr>
        <p:txBody>
          <a:bodyPr wrap="square" lIns="0" tIns="0" rIns="0" bIns="0" rtlCol="0" anchor="t"/>
          <a:lstStyle/>
          <a:p>
            <a:pPr algn="l" indent="0" marL="0">
              <a:lnSpc>
                <a:spcPts val="1500"/>
              </a:lnSpc>
              <a:spcBef>
                <a:spcPts val="600"/>
              </a:spcBef>
              <a:buNone/>
            </a:pPr>
            <a:r>
              <a:rPr lang="en-US" sz="1250" b="1" dirty="0">
                <a:solidFill>
                  <a:srgbClr val="16191D"/>
                </a:solidFill>
                <a:latin typeface="Arial" pitchFamily="34" charset="0"/>
                <a:ea typeface="Arial" pitchFamily="34" charset="-122"/>
                <a:cs typeface="Arial" pitchFamily="34" charset="-120"/>
              </a:rPr>
              <a:t>Operasi membaik, laba turun — dan penyebabnya bukan bisnis inti</a:t>
            </a:r>
            <a:endParaRPr lang="en-US" sz="1250" dirty="0"/>
          </a:p>
        </p:txBody>
      </p:sp>
      <p:sp>
        <p:nvSpPr>
          <p:cNvPr id="9" name="Text 7"/>
          <p:cNvSpPr/>
          <p:nvPr/>
        </p:nvSpPr>
        <p:spPr>
          <a:xfrm>
            <a:off x="596801" y="2152055"/>
            <a:ext cx="3848100" cy="1020366"/>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Produksi rekor 5.095 GWh, pendapatan +6,3%, arus kas operasi +21,4%</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Laba bersih −14,1%, tetapi EBITDA justru +1,9%</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Tanpa selisih kurs, laba sebelum pajak hanya turun 4,1%</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Neraca sangat kuat: utang neto/EBITDA 0,10x</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Masalahnya produktivitas modal: ROE turun tiga tahun ke 6,73%</a:t>
            </a:r>
            <a:endParaRPr lang="en-US" sz="860" dirty="0"/>
          </a:p>
        </p:txBody>
      </p:sp>
      <p:sp>
        <p:nvSpPr>
          <p:cNvPr id="10" name="Shape 8"/>
          <p:cNvSpPr/>
          <p:nvPr/>
        </p:nvSpPr>
        <p:spPr>
          <a:xfrm>
            <a:off x="4717852" y="1498104"/>
            <a:ext cx="0" cy="1731466"/>
          </a:xfrm>
          <a:prstGeom prst="line">
            <a:avLst/>
          </a:prstGeom>
          <a:noFill/>
          <a:ln w="38100">
            <a:solidFill>
              <a:srgbClr val="154C5B"/>
            </a:solidFill>
            <a:prstDash val="solid"/>
          </a:ln>
        </p:spPr>
      </p:sp>
      <p:sp>
        <p:nvSpPr>
          <p:cNvPr id="11" name="Text 9"/>
          <p:cNvSpPr/>
          <p:nvPr/>
        </p:nvSpPr>
        <p:spPr>
          <a:xfrm>
            <a:off x="4889302" y="1498104"/>
            <a:ext cx="3925062" cy="95250"/>
          </a:xfrm>
          <a:prstGeom prst="rect">
            <a:avLst/>
          </a:prstGeom>
          <a:noFill/>
          <a:ln/>
        </p:spPr>
        <p:txBody>
          <a:bodyPr wrap="square" lIns="0" tIns="0" rIns="0" bIns="0" rtlCol="0" anchor="t"/>
          <a:lstStyle/>
          <a:p>
            <a:pPr algn="l" indent="0" marL="0">
              <a:buNone/>
            </a:pPr>
            <a:r>
              <a:rPr lang="en-US" sz="680" b="1" dirty="0">
                <a:solidFill>
                  <a:srgbClr val="154C5B"/>
                </a:solidFill>
                <a:latin typeface="Arial" pitchFamily="34" charset="0"/>
                <a:ea typeface="Arial" pitchFamily="34" charset="-122"/>
                <a:cs typeface="Arial" pitchFamily="34" charset="-120"/>
              </a:rPr>
              <a:t>BANK MANDIRI — LAPORAN KEBERLANJUTAN 2025</a:t>
            </a:r>
            <a:endParaRPr lang="en-US" sz="680" dirty="0"/>
          </a:p>
        </p:txBody>
      </p:sp>
      <p:sp>
        <p:nvSpPr>
          <p:cNvPr id="12" name="Text 10"/>
          <p:cNvSpPr/>
          <p:nvPr/>
        </p:nvSpPr>
        <p:spPr>
          <a:xfrm>
            <a:off x="4889302" y="1669554"/>
            <a:ext cx="3925062" cy="381000"/>
          </a:xfrm>
          <a:prstGeom prst="rect">
            <a:avLst/>
          </a:prstGeom>
          <a:noFill/>
          <a:ln/>
        </p:spPr>
        <p:txBody>
          <a:bodyPr wrap="square" lIns="0" tIns="0" rIns="0" bIns="0" rtlCol="0" anchor="t"/>
          <a:lstStyle/>
          <a:p>
            <a:pPr algn="l" indent="0" marL="0">
              <a:lnSpc>
                <a:spcPts val="1500"/>
              </a:lnSpc>
              <a:spcBef>
                <a:spcPts val="600"/>
              </a:spcBef>
              <a:buNone/>
            </a:pPr>
            <a:r>
              <a:rPr lang="en-US" sz="1250" b="1" dirty="0">
                <a:solidFill>
                  <a:srgbClr val="16191D"/>
                </a:solidFill>
                <a:latin typeface="Arial" pitchFamily="34" charset="0"/>
                <a:ea typeface="Arial" pitchFamily="34" charset="-122"/>
                <a:cs typeface="Arial" pitchFamily="34" charset="-120"/>
              </a:rPr>
              <a:t>Kerangka pengungkapan kelas atas, portofolio belum bergerak</a:t>
            </a:r>
            <a:endParaRPr lang="en-US" sz="1250" dirty="0"/>
          </a:p>
        </p:txBody>
      </p:sp>
      <p:sp>
        <p:nvSpPr>
          <p:cNvPr id="13" name="Text 11"/>
          <p:cNvSpPr/>
          <p:nvPr/>
        </p:nvSpPr>
        <p:spPr>
          <a:xfrm>
            <a:off x="4889302" y="2152055"/>
            <a:ext cx="3848100" cy="1020366"/>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Early adoption PSPK 1 &amp; 2; CRMS 100% portofolio</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Pangsa pembiayaan berkelanjutan turun tiga tahun: 24,3% ke 21,1%</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Emisi operasional naik 1,7% YoY, energi naik 7,2%</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Financed emissions absolut naik 5,0% ke 20,3 juta tCO2e</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98,8% emisi berada di luar seluruh lingkup assurance</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6191D"/>
          </a:solidFill>
          <a:ln/>
        </p:spPr>
        <p:txBody>
          <a:bodyPr wrap="square" rtlCol="0" anchor="ctr"/>
          <a:lstStyle/>
          <a:p>
            <a:pPr indent="0" marL="0">
              <a:buNone/>
            </a:pPr>
            <a:endParaRPr lang="en-US" dirty="0"/>
          </a:p>
        </p:txBody>
      </p:sp>
      <p:sp>
        <p:nvSpPr>
          <p:cNvPr id="3" name="Text 1"/>
          <p:cNvSpPr/>
          <p:nvPr/>
        </p:nvSpPr>
        <p:spPr>
          <a:xfrm>
            <a:off x="584150" y="685800"/>
            <a:ext cx="762000" cy="50750"/>
          </a:xfrm>
          <a:prstGeom prst="rect">
            <a:avLst/>
          </a:prstGeom>
          <a:solidFill>
            <a:srgbClr val="C1502E"/>
          </a:solidFill>
          <a:ln/>
        </p:spPr>
        <p:txBody>
          <a:bodyPr wrap="square" rtlCol="0" anchor="ctr"/>
          <a:lstStyle/>
          <a:p>
            <a:pPr indent="0" marL="0">
              <a:buNone/>
            </a:pPr>
            <a:endParaRPr lang="en-US" dirty="0"/>
          </a:p>
        </p:txBody>
      </p:sp>
      <p:sp>
        <p:nvSpPr>
          <p:cNvPr id="4" name="Text 2"/>
          <p:cNvSpPr/>
          <p:nvPr/>
        </p:nvSpPr>
        <p:spPr>
          <a:xfrm>
            <a:off x="584150" y="939701"/>
            <a:ext cx="8135213" cy="1219200"/>
          </a:xfrm>
          <a:prstGeom prst="rect">
            <a:avLst/>
          </a:prstGeom>
          <a:noFill/>
          <a:ln/>
        </p:spPr>
        <p:txBody>
          <a:bodyPr wrap="square" lIns="0" tIns="0" rIns="0" bIns="0" rtlCol="0" anchor="t"/>
          <a:lstStyle/>
          <a:p>
            <a:pPr algn="l" indent="0" marL="0">
              <a:lnSpc>
                <a:spcPts val="9600"/>
              </a:lnSpc>
              <a:spcBef>
                <a:spcPts val="1600"/>
              </a:spcBef>
              <a:buNone/>
            </a:pPr>
            <a:r>
              <a:rPr lang="en-US" sz="9600" b="1" dirty="0">
                <a:solidFill>
                  <a:srgbClr val="C1502E"/>
                </a:solidFill>
                <a:latin typeface="Georgia" pitchFamily="34" charset="0"/>
                <a:ea typeface="Georgia" pitchFamily="34" charset="-122"/>
                <a:cs typeface="Georgia" pitchFamily="34" charset="-120"/>
              </a:rPr>
              <a:t>01</a:t>
            </a:r>
            <a:endParaRPr lang="en-US" sz="9600" dirty="0"/>
          </a:p>
        </p:txBody>
      </p:sp>
      <p:sp>
        <p:nvSpPr>
          <p:cNvPr id="5" name="Text 3"/>
          <p:cNvSpPr/>
          <p:nvPr/>
        </p:nvSpPr>
        <p:spPr>
          <a:xfrm>
            <a:off x="584150" y="2260402"/>
            <a:ext cx="8135213" cy="438894"/>
          </a:xfrm>
          <a:prstGeom prst="rect">
            <a:avLst/>
          </a:prstGeom>
          <a:noFill/>
          <a:ln/>
        </p:spPr>
        <p:txBody>
          <a:bodyPr wrap="square" lIns="0" tIns="0" rIns="0" bIns="0" rtlCol="0" anchor="t"/>
          <a:lstStyle/>
          <a:p>
            <a:pPr algn="l" indent="0" marL="0">
              <a:lnSpc>
                <a:spcPts val="3456"/>
              </a:lnSpc>
              <a:spcBef>
                <a:spcPts val="800"/>
              </a:spcBef>
              <a:buNone/>
            </a:pPr>
            <a:r>
              <a:rPr lang="en-US" sz="3200" b="1" dirty="0">
                <a:solidFill>
                  <a:srgbClr val="F2EFE9"/>
                </a:solidFill>
                <a:latin typeface="Arial" pitchFamily="34" charset="0"/>
                <a:ea typeface="Arial" pitchFamily="34" charset="-122"/>
                <a:cs typeface="Arial" pitchFamily="34" charset="-120"/>
              </a:rPr>
              <a:t>PT Pertamina Geothermal Energy Tbk</a:t>
            </a:r>
            <a:endParaRPr lang="en-US" sz="3200" dirty="0"/>
          </a:p>
        </p:txBody>
      </p:sp>
      <p:sp>
        <p:nvSpPr>
          <p:cNvPr id="6" name="Text 4"/>
          <p:cNvSpPr/>
          <p:nvPr/>
        </p:nvSpPr>
        <p:spPr>
          <a:xfrm>
            <a:off x="584150" y="2851696"/>
            <a:ext cx="7254139" cy="385465"/>
          </a:xfrm>
          <a:prstGeom prst="rect">
            <a:avLst/>
          </a:prstGeom>
          <a:noFill/>
          <a:ln/>
        </p:spPr>
        <p:txBody>
          <a:bodyPr wrap="square" lIns="0" tIns="0" rIns="0" bIns="0" rtlCol="0" anchor="t"/>
          <a:lstStyle/>
          <a:p>
            <a:pPr algn="l" indent="0" marL="0">
              <a:lnSpc>
                <a:spcPts val="1518"/>
              </a:lnSpc>
              <a:spcBef>
                <a:spcPts val="1200"/>
              </a:spcBef>
              <a:buNone/>
            </a:pPr>
            <a:r>
              <a:rPr lang="en-US" sz="1100" dirty="0">
                <a:solidFill>
                  <a:srgbClr val="B9BEC4"/>
                </a:solidFill>
                <a:latin typeface="Arial" pitchFamily="34" charset="0"/>
                <a:ea typeface="Arial" pitchFamily="34" charset="-122"/>
                <a:cs typeface="Arial" pitchFamily="34" charset="-120"/>
              </a:rPr>
              <a:t>Laporan Tahunan 2025 — opini wajar tanpa modifikasian dari KAP Purwanto Susanti dan Surja (EY). Hal audit utama tunggal: penurunan nilai aset tetap.</a:t>
            </a:r>
            <a:endParaRPr lang="en-US" sz="1100" dirty="0"/>
          </a:p>
        </p:txBody>
      </p:sp>
      <p:sp>
        <p:nvSpPr>
          <p:cNvPr id="7" name="Text 5"/>
          <p:cNvSpPr/>
          <p:nvPr/>
        </p:nvSpPr>
        <p:spPr>
          <a:xfrm>
            <a:off x="584150" y="3567261"/>
            <a:ext cx="7975550" cy="12650"/>
          </a:xfrm>
          <a:prstGeom prst="rect">
            <a:avLst/>
          </a:prstGeom>
          <a:solidFill>
            <a:srgbClr val="3A4046"/>
          </a:solidFill>
          <a:ln/>
        </p:spPr>
        <p:txBody>
          <a:bodyPr wrap="square" rtlCol="0" anchor="ctr"/>
          <a:lstStyle/>
          <a:p>
            <a:pPr indent="0" marL="0">
              <a:buNone/>
            </a:pPr>
            <a:endParaRPr lang="en-US" dirty="0"/>
          </a:p>
        </p:txBody>
      </p:sp>
      <p:sp>
        <p:nvSpPr>
          <p:cNvPr id="8" name="Text 6"/>
          <p:cNvSpPr/>
          <p:nvPr/>
        </p:nvSpPr>
        <p:spPr>
          <a:xfrm>
            <a:off x="584150"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PENDAPATAN 2025</a:t>
            </a:r>
            <a:endParaRPr lang="en-US" sz="680" dirty="0"/>
          </a:p>
        </p:txBody>
      </p:sp>
      <p:sp>
        <p:nvSpPr>
          <p:cNvPr id="9" name="Text 7"/>
          <p:cNvSpPr/>
          <p:nvPr/>
        </p:nvSpPr>
        <p:spPr>
          <a:xfrm>
            <a:off x="584150"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USD432,7 jt</a:t>
            </a:r>
            <a:endParaRPr lang="en-US" sz="1700" dirty="0"/>
          </a:p>
        </p:txBody>
      </p:sp>
      <p:sp>
        <p:nvSpPr>
          <p:cNvPr id="10" name="Text 8"/>
          <p:cNvSpPr/>
          <p:nvPr/>
        </p:nvSpPr>
        <p:spPr>
          <a:xfrm>
            <a:off x="2578001"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LABA BERSIH</a:t>
            </a:r>
            <a:endParaRPr lang="en-US" sz="680" dirty="0"/>
          </a:p>
        </p:txBody>
      </p:sp>
      <p:sp>
        <p:nvSpPr>
          <p:cNvPr id="11" name="Text 9"/>
          <p:cNvSpPr/>
          <p:nvPr/>
        </p:nvSpPr>
        <p:spPr>
          <a:xfrm>
            <a:off x="2578001"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USD137,7 jt</a:t>
            </a:r>
            <a:endParaRPr lang="en-US" sz="1700" dirty="0"/>
          </a:p>
        </p:txBody>
      </p:sp>
      <p:sp>
        <p:nvSpPr>
          <p:cNvPr id="12" name="Text 10"/>
          <p:cNvSpPr/>
          <p:nvPr/>
        </p:nvSpPr>
        <p:spPr>
          <a:xfrm>
            <a:off x="4571851"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PRODUKSI</a:t>
            </a:r>
            <a:endParaRPr lang="en-US" sz="680" dirty="0"/>
          </a:p>
        </p:txBody>
      </p:sp>
      <p:sp>
        <p:nvSpPr>
          <p:cNvPr id="13" name="Text 11"/>
          <p:cNvSpPr/>
          <p:nvPr/>
        </p:nvSpPr>
        <p:spPr>
          <a:xfrm>
            <a:off x="4571851"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5.095 GWh</a:t>
            </a:r>
            <a:endParaRPr lang="en-US" sz="1700" dirty="0"/>
          </a:p>
        </p:txBody>
      </p:sp>
      <p:sp>
        <p:nvSpPr>
          <p:cNvPr id="14" name="Text 12"/>
          <p:cNvSpPr/>
          <p:nvPr/>
        </p:nvSpPr>
        <p:spPr>
          <a:xfrm>
            <a:off x="6565702"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KAPASITAS TERPASANG</a:t>
            </a:r>
            <a:endParaRPr lang="en-US" sz="680" dirty="0"/>
          </a:p>
        </p:txBody>
      </p:sp>
      <p:sp>
        <p:nvSpPr>
          <p:cNvPr id="15" name="Text 13"/>
          <p:cNvSpPr/>
          <p:nvPr/>
        </p:nvSpPr>
        <p:spPr>
          <a:xfrm>
            <a:off x="6565702"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727 MW</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PROFIL</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Operator Panas Bumi Terbesar Indonesia</a:t>
            </a:r>
            <a:endParaRPr lang="en-US" sz="2400" dirty="0"/>
          </a:p>
        </p:txBody>
      </p:sp>
      <p:sp>
        <p:nvSpPr>
          <p:cNvPr id="4" name="Text 2"/>
          <p:cNvSpPr/>
          <p:nvPr/>
        </p:nvSpPr>
        <p:spPr>
          <a:xfrm>
            <a:off x="406301" y="916335"/>
            <a:ext cx="8331398" cy="25301"/>
          </a:xfrm>
          <a:prstGeom prst="rect">
            <a:avLst/>
          </a:prstGeom>
          <a:solidFill>
            <a:srgbClr val="C1502E"/>
          </a:solidFill>
          <a:ln/>
        </p:spPr>
        <p:txBody>
          <a:bodyPr wrap="square" rtlCol="0" anchor="ctr"/>
          <a:lstStyle/>
          <a:p>
            <a:pPr indent="0" marL="0">
              <a:buNone/>
            </a:pPr>
            <a:endParaRPr lang="en-US" dirty="0"/>
          </a:p>
        </p:txBody>
      </p:sp>
      <p:sp>
        <p:nvSpPr>
          <p:cNvPr id="5" name="Text 3"/>
          <p:cNvSpPr/>
          <p:nvPr/>
        </p:nvSpPr>
        <p:spPr>
          <a:xfrm>
            <a:off x="406301" y="1106686"/>
            <a:ext cx="2006501" cy="948928"/>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6301" y="1120973"/>
            <a:ext cx="2006501" cy="0"/>
          </a:xfrm>
          <a:prstGeom prst="line">
            <a:avLst/>
          </a:prstGeom>
          <a:noFill/>
          <a:ln w="28575">
            <a:solidFill>
              <a:srgbClr val="C1502E"/>
            </a:solidFill>
            <a:prstDash val="solid"/>
          </a:ln>
        </p:spPr>
      </p:sp>
      <p:sp>
        <p:nvSpPr>
          <p:cNvPr id="7" name="Text 5"/>
          <p:cNvSpPr/>
          <p:nvPr/>
        </p:nvSpPr>
        <p:spPr>
          <a:xfrm>
            <a:off x="533251" y="124956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WILAYAH KERJA DIKELOLA</a:t>
            </a:r>
            <a:endParaRPr lang="en-US" sz="680" dirty="0"/>
          </a:p>
        </p:txBody>
      </p:sp>
      <p:sp>
        <p:nvSpPr>
          <p:cNvPr id="8" name="Text 6"/>
          <p:cNvSpPr/>
          <p:nvPr/>
        </p:nvSpPr>
        <p:spPr>
          <a:xfrm>
            <a:off x="533251" y="1382911"/>
            <a:ext cx="1787652" cy="279350"/>
          </a:xfrm>
          <a:prstGeom prst="rect">
            <a:avLst/>
          </a:prstGeom>
          <a:noFill/>
          <a:ln/>
        </p:spPr>
        <p:txBody>
          <a:bodyPr wrap="square" lIns="0" tIns="0" rIns="0" bIns="0" rtlCol="0" anchor="t"/>
          <a:lstStyle/>
          <a:p>
            <a:pPr algn="l" indent="0" marL="0">
              <a:lnSpc>
                <a:spcPts val="2200"/>
              </a:lnSpc>
              <a:spcBef>
                <a:spcPts val="300"/>
              </a:spcBef>
              <a:buNone/>
            </a:pPr>
            <a:r>
              <a:rPr lang="en-US" sz="2200" b="1" dirty="0">
                <a:solidFill>
                  <a:srgbClr val="16191D"/>
                </a:solidFill>
                <a:latin typeface="Arial" pitchFamily="34" charset="0"/>
                <a:ea typeface="Arial" pitchFamily="34" charset="-122"/>
                <a:cs typeface="Arial" pitchFamily="34" charset="-120"/>
              </a:rPr>
              <a:t>15 WKP</a:t>
            </a:r>
            <a:endParaRPr lang="en-US" sz="2200" dirty="0"/>
          </a:p>
        </p:txBody>
      </p:sp>
      <p:sp>
        <p:nvSpPr>
          <p:cNvPr id="9" name="Text 7"/>
          <p:cNvSpPr/>
          <p:nvPr/>
        </p:nvSpPr>
        <p:spPr>
          <a:xfrm>
            <a:off x="533251" y="1713012"/>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1.943 MW terpasang, termasuk skema Kontrak Operasi Bersama</a:t>
            </a:r>
            <a:endParaRPr lang="en-US" sz="720" dirty="0"/>
          </a:p>
        </p:txBody>
      </p:sp>
      <p:sp>
        <p:nvSpPr>
          <p:cNvPr id="10" name="Text 8"/>
          <p:cNvSpPr/>
          <p:nvPr/>
        </p:nvSpPr>
        <p:spPr>
          <a:xfrm>
            <a:off x="2514302" y="1106686"/>
            <a:ext cx="2006501" cy="948928"/>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2514302" y="1120973"/>
            <a:ext cx="2006501" cy="0"/>
          </a:xfrm>
          <a:prstGeom prst="line">
            <a:avLst/>
          </a:prstGeom>
          <a:noFill/>
          <a:ln w="28575">
            <a:solidFill>
              <a:srgbClr val="C1502E"/>
            </a:solidFill>
            <a:prstDash val="solid"/>
          </a:ln>
        </p:spPr>
      </p:sp>
      <p:sp>
        <p:nvSpPr>
          <p:cNvPr id="12" name="Text 10"/>
          <p:cNvSpPr/>
          <p:nvPr/>
        </p:nvSpPr>
        <p:spPr>
          <a:xfrm>
            <a:off x="2641253" y="124956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PANGSA NASIONAL</a:t>
            </a:r>
            <a:endParaRPr lang="en-US" sz="680" dirty="0"/>
          </a:p>
        </p:txBody>
      </p:sp>
      <p:sp>
        <p:nvSpPr>
          <p:cNvPr id="13" name="Text 11"/>
          <p:cNvSpPr/>
          <p:nvPr/>
        </p:nvSpPr>
        <p:spPr>
          <a:xfrm>
            <a:off x="2641253" y="1382911"/>
            <a:ext cx="1787652" cy="279350"/>
          </a:xfrm>
          <a:prstGeom prst="rect">
            <a:avLst/>
          </a:prstGeom>
          <a:noFill/>
          <a:ln/>
        </p:spPr>
        <p:txBody>
          <a:bodyPr wrap="square" lIns="0" tIns="0" rIns="0" bIns="0" rtlCol="0" anchor="t"/>
          <a:lstStyle/>
          <a:p>
            <a:pPr algn="l" indent="0" marL="0">
              <a:lnSpc>
                <a:spcPts val="2200"/>
              </a:lnSpc>
              <a:spcBef>
                <a:spcPts val="300"/>
              </a:spcBef>
              <a:buNone/>
            </a:pPr>
            <a:r>
              <a:rPr lang="en-US" sz="2200" b="1" dirty="0">
                <a:solidFill>
                  <a:srgbClr val="16191D"/>
                </a:solidFill>
                <a:latin typeface="Arial" pitchFamily="34" charset="0"/>
                <a:ea typeface="Arial" pitchFamily="34" charset="-122"/>
                <a:cs typeface="Arial" pitchFamily="34" charset="-120"/>
              </a:rPr>
              <a:t>71,6%</a:t>
            </a:r>
            <a:endParaRPr lang="en-US" sz="2200" dirty="0"/>
          </a:p>
        </p:txBody>
      </p:sp>
      <p:sp>
        <p:nvSpPr>
          <p:cNvPr id="14" name="Text 12"/>
          <p:cNvSpPr/>
          <p:nvPr/>
        </p:nvSpPr>
        <p:spPr>
          <a:xfrm>
            <a:off x="2641253" y="1713012"/>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Dari total kapasitas panas bumi nasional 2,7 GW</a:t>
            </a:r>
            <a:endParaRPr lang="en-US" sz="720" dirty="0"/>
          </a:p>
        </p:txBody>
      </p:sp>
      <p:sp>
        <p:nvSpPr>
          <p:cNvPr id="15" name="Text 13"/>
          <p:cNvSpPr/>
          <p:nvPr/>
        </p:nvSpPr>
        <p:spPr>
          <a:xfrm>
            <a:off x="4622304" y="1106686"/>
            <a:ext cx="2006501" cy="948928"/>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622304" y="1120973"/>
            <a:ext cx="2006501" cy="0"/>
          </a:xfrm>
          <a:prstGeom prst="line">
            <a:avLst/>
          </a:prstGeom>
          <a:noFill/>
          <a:ln w="28575">
            <a:solidFill>
              <a:srgbClr val="C1502E"/>
            </a:solidFill>
            <a:prstDash val="solid"/>
          </a:ln>
        </p:spPr>
      </p:sp>
      <p:sp>
        <p:nvSpPr>
          <p:cNvPr id="17" name="Text 15"/>
          <p:cNvSpPr/>
          <p:nvPr/>
        </p:nvSpPr>
        <p:spPr>
          <a:xfrm>
            <a:off x="4749254" y="124956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OPERASI SENDIRI</a:t>
            </a:r>
            <a:endParaRPr lang="en-US" sz="680" dirty="0"/>
          </a:p>
        </p:txBody>
      </p:sp>
      <p:sp>
        <p:nvSpPr>
          <p:cNvPr id="18" name="Text 16"/>
          <p:cNvSpPr/>
          <p:nvPr/>
        </p:nvSpPr>
        <p:spPr>
          <a:xfrm>
            <a:off x="4749254" y="1382911"/>
            <a:ext cx="1787652" cy="279350"/>
          </a:xfrm>
          <a:prstGeom prst="rect">
            <a:avLst/>
          </a:prstGeom>
          <a:noFill/>
          <a:ln/>
        </p:spPr>
        <p:txBody>
          <a:bodyPr wrap="square" lIns="0" tIns="0" rIns="0" bIns="0" rtlCol="0" anchor="t"/>
          <a:lstStyle/>
          <a:p>
            <a:pPr algn="l" indent="0" marL="0">
              <a:lnSpc>
                <a:spcPts val="2200"/>
              </a:lnSpc>
              <a:spcBef>
                <a:spcPts val="300"/>
              </a:spcBef>
              <a:buNone/>
            </a:pPr>
            <a:r>
              <a:rPr lang="en-US" sz="2200" b="1" dirty="0">
                <a:solidFill>
                  <a:srgbClr val="16191D"/>
                </a:solidFill>
                <a:latin typeface="Arial" pitchFamily="34" charset="0"/>
                <a:ea typeface="Arial" pitchFamily="34" charset="-122"/>
                <a:cs typeface="Arial" pitchFamily="34" charset="-120"/>
              </a:rPr>
              <a:t>727 MW</a:t>
            </a:r>
            <a:endParaRPr lang="en-US" sz="2200" dirty="0"/>
          </a:p>
        </p:txBody>
      </p:sp>
      <p:sp>
        <p:nvSpPr>
          <p:cNvPr id="19" name="Text 17"/>
          <p:cNvSpPr/>
          <p:nvPr/>
        </p:nvSpPr>
        <p:spPr>
          <a:xfrm>
            <a:off x="4749254" y="1713012"/>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6 lapangan komersial; Lumut Balai 2 COD 30 Juni 2025</a:t>
            </a:r>
            <a:endParaRPr lang="en-US" sz="720" dirty="0"/>
          </a:p>
        </p:txBody>
      </p:sp>
      <p:sp>
        <p:nvSpPr>
          <p:cNvPr id="20" name="Text 18"/>
          <p:cNvSpPr/>
          <p:nvPr/>
        </p:nvSpPr>
        <p:spPr>
          <a:xfrm>
            <a:off x="6730305" y="1106686"/>
            <a:ext cx="2006501" cy="948928"/>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730305" y="1120973"/>
            <a:ext cx="2006501" cy="0"/>
          </a:xfrm>
          <a:prstGeom prst="line">
            <a:avLst/>
          </a:prstGeom>
          <a:noFill/>
          <a:ln w="28575">
            <a:solidFill>
              <a:srgbClr val="B08327"/>
            </a:solidFill>
            <a:prstDash val="solid"/>
          </a:ln>
        </p:spPr>
      </p:sp>
      <p:sp>
        <p:nvSpPr>
          <p:cNvPr id="22" name="Text 20"/>
          <p:cNvSpPr/>
          <p:nvPr/>
        </p:nvSpPr>
        <p:spPr>
          <a:xfrm>
            <a:off x="6857256" y="124956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KONSENTRASI PELANGGAN</a:t>
            </a:r>
            <a:endParaRPr lang="en-US" sz="680" dirty="0"/>
          </a:p>
        </p:txBody>
      </p:sp>
      <p:sp>
        <p:nvSpPr>
          <p:cNvPr id="23" name="Text 21"/>
          <p:cNvSpPr/>
          <p:nvPr/>
        </p:nvSpPr>
        <p:spPr>
          <a:xfrm>
            <a:off x="6857256" y="1382911"/>
            <a:ext cx="1787652" cy="279350"/>
          </a:xfrm>
          <a:prstGeom prst="rect">
            <a:avLst/>
          </a:prstGeom>
          <a:noFill/>
          <a:ln/>
        </p:spPr>
        <p:txBody>
          <a:bodyPr wrap="square" lIns="0" tIns="0" rIns="0" bIns="0" rtlCol="0" anchor="t"/>
          <a:lstStyle/>
          <a:p>
            <a:pPr algn="l" indent="0" marL="0">
              <a:lnSpc>
                <a:spcPts val="2200"/>
              </a:lnSpc>
              <a:spcBef>
                <a:spcPts val="300"/>
              </a:spcBef>
              <a:buNone/>
            </a:pPr>
            <a:r>
              <a:rPr lang="en-US" sz="2200" b="1" dirty="0">
                <a:solidFill>
                  <a:srgbClr val="16191D"/>
                </a:solidFill>
                <a:latin typeface="Arial" pitchFamily="34" charset="0"/>
                <a:ea typeface="Arial" pitchFamily="34" charset="-122"/>
                <a:cs typeface="Arial" pitchFamily="34" charset="-120"/>
              </a:rPr>
              <a:t>100%</a:t>
            </a:r>
            <a:endParaRPr lang="en-US" sz="2200" dirty="0"/>
          </a:p>
        </p:txBody>
      </p:sp>
      <p:sp>
        <p:nvSpPr>
          <p:cNvPr id="24" name="Text 22"/>
          <p:cNvSpPr/>
          <p:nvPr/>
        </p:nvSpPr>
        <p:spPr>
          <a:xfrm>
            <a:off x="6857256" y="1713012"/>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Grup PLN 96% pendapatan; sisanya production allowance KOB</a:t>
            </a:r>
            <a:endParaRPr lang="en-US" sz="720" dirty="0"/>
          </a:p>
        </p:txBody>
      </p:sp>
      <p:sp>
        <p:nvSpPr>
          <p:cNvPr id="25" name="Text 23"/>
          <p:cNvSpPr/>
          <p:nvPr/>
        </p:nvSpPr>
        <p:spPr>
          <a:xfrm>
            <a:off x="406301" y="2233315"/>
            <a:ext cx="4197096"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YANG MENOPANG KINERJA</a:t>
            </a:r>
            <a:endParaRPr lang="en-US" sz="680" dirty="0"/>
          </a:p>
        </p:txBody>
      </p:sp>
      <p:sp>
        <p:nvSpPr>
          <p:cNvPr id="26" name="Text 24"/>
          <p:cNvSpPr/>
          <p:nvPr/>
        </p:nvSpPr>
        <p:spPr>
          <a:xfrm>
            <a:off x="406301" y="2417415"/>
            <a:ext cx="4114800" cy="804863"/>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Kontrak PJBU dan PJBL berjangka sangat panjang, hingga 2040–2048</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Pembeli berperingkat AAA (PLN dan PLN Indonesia Power)</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Pendanaan G-to-G sangat murah: JICA dan CTF efektif di bawah 1% per tahun</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Pemanfaatan panas bumi nasional baru 4,9% dari potensi 29.544 MW</a:t>
            </a:r>
            <a:endParaRPr lang="en-US" sz="860" dirty="0"/>
          </a:p>
        </p:txBody>
      </p:sp>
      <p:sp>
        <p:nvSpPr>
          <p:cNvPr id="27" name="Text 25"/>
          <p:cNvSpPr/>
          <p:nvPr/>
        </p:nvSpPr>
        <p:spPr>
          <a:xfrm>
            <a:off x="4622602" y="2233315"/>
            <a:ext cx="4197096"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YANG MEMBATASI</a:t>
            </a:r>
            <a:endParaRPr lang="en-US" sz="680" dirty="0"/>
          </a:p>
        </p:txBody>
      </p:sp>
      <p:sp>
        <p:nvSpPr>
          <p:cNvPr id="28" name="Text 26"/>
          <p:cNvSpPr/>
          <p:nvPr/>
        </p:nvSpPr>
        <p:spPr>
          <a:xfrm>
            <a:off x="4622602" y="2417415"/>
            <a:ext cx="4114800" cy="804863"/>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Satu grup pelanggan tunggal; tidak ada program pemasaran karena produk in-situ</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Harga jual realisasi hampir flat: USD81,53/MWh vs USD80,90 tahun lalu</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Pertumbuhan sepenuhnya dari volume, bukan harga</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Sibayak 12 MW mencatat produksi nol tiga tahun berturut-turut</a:t>
            </a:r>
            <a:endParaRPr lang="en-US" sz="860" dirty="0"/>
          </a:p>
        </p:txBody>
      </p:sp>
      <p:sp>
        <p:nvSpPr>
          <p:cNvPr id="29" name="Text 27"/>
          <p:cNvSpPr/>
          <p:nvPr/>
        </p:nvSpPr>
        <p:spPr>
          <a:xfrm>
            <a:off x="406301" y="3431828"/>
            <a:ext cx="8498026" cy="95250"/>
          </a:xfrm>
          <a:prstGeom prst="rect">
            <a:avLst/>
          </a:prstGeom>
          <a:noFill/>
          <a:ln/>
        </p:spPr>
        <p:txBody>
          <a:bodyPr wrap="square" lIns="0" tIns="0" rIns="0" bIns="0" rtlCol="0" anchor="t"/>
          <a:lstStyle/>
          <a:p>
            <a:pPr algn="l" indent="0" marL="0">
              <a:spcBef>
                <a:spcPts val="1200"/>
              </a:spcBef>
              <a:buNone/>
            </a:pPr>
            <a:r>
              <a:rPr lang="en-US" sz="650" dirty="0">
                <a:solidFill>
                  <a:srgbClr val="9AA0A6"/>
                </a:solidFill>
                <a:latin typeface="Arial" pitchFamily="34" charset="0"/>
                <a:ea typeface="Arial" pitchFamily="34" charset="-122"/>
                <a:cs typeface="Arial" pitchFamily="34" charset="-120"/>
              </a:rPr>
              <a:t>Sumber: Laporan Tahunan PGE 2025, hal. 19, 174, 176, 229</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FINANCIAL HIGHLIGHTS</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Laporan Laba Rugi Konsolidasian</a:t>
            </a:r>
            <a:endParaRPr lang="en-US" sz="2400" dirty="0"/>
          </a:p>
        </p:txBody>
      </p:sp>
      <p:sp>
        <p:nvSpPr>
          <p:cNvPr id="4" name="Text 2"/>
          <p:cNvSpPr/>
          <p:nvPr/>
        </p:nvSpPr>
        <p:spPr>
          <a:xfrm>
            <a:off x="406301" y="865584"/>
            <a:ext cx="8419999" cy="315218"/>
          </a:xfrm>
          <a:prstGeom prst="rect">
            <a:avLst/>
          </a:prstGeom>
          <a:noFill/>
          <a:ln/>
        </p:spPr>
        <p:txBody>
          <a:bodyPr wrap="square" lIns="0" tIns="0" rIns="0" bIns="0" rtlCol="0" anchor="t"/>
          <a:lstStyle/>
          <a:p>
            <a:pPr algn="l" indent="0" marL="0">
              <a:lnSpc>
                <a:spcPts val="1242"/>
              </a:lnSpc>
              <a:spcBef>
                <a:spcPts val="600"/>
              </a:spcBef>
              <a:buNone/>
            </a:pPr>
            <a:r>
              <a:rPr lang="en-US" sz="900" dirty="0">
                <a:solidFill>
                  <a:srgbClr val="4A4F55"/>
                </a:solidFill>
                <a:latin typeface="Arial" pitchFamily="34" charset="0"/>
                <a:ea typeface="Arial" pitchFamily="34" charset="-122"/>
                <a:cs typeface="Arial" pitchFamily="34" charset="-120"/>
              </a:rPr>
              <a:t>Pendapatan naik 6,3% namun laba bersih turun 14,1%. Dua pendorong: beban pokok pendapatan +USD32,9 juta dan pembalikan selisih kurs −USD23,6 juta. EBITDA tetap tumbuh.</a:t>
            </a:r>
            <a:endParaRPr lang="en-US" sz="900" dirty="0"/>
          </a:p>
        </p:txBody>
      </p:sp>
      <p:sp>
        <p:nvSpPr>
          <p:cNvPr id="5" name="Text 3"/>
          <p:cNvSpPr/>
          <p:nvPr/>
        </p:nvSpPr>
        <p:spPr>
          <a:xfrm>
            <a:off x="406301" y="1282303"/>
            <a:ext cx="8331398" cy="25301"/>
          </a:xfrm>
          <a:prstGeom prst="rect">
            <a:avLst/>
          </a:prstGeom>
          <a:solidFill>
            <a:srgbClr val="C1502E"/>
          </a:solidFill>
          <a:ln/>
        </p:spPr>
        <p:txBody>
          <a:bodyPr wrap="square" rtlCol="0" anchor="ctr"/>
          <a:lstStyle/>
          <a:p>
            <a:pPr indent="0" marL="0">
              <a:buNone/>
            </a:pPr>
            <a:endParaRPr lang="en-US"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6301" y="1409105"/>
          <a:ext cx="8331101" cy="3073301"/>
        </p:xfrm>
        <a:graphic>
          <a:graphicData uri="http://schemas.openxmlformats.org/drawingml/2006/table">
            <a:tbl>
              <a:tblPr/>
              <a:tblGrid>
                <a:gridCol w="3832306"/>
                <a:gridCol w="1499598"/>
                <a:gridCol w="1499598"/>
                <a:gridCol w="1499598"/>
              </a:tblGrid>
              <a:tr h="204887">
                <a:tc>
                  <a:txBody>
                    <a:bodyPr/>
                    <a:lstStyle/>
                    <a:p>
                      <a:pPr algn="l" indent="0" marL="0">
                        <a:buNone/>
                      </a:pPr>
                      <a:r>
                        <a:rPr lang="en-US" sz="760" b="1" dirty="0">
                          <a:solidFill>
                            <a:srgbClr val="FFFFFF"/>
                          </a:solidFill>
                          <a:latin typeface="Arial" pitchFamily="34" charset="0"/>
                          <a:ea typeface="Arial" pitchFamily="34" charset="-122"/>
                          <a:cs typeface="Arial" pitchFamily="34" charset="-120"/>
                        </a:rPr>
                        <a:t>Uraian  (USD ribu)</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Δ %</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Pendapatan usaha</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432.726</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407.120</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4A7C59"/>
                          </a:solidFill>
                          <a:latin typeface="Arial" pitchFamily="34" charset="0"/>
                          <a:ea typeface="Arial" pitchFamily="34" charset="-122"/>
                          <a:cs typeface="Arial" pitchFamily="34" charset="-120"/>
                        </a:rPr>
                        <a:t>+6,3%</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Beban pokok pendapatan dan beban langsung lainnya</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(199.662)</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(166.721)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6E7379"/>
                          </a:solidFill>
                          <a:latin typeface="Arial" pitchFamily="34" charset="0"/>
                          <a:ea typeface="Arial" pitchFamily="34" charset="-122"/>
                          <a:cs typeface="Arial" pitchFamily="34" charset="-120"/>
                        </a:rPr>
                        <a:t>+19,8%</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b="1" dirty="0">
                          <a:solidFill>
                            <a:srgbClr val="16191D"/>
                          </a:solidFill>
                          <a:latin typeface="Arial" pitchFamily="34" charset="0"/>
                          <a:ea typeface="Arial" pitchFamily="34" charset="-122"/>
                          <a:cs typeface="Arial" pitchFamily="34" charset="-120"/>
                        </a:rPr>
                        <a:t>Laba bruto</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233.064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240.399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−3,1%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Beban umum dan administrasi</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(30.684)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(29.671)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6E7379"/>
                          </a:solidFill>
                          <a:latin typeface="Arial" pitchFamily="34" charset="0"/>
                          <a:ea typeface="Arial" pitchFamily="34" charset="-122"/>
                          <a:cs typeface="Arial" pitchFamily="34" charset="-120"/>
                        </a:rPr>
                        <a:t>+3,4%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Pendapatan lain-lain, bersih</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3.191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(457)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6E7379"/>
                          </a:solidFill>
                          <a:latin typeface="Arial" pitchFamily="34" charset="0"/>
                          <a:ea typeface="Arial" pitchFamily="34" charset="-122"/>
                          <a:cs typeface="Arial" pitchFamily="34" charset="-120"/>
                        </a:rPr>
                        <a:t>n.m.</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b="1" dirty="0">
                          <a:solidFill>
                            <a:srgbClr val="16191D"/>
                          </a:solidFill>
                          <a:latin typeface="Arial" pitchFamily="34" charset="0"/>
                          <a:ea typeface="Arial" pitchFamily="34" charset="-122"/>
                          <a:cs typeface="Arial" pitchFamily="34" charset="-120"/>
                        </a:rPr>
                        <a:t>Laba usaha</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205.571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210.271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−2,2%</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Pendapatan keuangan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28.221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33.565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−15,9%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Selisih kurs, bersih</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(7.634)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15.984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6E7379"/>
                          </a:solidFill>
                          <a:latin typeface="Arial" pitchFamily="34" charset="0"/>
                          <a:ea typeface="Arial" pitchFamily="34" charset="-122"/>
                          <a:cs typeface="Arial" pitchFamily="34" charset="-120"/>
                        </a:rPr>
                        <a:t>n.m.</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Bagian laba ventura bersama</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40</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453</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−91,2%</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Beban keuangan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(30.284)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(32.114)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6E7379"/>
                          </a:solidFill>
                          <a:latin typeface="Arial" pitchFamily="34" charset="0"/>
                          <a:ea typeface="Arial" pitchFamily="34" charset="-122"/>
                          <a:cs typeface="Arial" pitchFamily="34" charset="-120"/>
                        </a:rPr>
                        <a:t>−5,7%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b="1" dirty="0">
                          <a:solidFill>
                            <a:srgbClr val="16191D"/>
                          </a:solidFill>
                          <a:latin typeface="Arial" pitchFamily="34" charset="0"/>
                          <a:ea typeface="Arial" pitchFamily="34" charset="-122"/>
                          <a:cs typeface="Arial" pitchFamily="34" charset="-120"/>
                        </a:rPr>
                        <a:t>Laba sebelum beban pajak penghasilan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195.914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228.159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−14,1%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Beban pajak penghasilan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(58.247)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(67.857)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6E7379"/>
                          </a:solidFill>
                          <a:latin typeface="Arial" pitchFamily="34" charset="0"/>
                          <a:ea typeface="Arial" pitchFamily="34" charset="-122"/>
                          <a:cs typeface="Arial" pitchFamily="34" charset="-120"/>
                        </a:rPr>
                        <a:t>−14,2%</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60" b="1" dirty="0">
                          <a:solidFill>
                            <a:srgbClr val="FFFFFF"/>
                          </a:solidFill>
                          <a:latin typeface="Arial" pitchFamily="34" charset="0"/>
                          <a:ea typeface="Arial" pitchFamily="34" charset="-122"/>
                          <a:cs typeface="Arial" pitchFamily="34" charset="-120"/>
                        </a:rPr>
                        <a:t>Laba tahun berjalan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137.667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160.302</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E8845F"/>
                          </a:solidFill>
                          <a:latin typeface="Arial" pitchFamily="34" charset="0"/>
                          <a:ea typeface="Arial" pitchFamily="34" charset="-122"/>
                          <a:cs typeface="Arial" pitchFamily="34" charset="-120"/>
                        </a:rPr>
                        <a:t>−14,1%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04887">
                <a:tc>
                  <a:txBody>
                    <a:bodyPr/>
                    <a:lstStyle/>
                    <a:p>
                      <a:pPr algn="l" indent="0" marL="0">
                        <a:buNone/>
                      </a:pPr>
                      <a:r>
                        <a:rPr lang="en-US" sz="760" b="1" dirty="0">
                          <a:solidFill>
                            <a:srgbClr val="16191D"/>
                          </a:solidFill>
                          <a:latin typeface="Arial" pitchFamily="34" charset="0"/>
                          <a:ea typeface="Arial" pitchFamily="34" charset="-122"/>
                          <a:cs typeface="Arial" pitchFamily="34" charset="-120"/>
                        </a:rPr>
                        <a:t>EBITDA</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330.353</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324.061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60" b="1" dirty="0">
                          <a:solidFill>
                            <a:srgbClr val="4A7C59"/>
                          </a:solidFill>
                          <a:latin typeface="Arial" pitchFamily="34" charset="0"/>
                          <a:ea typeface="Arial" pitchFamily="34" charset="-122"/>
                          <a:cs typeface="Arial" pitchFamily="34" charset="-120"/>
                        </a:rPr>
                        <a:t>+1,9%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FINANCIAL HIGHLIGHTS</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Posisi Keuangan dan Arus Kas</a:t>
            </a:r>
            <a:endParaRPr lang="en-US" sz="2400" dirty="0"/>
          </a:p>
        </p:txBody>
      </p:sp>
      <p:sp>
        <p:nvSpPr>
          <p:cNvPr id="4" name="Text 2"/>
          <p:cNvSpPr/>
          <p:nvPr/>
        </p:nvSpPr>
        <p:spPr>
          <a:xfrm>
            <a:off x="406301" y="865584"/>
            <a:ext cx="8419999" cy="157609"/>
          </a:xfrm>
          <a:prstGeom prst="rect">
            <a:avLst/>
          </a:prstGeom>
          <a:noFill/>
          <a:ln/>
        </p:spPr>
        <p:txBody>
          <a:bodyPr wrap="square" lIns="0" tIns="0" rIns="0" bIns="0" rtlCol="0" anchor="t"/>
          <a:lstStyle/>
          <a:p>
            <a:pPr algn="l" indent="0" marL="0">
              <a:lnSpc>
                <a:spcPts val="1242"/>
              </a:lnSpc>
              <a:spcBef>
                <a:spcPts val="600"/>
              </a:spcBef>
              <a:buNone/>
            </a:pPr>
            <a:r>
              <a:rPr lang="en-US" sz="900" dirty="0">
                <a:solidFill>
                  <a:srgbClr val="4A4F55"/>
                </a:solidFill>
                <a:latin typeface="Arial" pitchFamily="34" charset="0"/>
                <a:ea typeface="Arial" pitchFamily="34" charset="-122"/>
                <a:cs typeface="Arial" pitchFamily="34" charset="-120"/>
              </a:rPr>
              <a:t>Neraca praktis tidak berubah di sisi liabilitas, sementara kas menguat 9,7% dan aset dalam penyelesaian turun 34,1% karena kapitalisasi PLTP Lumut Balai Unit 2.</a:t>
            </a:r>
            <a:endParaRPr lang="en-US" sz="900" dirty="0"/>
          </a:p>
        </p:txBody>
      </p:sp>
      <p:sp>
        <p:nvSpPr>
          <p:cNvPr id="5" name="Text 3"/>
          <p:cNvSpPr/>
          <p:nvPr/>
        </p:nvSpPr>
        <p:spPr>
          <a:xfrm>
            <a:off x="406301" y="1124694"/>
            <a:ext cx="8331398" cy="25301"/>
          </a:xfrm>
          <a:prstGeom prst="rect">
            <a:avLst/>
          </a:prstGeom>
          <a:solidFill>
            <a:srgbClr val="C1502E"/>
          </a:solidFill>
          <a:ln/>
        </p:spPr>
        <p:txBody>
          <a:bodyPr wrap="square" rtlCol="0" anchor="ctr"/>
          <a:lstStyle/>
          <a:p>
            <a:pPr indent="0" marL="0">
              <a:buNone/>
            </a:pPr>
            <a:endParaRPr lang="en-US"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06301" y="1251496"/>
          <a:ext cx="8331101" cy="3073301"/>
        </p:xfrm>
        <a:graphic>
          <a:graphicData uri="http://schemas.openxmlformats.org/drawingml/2006/table">
            <a:tbl>
              <a:tblPr/>
              <a:tblGrid>
                <a:gridCol w="3832306"/>
                <a:gridCol w="1499598"/>
                <a:gridCol w="1499598"/>
                <a:gridCol w="1499598"/>
              </a:tblGrid>
              <a:tr h="192081">
                <a:tc>
                  <a:txBody>
                    <a:bodyPr/>
                    <a:lstStyle/>
                    <a:p>
                      <a:pPr algn="l" indent="0" marL="0">
                        <a:buNone/>
                      </a:pPr>
                      <a:r>
                        <a:rPr lang="en-US" sz="740" b="1" dirty="0">
                          <a:solidFill>
                            <a:srgbClr val="FFFFFF"/>
                          </a:solidFill>
                          <a:latin typeface="Arial" pitchFamily="34" charset="0"/>
                          <a:ea typeface="Arial" pitchFamily="34" charset="-122"/>
                          <a:cs typeface="Arial" pitchFamily="34" charset="-120"/>
                        </a:rPr>
                        <a:t>Uraian  (USD ribu)</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2025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2024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Δ %</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192081">
                <a:tc gridSpan="4">
                  <a:txBody>
                    <a:bodyPr/>
                    <a:lstStyle/>
                    <a:p>
                      <a:pPr algn="l" indent="0" marL="0">
                        <a:buNone/>
                      </a:pPr>
                      <a:r>
                        <a:rPr lang="en-US" sz="700" b="1" dirty="0">
                          <a:solidFill>
                            <a:srgbClr val="16191D"/>
                          </a:solidFill>
                          <a:latin typeface="Arial" pitchFamily="34" charset="0"/>
                          <a:ea typeface="Arial" pitchFamily="34" charset="-122"/>
                          <a:cs typeface="Arial" pitchFamily="34" charset="-120"/>
                        </a:rPr>
                        <a:t>POSISI KEUANGAN</a:t>
                      </a:r>
                      <a:endParaRPr lang="en-US" sz="7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DCD6CB"/>
                    </a:solidFill>
                  </a:tcPr>
                </a:tc>
                <a:tc hMerge="1">
                  <a:tcPr/>
                </a:tc>
                <a:tc hMerge="1">
                  <a:tcPr/>
                </a:tc>
                <a:tc hMerge="1">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Kas dan setara kas</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718.499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655.191</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+9,7%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Piutang usaha</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126.229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128.125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−1,5%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b="1" dirty="0">
                          <a:solidFill>
                            <a:srgbClr val="16191D"/>
                          </a:solidFill>
                          <a:latin typeface="Arial" pitchFamily="34" charset="0"/>
                          <a:ea typeface="Arial" pitchFamily="34" charset="-122"/>
                          <a:cs typeface="Arial" pitchFamily="34" charset="-120"/>
                        </a:rPr>
                        <a:t>Jumlah aset lancar</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16191D"/>
                          </a:solidFill>
                          <a:latin typeface="Arial" pitchFamily="34" charset="0"/>
                          <a:ea typeface="Arial" pitchFamily="34" charset="-122"/>
                          <a:cs typeface="Arial" pitchFamily="34" charset="-120"/>
                        </a:rPr>
                        <a:t>880.973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16191D"/>
                          </a:solidFill>
                          <a:latin typeface="Arial" pitchFamily="34" charset="0"/>
                          <a:ea typeface="Arial" pitchFamily="34" charset="-122"/>
                          <a:cs typeface="Arial" pitchFamily="34" charset="-120"/>
                        </a:rPr>
                        <a:t>828.555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+6,3%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Aset tetap, bersih</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2.000.149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2.024.607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−1,2%</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Aset dalam penyelesaian</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626.169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949.940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−34,1%</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PPN yang dapat ditagihkan kembali, neto</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101.247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115.635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−12,4%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b="1" dirty="0">
                          <a:solidFill>
                            <a:srgbClr val="FFFFFF"/>
                          </a:solidFill>
                          <a:latin typeface="Arial" pitchFamily="34" charset="0"/>
                          <a:ea typeface="Arial" pitchFamily="34" charset="-122"/>
                          <a:cs typeface="Arial" pitchFamily="34" charset="-120"/>
                        </a:rPr>
                        <a:t>Jumlah aset</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3.034.451</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2.997.402</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8FCFA8"/>
                          </a:solidFill>
                          <a:latin typeface="Arial" pitchFamily="34" charset="0"/>
                          <a:ea typeface="Arial" pitchFamily="34" charset="-122"/>
                          <a:cs typeface="Arial" pitchFamily="34" charset="-120"/>
                        </a:rPr>
                        <a:t>+1,2%</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Jumlah liabilitas</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988.888</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988.650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+0,0%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Jumlah ekuitas</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2.045.563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2.008.752</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+1,8%</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gridSpan="4">
                  <a:txBody>
                    <a:bodyPr/>
                    <a:lstStyle/>
                    <a:p>
                      <a:pPr algn="l" indent="0" marL="0">
                        <a:buNone/>
                      </a:pPr>
                      <a:r>
                        <a:rPr lang="en-US" sz="700" b="1" dirty="0">
                          <a:solidFill>
                            <a:srgbClr val="16191D"/>
                          </a:solidFill>
                          <a:latin typeface="Arial" pitchFamily="34" charset="0"/>
                          <a:ea typeface="Arial" pitchFamily="34" charset="-122"/>
                          <a:cs typeface="Arial" pitchFamily="34" charset="-120"/>
                        </a:rPr>
                        <a:t>ARUS KAS</a:t>
                      </a:r>
                      <a:endParaRPr lang="en-US" sz="7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DCD6CB"/>
                    </a:solidFill>
                  </a:tcPr>
                </a:tc>
                <a:tc hMerge="1">
                  <a:tcPr/>
                </a:tc>
                <a:tc hMerge="1">
                  <a:tcPr/>
                </a:tc>
                <a:tc hMerge="1">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Arus kas dari aktivitas operasi</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313.523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258.284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+21,4%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Arus kas dari aktivitas investasi</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(82.407)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(100.934)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−18,4%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Arus kas dari aktivitas pendanaan</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(172.544)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(191.139)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−9,7%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192081">
                <a:tc>
                  <a:txBody>
                    <a:bodyPr/>
                    <a:lstStyle/>
                    <a:p>
                      <a:pPr algn="l" indent="0" marL="0">
                        <a:buNone/>
                      </a:pPr>
                      <a:r>
                        <a:rPr lang="en-US" sz="740" b="1" dirty="0">
                          <a:solidFill>
                            <a:srgbClr val="16191D"/>
                          </a:solidFill>
                          <a:latin typeface="Arial" pitchFamily="34" charset="0"/>
                          <a:ea typeface="Arial" pitchFamily="34" charset="-122"/>
                          <a:cs typeface="Arial" pitchFamily="34" charset="-120"/>
                        </a:rPr>
                        <a:t>Kenaikan neto kas dan setara kas</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16191D"/>
                          </a:solidFill>
                          <a:latin typeface="Arial" pitchFamily="34" charset="0"/>
                          <a:ea typeface="Arial" pitchFamily="34" charset="-122"/>
                          <a:cs typeface="Arial" pitchFamily="34" charset="-120"/>
                        </a:rPr>
                        <a:t>58.572</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16191D"/>
                          </a:solidFill>
                          <a:latin typeface="Arial" pitchFamily="34" charset="0"/>
                          <a:ea typeface="Arial" pitchFamily="34" charset="-122"/>
                          <a:cs typeface="Arial" pitchFamily="34" charset="-120"/>
                        </a:rPr>
                        <a:t>(33.789)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n.m.</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TREN TIGA TAHUN</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Pendapatan Naik, Laba Turun, EBITDA Datar</a:t>
            </a:r>
            <a:endParaRPr lang="en-US" sz="2400" dirty="0"/>
          </a:p>
        </p:txBody>
      </p:sp>
      <p:sp>
        <p:nvSpPr>
          <p:cNvPr id="4" name="Text 2"/>
          <p:cNvSpPr/>
          <p:nvPr/>
        </p:nvSpPr>
        <p:spPr>
          <a:xfrm>
            <a:off x="406301" y="916335"/>
            <a:ext cx="8331398" cy="25301"/>
          </a:xfrm>
          <a:prstGeom prst="rect">
            <a:avLst/>
          </a:prstGeom>
          <a:solidFill>
            <a:srgbClr val="C1502E"/>
          </a:solidFill>
          <a:ln/>
        </p:spPr>
        <p:txBody>
          <a:bodyPr wrap="square" rtlCol="0" anchor="ctr"/>
          <a:lstStyle/>
          <a:p>
            <a:pPr indent="0" marL="0">
              <a:buNone/>
            </a:pPr>
            <a:endParaRPr lang="en-US" dirty="0"/>
          </a:p>
        </p:txBody>
      </p:sp>
      <p:sp>
        <p:nvSpPr>
          <p:cNvPr id="5" name="Text 3"/>
          <p:cNvSpPr/>
          <p:nvPr/>
        </p:nvSpPr>
        <p:spPr>
          <a:xfrm>
            <a:off x="406301" y="1094036"/>
            <a:ext cx="3083001"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YANG TERBACA DARI GRAFIK</a:t>
            </a:r>
            <a:endParaRPr lang="en-US" sz="680" dirty="0"/>
          </a:p>
        </p:txBody>
      </p:sp>
      <p:sp>
        <p:nvSpPr>
          <p:cNvPr id="6" name="Text 4"/>
          <p:cNvSpPr/>
          <p:nvPr/>
        </p:nvSpPr>
        <p:spPr>
          <a:xfrm>
            <a:off x="406301" y="1278136"/>
            <a:ext cx="3022550" cy="1438275"/>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Pendapatan tumbuh tipis tapi konsisten; 2023 dan 2024 hampir datar, 2025 baru bergerak berkat Lumut Balai 2</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Laba usaha turun dua tahun berturut-turut: 226,1 ke 210,3 ke 205,6</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Laba tahun berjalan turun lebih dalam: 163,6 ke 160,3 ke 137,7</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Namun EBITDA 2025 naik 1,9% ke USD330,4 juta — penurunan laba terjadi di bawah garis EBITDA</a:t>
            </a:r>
            <a:endParaRPr lang="en-US" sz="860" dirty="0"/>
          </a:p>
        </p:txBody>
      </p:sp>
      <p:sp>
        <p:nvSpPr>
          <p:cNvPr id="7" name="Text 5"/>
          <p:cNvSpPr/>
          <p:nvPr/>
        </p:nvSpPr>
        <p:spPr>
          <a:xfrm>
            <a:off x="406301" y="2843361"/>
            <a:ext cx="3022550" cy="910977"/>
          </a:xfrm>
          <a:prstGeom prst="rect">
            <a:avLst/>
          </a:prstGeom>
          <a:solidFill>
            <a:srgbClr val="FFFFFF"/>
          </a:solidFill>
          <a:ln/>
        </p:spPr>
        <p:txBody>
          <a:bodyPr wrap="square" rtlCol="0" anchor="ctr"/>
          <a:lstStyle/>
          <a:p>
            <a:pPr indent="0" marL="0">
              <a:buNone/>
            </a:pPr>
            <a:endParaRPr lang="en-US" dirty="0"/>
          </a:p>
        </p:txBody>
      </p:sp>
      <p:sp>
        <p:nvSpPr>
          <p:cNvPr id="8" name="Shape 6"/>
          <p:cNvSpPr/>
          <p:nvPr/>
        </p:nvSpPr>
        <p:spPr>
          <a:xfrm>
            <a:off x="406301" y="2857649"/>
            <a:ext cx="3022550" cy="0"/>
          </a:xfrm>
          <a:prstGeom prst="line">
            <a:avLst/>
          </a:prstGeom>
          <a:noFill/>
          <a:ln w="28575">
            <a:solidFill>
              <a:srgbClr val="C1502E"/>
            </a:solidFill>
            <a:prstDash val="solid"/>
          </a:ln>
        </p:spPr>
      </p:sp>
      <p:sp>
        <p:nvSpPr>
          <p:cNvPr id="9" name="Text 7"/>
          <p:cNvSpPr/>
          <p:nvPr/>
        </p:nvSpPr>
        <p:spPr>
          <a:xfrm>
            <a:off x="533251" y="2986236"/>
            <a:ext cx="2824023"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SELISIH YANG MENJELASKAN</a:t>
            </a:r>
            <a:endParaRPr lang="en-US" sz="680" dirty="0"/>
          </a:p>
        </p:txBody>
      </p:sp>
      <p:sp>
        <p:nvSpPr>
          <p:cNvPr id="10" name="Text 8"/>
          <p:cNvSpPr/>
          <p:nvPr/>
        </p:nvSpPr>
        <p:spPr>
          <a:xfrm>
            <a:off x="533251" y="3132237"/>
            <a:ext cx="2824023" cy="507802"/>
          </a:xfrm>
          <a:prstGeom prst="rect">
            <a:avLst/>
          </a:prstGeom>
          <a:noFill/>
          <a:ln/>
        </p:spPr>
        <p:txBody>
          <a:bodyPr wrap="square" lIns="0" tIns="0" rIns="0" bIns="0" rtlCol="0" anchor="t"/>
          <a:lstStyle/>
          <a:p>
            <a:pPr algn="l" indent="0" marL="0">
              <a:lnSpc>
                <a:spcPts val="1000"/>
              </a:lnSpc>
              <a:spcBef>
                <a:spcPts val="400"/>
              </a:spcBef>
              <a:buNone/>
            </a:pPr>
            <a:r>
              <a:rPr lang="en-US" sz="800" dirty="0">
                <a:solidFill>
                  <a:srgbClr val="6E7379"/>
                </a:solidFill>
                <a:latin typeface="Arial" pitchFamily="34" charset="0"/>
                <a:ea typeface="Arial" pitchFamily="34" charset="-122"/>
                <a:cs typeface="Arial" pitchFamily="34" charset="-120"/>
              </a:rPr>
              <a:t>Beban penyusutan naik USD14,7 juta dan upah/tunjangan naik USD17,6 juta — keduanya masuk beban pokok pendapatan, tetapi penyusutan ditambahkan kembali ke EBITDA.</a:t>
            </a:r>
            <a:endParaRPr lang="en-US" sz="800" dirty="0"/>
          </a:p>
        </p:txBody>
      </p:sp>
      <p:graphicFrame>
        <p:nvGraphicFramePr>
          <p:cNvPr id="11" name="Chart 0" descr=""/>
          <p:cNvGraphicFramePr/>
          <p:nvPr/>
        </p:nvGraphicFramePr>
        <p:xfrm>
          <a:off x="3581251" y="1094036"/>
          <a:ext cx="5156150" cy="31749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FINANCIAL HEALTH</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Neraca Sangat Kuat, Produktivitas Modal Lemah</a:t>
            </a:r>
            <a:endParaRPr lang="en-US" sz="2400" dirty="0"/>
          </a:p>
        </p:txBody>
      </p:sp>
      <p:sp>
        <p:nvSpPr>
          <p:cNvPr id="4" name="Text 2"/>
          <p:cNvSpPr/>
          <p:nvPr/>
        </p:nvSpPr>
        <p:spPr>
          <a:xfrm>
            <a:off x="406301" y="916335"/>
            <a:ext cx="8331398" cy="25301"/>
          </a:xfrm>
          <a:prstGeom prst="rect">
            <a:avLst/>
          </a:prstGeom>
          <a:solidFill>
            <a:srgbClr val="C1502E"/>
          </a:solidFill>
          <a:ln/>
        </p:spPr>
        <p:txBody>
          <a:bodyPr wrap="square" rtlCol="0" anchor="ctr"/>
          <a:lstStyle/>
          <a:p>
            <a:pPr indent="0" marL="0">
              <a:buNone/>
            </a:pPr>
            <a:endParaRPr lang="en-US" dirty="0"/>
          </a:p>
        </p:txBody>
      </p:sp>
      <p:sp>
        <p:nvSpPr>
          <p:cNvPr id="5" name="Text 3"/>
          <p:cNvSpPr/>
          <p:nvPr/>
        </p:nvSpPr>
        <p:spPr>
          <a:xfrm>
            <a:off x="406301"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6301" y="1095524"/>
            <a:ext cx="2006501" cy="0"/>
          </a:xfrm>
          <a:prstGeom prst="line">
            <a:avLst/>
          </a:prstGeom>
          <a:noFill/>
          <a:ln w="28575">
            <a:solidFill>
              <a:srgbClr val="4A7C59"/>
            </a:solidFill>
            <a:prstDash val="solid"/>
          </a:ln>
        </p:spPr>
      </p:sp>
      <p:sp>
        <p:nvSpPr>
          <p:cNvPr id="7" name="Text 5"/>
          <p:cNvSpPr/>
          <p:nvPr/>
        </p:nvSpPr>
        <p:spPr>
          <a:xfrm>
            <a:off x="533251"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UTANG NETO / EBITDA</a:t>
            </a:r>
            <a:endParaRPr lang="en-US" sz="680" dirty="0"/>
          </a:p>
        </p:txBody>
      </p:sp>
      <p:sp>
        <p:nvSpPr>
          <p:cNvPr id="8" name="Text 6"/>
          <p:cNvSpPr/>
          <p:nvPr/>
        </p:nvSpPr>
        <p:spPr>
          <a:xfrm>
            <a:off x="533251"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0,10x</a:t>
            </a:r>
            <a:endParaRPr lang="en-US" sz="1900" dirty="0"/>
          </a:p>
        </p:txBody>
      </p:sp>
      <p:sp>
        <p:nvSpPr>
          <p:cNvPr id="9" name="Text 7"/>
          <p:cNvSpPr/>
          <p:nvPr/>
        </p:nvSpPr>
        <p:spPr>
          <a:xfrm>
            <a:off x="533251" y="1649462"/>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Utang bruto USD752,9 jt lawan kas USD718,5 jt</a:t>
            </a:r>
            <a:endParaRPr lang="en-US" sz="720" dirty="0"/>
          </a:p>
        </p:txBody>
      </p:sp>
      <p:sp>
        <p:nvSpPr>
          <p:cNvPr id="10" name="Text 8"/>
          <p:cNvSpPr/>
          <p:nvPr/>
        </p:nvSpPr>
        <p:spPr>
          <a:xfrm>
            <a:off x="2514302"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2514302" y="1095524"/>
            <a:ext cx="2006501" cy="0"/>
          </a:xfrm>
          <a:prstGeom prst="line">
            <a:avLst/>
          </a:prstGeom>
          <a:noFill/>
          <a:ln w="28575">
            <a:solidFill>
              <a:srgbClr val="4A7C59"/>
            </a:solidFill>
            <a:prstDash val="solid"/>
          </a:ln>
        </p:spPr>
      </p:sp>
      <p:sp>
        <p:nvSpPr>
          <p:cNvPr id="12" name="Text 10"/>
          <p:cNvSpPr/>
          <p:nvPr/>
        </p:nvSpPr>
        <p:spPr>
          <a:xfrm>
            <a:off x="2641253"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RASIO LANCAR</a:t>
            </a:r>
            <a:endParaRPr lang="en-US" sz="680" dirty="0"/>
          </a:p>
        </p:txBody>
      </p:sp>
      <p:sp>
        <p:nvSpPr>
          <p:cNvPr id="13" name="Text 11"/>
          <p:cNvSpPr/>
          <p:nvPr/>
        </p:nvSpPr>
        <p:spPr>
          <a:xfrm>
            <a:off x="2641253"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411%</a:t>
            </a:r>
            <a:endParaRPr lang="en-US" sz="1900" dirty="0"/>
          </a:p>
        </p:txBody>
      </p:sp>
      <p:sp>
        <p:nvSpPr>
          <p:cNvPr id="14" name="Text 12"/>
          <p:cNvSpPr/>
          <p:nvPr/>
        </p:nvSpPr>
        <p:spPr>
          <a:xfrm>
            <a:off x="2641253"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Naik dari 364,5%; rasio kas 335,3%</a:t>
            </a:r>
            <a:endParaRPr lang="en-US" sz="720" dirty="0"/>
          </a:p>
        </p:txBody>
      </p:sp>
      <p:sp>
        <p:nvSpPr>
          <p:cNvPr id="15" name="Text 13"/>
          <p:cNvSpPr/>
          <p:nvPr/>
        </p:nvSpPr>
        <p:spPr>
          <a:xfrm>
            <a:off x="4622304"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622304" y="1095524"/>
            <a:ext cx="2006501" cy="0"/>
          </a:xfrm>
          <a:prstGeom prst="line">
            <a:avLst/>
          </a:prstGeom>
          <a:noFill/>
          <a:ln w="28575">
            <a:solidFill>
              <a:srgbClr val="4A7C59"/>
            </a:solidFill>
            <a:prstDash val="solid"/>
          </a:ln>
        </p:spPr>
      </p:sp>
      <p:sp>
        <p:nvSpPr>
          <p:cNvPr id="17" name="Text 15"/>
          <p:cNvSpPr/>
          <p:nvPr/>
        </p:nvSpPr>
        <p:spPr>
          <a:xfrm>
            <a:off x="4749254"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CAKUPAN BUNGA</a:t>
            </a:r>
            <a:endParaRPr lang="en-US" sz="680" dirty="0"/>
          </a:p>
        </p:txBody>
      </p:sp>
      <p:sp>
        <p:nvSpPr>
          <p:cNvPr id="18" name="Text 16"/>
          <p:cNvSpPr/>
          <p:nvPr/>
        </p:nvSpPr>
        <p:spPr>
          <a:xfrm>
            <a:off x="4749254"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10,9x</a:t>
            </a:r>
            <a:endParaRPr lang="en-US" sz="1900" dirty="0"/>
          </a:p>
        </p:txBody>
      </p:sp>
      <p:sp>
        <p:nvSpPr>
          <p:cNvPr id="19" name="Text 17"/>
          <p:cNvSpPr/>
          <p:nvPr/>
        </p:nvSpPr>
        <p:spPr>
          <a:xfrm>
            <a:off x="4749254" y="1649462"/>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EBITDA terhadap beban keuangan USD30,3 jt</a:t>
            </a:r>
            <a:endParaRPr lang="en-US" sz="720" dirty="0"/>
          </a:p>
        </p:txBody>
      </p:sp>
      <p:sp>
        <p:nvSpPr>
          <p:cNvPr id="20" name="Text 18"/>
          <p:cNvSpPr/>
          <p:nvPr/>
        </p:nvSpPr>
        <p:spPr>
          <a:xfrm>
            <a:off x="6730305"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730305" y="1095524"/>
            <a:ext cx="2006501" cy="0"/>
          </a:xfrm>
          <a:prstGeom prst="line">
            <a:avLst/>
          </a:prstGeom>
          <a:noFill/>
          <a:ln w="28575">
            <a:solidFill>
              <a:srgbClr val="4A7C59"/>
            </a:solidFill>
            <a:prstDash val="solid"/>
          </a:ln>
        </p:spPr>
      </p:sp>
      <p:sp>
        <p:nvSpPr>
          <p:cNvPr id="22" name="Text 20"/>
          <p:cNvSpPr/>
          <p:nvPr/>
        </p:nvSpPr>
        <p:spPr>
          <a:xfrm>
            <a:off x="6857256"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KONVERSI KAS</a:t>
            </a:r>
            <a:endParaRPr lang="en-US" sz="680" dirty="0"/>
          </a:p>
        </p:txBody>
      </p:sp>
      <p:sp>
        <p:nvSpPr>
          <p:cNvPr id="23" name="Text 21"/>
          <p:cNvSpPr/>
          <p:nvPr/>
        </p:nvSpPr>
        <p:spPr>
          <a:xfrm>
            <a:off x="6857256"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0,95x</a:t>
            </a:r>
            <a:endParaRPr lang="en-US" sz="1900" dirty="0"/>
          </a:p>
        </p:txBody>
      </p:sp>
      <p:sp>
        <p:nvSpPr>
          <p:cNvPr id="24" name="Text 22"/>
          <p:cNvSpPr/>
          <p:nvPr/>
        </p:nvSpPr>
        <p:spPr>
          <a:xfrm>
            <a:off x="6857256"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Arus kas operasi terhadap EBITDA</a:t>
            </a:r>
            <a:endParaRPr lang="en-US" sz="720" dirty="0"/>
          </a:p>
        </p:txBody>
      </p:sp>
      <p:sp>
        <p:nvSpPr>
          <p:cNvPr id="25" name="Text 23"/>
          <p:cNvSpPr/>
          <p:nvPr/>
        </p:nvSpPr>
        <p:spPr>
          <a:xfrm>
            <a:off x="406301" y="2080915"/>
            <a:ext cx="2006501" cy="910828"/>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406301" y="2095202"/>
            <a:ext cx="2006501" cy="0"/>
          </a:xfrm>
          <a:prstGeom prst="line">
            <a:avLst/>
          </a:prstGeom>
          <a:noFill/>
          <a:ln w="28575">
            <a:solidFill>
              <a:srgbClr val="4A7C59"/>
            </a:solidFill>
            <a:prstDash val="solid"/>
          </a:ln>
        </p:spPr>
      </p:sp>
      <p:sp>
        <p:nvSpPr>
          <p:cNvPr id="27" name="Text 25"/>
          <p:cNvSpPr/>
          <p:nvPr/>
        </p:nvSpPr>
        <p:spPr>
          <a:xfrm>
            <a:off x="533251"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FCF / DIVIDEN</a:t>
            </a:r>
            <a:endParaRPr lang="en-US" sz="680" dirty="0"/>
          </a:p>
        </p:txBody>
      </p:sp>
      <p:sp>
        <p:nvSpPr>
          <p:cNvPr id="28" name="Text 26"/>
          <p:cNvSpPr/>
          <p:nvPr/>
        </p:nvSpPr>
        <p:spPr>
          <a:xfrm>
            <a:off x="533251"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1,68x</a:t>
            </a:r>
            <a:endParaRPr lang="en-US" sz="1900" dirty="0"/>
          </a:p>
        </p:txBody>
      </p:sp>
      <p:sp>
        <p:nvSpPr>
          <p:cNvPr id="29" name="Text 27"/>
          <p:cNvSpPr/>
          <p:nvPr/>
        </p:nvSpPr>
        <p:spPr>
          <a:xfrm>
            <a:off x="533251" y="2649141"/>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FCF USD229,1 jt menutup dividen USD136,4 jt</a:t>
            </a:r>
            <a:endParaRPr lang="en-US" sz="720" dirty="0"/>
          </a:p>
        </p:txBody>
      </p:sp>
      <p:sp>
        <p:nvSpPr>
          <p:cNvPr id="30" name="Text 28"/>
          <p:cNvSpPr/>
          <p:nvPr/>
        </p:nvSpPr>
        <p:spPr>
          <a:xfrm>
            <a:off x="2514302" y="2080915"/>
            <a:ext cx="2006501" cy="910828"/>
          </a:xfrm>
          <a:prstGeom prst="rect">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2514302" y="2095202"/>
            <a:ext cx="2006501" cy="0"/>
          </a:xfrm>
          <a:prstGeom prst="line">
            <a:avLst/>
          </a:prstGeom>
          <a:noFill/>
          <a:ln w="28575">
            <a:solidFill>
              <a:srgbClr val="154C5B"/>
            </a:solidFill>
            <a:prstDash val="solid"/>
          </a:ln>
        </p:spPr>
      </p:sp>
      <p:sp>
        <p:nvSpPr>
          <p:cNvPr id="32" name="Text 30"/>
          <p:cNvSpPr/>
          <p:nvPr/>
        </p:nvSpPr>
        <p:spPr>
          <a:xfrm>
            <a:off x="2641253"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LIABILITAS / EKUITAS</a:t>
            </a:r>
            <a:endParaRPr lang="en-US" sz="680" dirty="0"/>
          </a:p>
        </p:txBody>
      </p:sp>
      <p:sp>
        <p:nvSpPr>
          <p:cNvPr id="33" name="Text 31"/>
          <p:cNvSpPr/>
          <p:nvPr/>
        </p:nvSpPr>
        <p:spPr>
          <a:xfrm>
            <a:off x="2641253"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48,3%</a:t>
            </a:r>
            <a:endParaRPr lang="en-US" sz="1900" dirty="0"/>
          </a:p>
        </p:txBody>
      </p:sp>
      <p:sp>
        <p:nvSpPr>
          <p:cNvPr id="34" name="Text 32"/>
          <p:cNvSpPr/>
          <p:nvPr/>
        </p:nvSpPr>
        <p:spPr>
          <a:xfrm>
            <a:off x="2641253" y="2649141"/>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Struktur modal 33:67, tidak berubah</a:t>
            </a:r>
            <a:endParaRPr lang="en-US" sz="720" dirty="0"/>
          </a:p>
        </p:txBody>
      </p:sp>
      <p:sp>
        <p:nvSpPr>
          <p:cNvPr id="35" name="Text 33"/>
          <p:cNvSpPr/>
          <p:nvPr/>
        </p:nvSpPr>
        <p:spPr>
          <a:xfrm>
            <a:off x="4622304" y="2080915"/>
            <a:ext cx="2006501" cy="910828"/>
          </a:xfrm>
          <a:prstGeom prst="rect">
            <a:avLst/>
          </a:prstGeom>
          <a:solidFill>
            <a:srgbClr val="FFFFFF"/>
          </a:solidFill>
          <a:ln/>
        </p:spPr>
        <p:txBody>
          <a:bodyPr wrap="square" rtlCol="0" anchor="ctr"/>
          <a:lstStyle/>
          <a:p>
            <a:pPr indent="0" marL="0">
              <a:buNone/>
            </a:pPr>
            <a:endParaRPr lang="en-US" dirty="0"/>
          </a:p>
        </p:txBody>
      </p:sp>
      <p:sp>
        <p:nvSpPr>
          <p:cNvPr id="36" name="Shape 34"/>
          <p:cNvSpPr/>
          <p:nvPr/>
        </p:nvSpPr>
        <p:spPr>
          <a:xfrm>
            <a:off x="4622304" y="2095202"/>
            <a:ext cx="2006501" cy="0"/>
          </a:xfrm>
          <a:prstGeom prst="line">
            <a:avLst/>
          </a:prstGeom>
          <a:noFill/>
          <a:ln w="28575">
            <a:solidFill>
              <a:srgbClr val="B08327"/>
            </a:solidFill>
            <a:prstDash val="solid"/>
          </a:ln>
        </p:spPr>
      </p:sp>
      <p:sp>
        <p:nvSpPr>
          <p:cNvPr id="37" name="Text 35"/>
          <p:cNvSpPr/>
          <p:nvPr/>
        </p:nvSpPr>
        <p:spPr>
          <a:xfrm>
            <a:off x="4749254"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MARGIN LABA BERSIH</a:t>
            </a:r>
            <a:endParaRPr lang="en-US" sz="680" dirty="0"/>
          </a:p>
        </p:txBody>
      </p:sp>
      <p:sp>
        <p:nvSpPr>
          <p:cNvPr id="38" name="Text 36"/>
          <p:cNvSpPr/>
          <p:nvPr/>
        </p:nvSpPr>
        <p:spPr>
          <a:xfrm>
            <a:off x="4749254"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31,8%</a:t>
            </a:r>
            <a:endParaRPr lang="en-US" sz="1900" dirty="0"/>
          </a:p>
        </p:txBody>
      </p:sp>
      <p:sp>
        <p:nvSpPr>
          <p:cNvPr id="39" name="Text 37"/>
          <p:cNvSpPr/>
          <p:nvPr/>
        </p:nvSpPr>
        <p:spPr>
          <a:xfrm>
            <a:off x="4749254" y="2649141"/>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dari 39,4%; masih sehat secara absolut</a:t>
            </a:r>
            <a:endParaRPr lang="en-US" sz="720" dirty="0"/>
          </a:p>
        </p:txBody>
      </p:sp>
      <p:sp>
        <p:nvSpPr>
          <p:cNvPr id="40" name="Text 38"/>
          <p:cNvSpPr/>
          <p:nvPr/>
        </p:nvSpPr>
        <p:spPr>
          <a:xfrm>
            <a:off x="6730305" y="2080915"/>
            <a:ext cx="2006501" cy="910828"/>
          </a:xfrm>
          <a:prstGeom prst="rect">
            <a:avLst/>
          </a:prstGeom>
          <a:solidFill>
            <a:srgbClr val="FFFFFF"/>
          </a:solidFill>
          <a:ln/>
        </p:spPr>
        <p:txBody>
          <a:bodyPr wrap="square" rtlCol="0" anchor="ctr"/>
          <a:lstStyle/>
          <a:p>
            <a:pPr indent="0" marL="0">
              <a:buNone/>
            </a:pPr>
            <a:endParaRPr lang="en-US" dirty="0"/>
          </a:p>
        </p:txBody>
      </p:sp>
      <p:sp>
        <p:nvSpPr>
          <p:cNvPr id="41" name="Shape 39"/>
          <p:cNvSpPr/>
          <p:nvPr/>
        </p:nvSpPr>
        <p:spPr>
          <a:xfrm>
            <a:off x="6730305" y="2095202"/>
            <a:ext cx="2006501" cy="0"/>
          </a:xfrm>
          <a:prstGeom prst="line">
            <a:avLst/>
          </a:prstGeom>
          <a:noFill/>
          <a:ln w="28575">
            <a:solidFill>
              <a:srgbClr val="B08327"/>
            </a:solidFill>
            <a:prstDash val="solid"/>
          </a:ln>
        </p:spPr>
      </p:sp>
      <p:sp>
        <p:nvSpPr>
          <p:cNvPr id="42" name="Text 40"/>
          <p:cNvSpPr/>
          <p:nvPr/>
        </p:nvSpPr>
        <p:spPr>
          <a:xfrm>
            <a:off x="6857256"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TARIF PAJAK EFEKTIF</a:t>
            </a:r>
            <a:endParaRPr lang="en-US" sz="680" dirty="0"/>
          </a:p>
        </p:txBody>
      </p:sp>
      <p:sp>
        <p:nvSpPr>
          <p:cNvPr id="43" name="Text 41"/>
          <p:cNvSpPr/>
          <p:nvPr/>
        </p:nvSpPr>
        <p:spPr>
          <a:xfrm>
            <a:off x="6857256"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29,7%</a:t>
            </a:r>
            <a:endParaRPr lang="en-US" sz="1900" dirty="0"/>
          </a:p>
        </p:txBody>
      </p:sp>
      <p:sp>
        <p:nvSpPr>
          <p:cNvPr id="44" name="Text 42"/>
          <p:cNvSpPr/>
          <p:nvPr/>
        </p:nvSpPr>
        <p:spPr>
          <a:xfrm>
            <a:off x="6857256" y="2649141"/>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Stabil namun tinggi; rezim kontrak panas bumi</a:t>
            </a:r>
            <a:endParaRPr lang="en-US" sz="720" dirty="0"/>
          </a:p>
        </p:txBody>
      </p:sp>
      <p:sp>
        <p:nvSpPr>
          <p:cNvPr id="45" name="Text 43"/>
          <p:cNvSpPr/>
          <p:nvPr/>
        </p:nvSpPr>
        <p:spPr>
          <a:xfrm>
            <a:off x="406301" y="3080593"/>
            <a:ext cx="2006501" cy="796677"/>
          </a:xfrm>
          <a:prstGeom prst="rect">
            <a:avLst/>
          </a:prstGeom>
          <a:solidFill>
            <a:srgbClr val="FFFFFF"/>
          </a:solidFill>
          <a:ln/>
        </p:spPr>
        <p:txBody>
          <a:bodyPr wrap="square" rtlCol="0" anchor="ctr"/>
          <a:lstStyle/>
          <a:p>
            <a:pPr indent="0" marL="0">
              <a:buNone/>
            </a:pPr>
            <a:endParaRPr lang="en-US" dirty="0"/>
          </a:p>
        </p:txBody>
      </p:sp>
      <p:sp>
        <p:nvSpPr>
          <p:cNvPr id="46" name="Shape 44"/>
          <p:cNvSpPr/>
          <p:nvPr/>
        </p:nvSpPr>
        <p:spPr>
          <a:xfrm>
            <a:off x="406301" y="3094881"/>
            <a:ext cx="2006501" cy="0"/>
          </a:xfrm>
          <a:prstGeom prst="line">
            <a:avLst/>
          </a:prstGeom>
          <a:noFill/>
          <a:ln w="28575">
            <a:solidFill>
              <a:srgbClr val="C1502E"/>
            </a:solidFill>
            <a:prstDash val="solid"/>
          </a:ln>
        </p:spPr>
      </p:sp>
      <p:sp>
        <p:nvSpPr>
          <p:cNvPr id="47" name="Text 45"/>
          <p:cNvSpPr/>
          <p:nvPr/>
        </p:nvSpPr>
        <p:spPr>
          <a:xfrm>
            <a:off x="533251" y="3223468"/>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RETURN ON EQUITY</a:t>
            </a:r>
            <a:endParaRPr lang="en-US" sz="680" dirty="0"/>
          </a:p>
        </p:txBody>
      </p:sp>
      <p:sp>
        <p:nvSpPr>
          <p:cNvPr id="48" name="Text 46"/>
          <p:cNvSpPr/>
          <p:nvPr/>
        </p:nvSpPr>
        <p:spPr>
          <a:xfrm>
            <a:off x="533251" y="3356818"/>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6,73%</a:t>
            </a:r>
            <a:endParaRPr lang="en-US" sz="1900" dirty="0"/>
          </a:p>
        </p:txBody>
      </p:sp>
      <p:sp>
        <p:nvSpPr>
          <p:cNvPr id="49" name="Text 47"/>
          <p:cNvSpPr/>
          <p:nvPr/>
        </p:nvSpPr>
        <p:spPr>
          <a:xfrm>
            <a:off x="533251" y="3648819"/>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tiga tahun: 8,30 ke 7,98 ke 6,73</a:t>
            </a:r>
            <a:endParaRPr lang="en-US" sz="720" dirty="0"/>
          </a:p>
        </p:txBody>
      </p:sp>
      <p:sp>
        <p:nvSpPr>
          <p:cNvPr id="50" name="Text 48"/>
          <p:cNvSpPr/>
          <p:nvPr/>
        </p:nvSpPr>
        <p:spPr>
          <a:xfrm>
            <a:off x="2514302" y="3080593"/>
            <a:ext cx="2006501" cy="796677"/>
          </a:xfrm>
          <a:prstGeom prst="rect">
            <a:avLst/>
          </a:prstGeom>
          <a:solidFill>
            <a:srgbClr val="FFFFFF"/>
          </a:solidFill>
          <a:ln/>
        </p:spPr>
        <p:txBody>
          <a:bodyPr wrap="square" rtlCol="0" anchor="ctr"/>
          <a:lstStyle/>
          <a:p>
            <a:pPr indent="0" marL="0">
              <a:buNone/>
            </a:pPr>
            <a:endParaRPr lang="en-US" dirty="0"/>
          </a:p>
        </p:txBody>
      </p:sp>
      <p:sp>
        <p:nvSpPr>
          <p:cNvPr id="51" name="Shape 49"/>
          <p:cNvSpPr/>
          <p:nvPr/>
        </p:nvSpPr>
        <p:spPr>
          <a:xfrm>
            <a:off x="2514302" y="3094881"/>
            <a:ext cx="2006501" cy="0"/>
          </a:xfrm>
          <a:prstGeom prst="line">
            <a:avLst/>
          </a:prstGeom>
          <a:noFill/>
          <a:ln w="28575">
            <a:solidFill>
              <a:srgbClr val="C1502E"/>
            </a:solidFill>
            <a:prstDash val="solid"/>
          </a:ln>
        </p:spPr>
      </p:sp>
      <p:sp>
        <p:nvSpPr>
          <p:cNvPr id="52" name="Text 50"/>
          <p:cNvSpPr/>
          <p:nvPr/>
        </p:nvSpPr>
        <p:spPr>
          <a:xfrm>
            <a:off x="2641253" y="3223468"/>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RETURN ON ASSETS</a:t>
            </a:r>
            <a:endParaRPr lang="en-US" sz="680" dirty="0"/>
          </a:p>
        </p:txBody>
      </p:sp>
      <p:sp>
        <p:nvSpPr>
          <p:cNvPr id="53" name="Text 51"/>
          <p:cNvSpPr/>
          <p:nvPr/>
        </p:nvSpPr>
        <p:spPr>
          <a:xfrm>
            <a:off x="2641253" y="3356818"/>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4,54%</a:t>
            </a:r>
            <a:endParaRPr lang="en-US" sz="1900" dirty="0"/>
          </a:p>
        </p:txBody>
      </p:sp>
      <p:sp>
        <p:nvSpPr>
          <p:cNvPr id="54" name="Text 52"/>
          <p:cNvSpPr/>
          <p:nvPr/>
        </p:nvSpPr>
        <p:spPr>
          <a:xfrm>
            <a:off x="2641253" y="3648819"/>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dari 5,35%</a:t>
            </a:r>
            <a:endParaRPr lang="en-US" sz="720" dirty="0"/>
          </a:p>
        </p:txBody>
      </p:sp>
      <p:sp>
        <p:nvSpPr>
          <p:cNvPr id="55" name="Text 53"/>
          <p:cNvSpPr/>
          <p:nvPr/>
        </p:nvSpPr>
        <p:spPr>
          <a:xfrm>
            <a:off x="4622304" y="3080593"/>
            <a:ext cx="2006501" cy="796677"/>
          </a:xfrm>
          <a:prstGeom prst="rect">
            <a:avLst/>
          </a:prstGeom>
          <a:solidFill>
            <a:srgbClr val="FFFFFF"/>
          </a:solidFill>
          <a:ln/>
        </p:spPr>
        <p:txBody>
          <a:bodyPr wrap="square" rtlCol="0" anchor="ctr"/>
          <a:lstStyle/>
          <a:p>
            <a:pPr indent="0" marL="0">
              <a:buNone/>
            </a:pPr>
            <a:endParaRPr lang="en-US" dirty="0"/>
          </a:p>
        </p:txBody>
      </p:sp>
      <p:sp>
        <p:nvSpPr>
          <p:cNvPr id="56" name="Shape 54"/>
          <p:cNvSpPr/>
          <p:nvPr/>
        </p:nvSpPr>
        <p:spPr>
          <a:xfrm>
            <a:off x="4622304" y="3094881"/>
            <a:ext cx="2006501" cy="0"/>
          </a:xfrm>
          <a:prstGeom prst="line">
            <a:avLst/>
          </a:prstGeom>
          <a:noFill/>
          <a:ln w="28575">
            <a:solidFill>
              <a:srgbClr val="C1502E"/>
            </a:solidFill>
            <a:prstDash val="solid"/>
          </a:ln>
        </p:spPr>
      </p:sp>
      <p:sp>
        <p:nvSpPr>
          <p:cNvPr id="57" name="Text 55"/>
          <p:cNvSpPr/>
          <p:nvPr/>
        </p:nvSpPr>
        <p:spPr>
          <a:xfrm>
            <a:off x="4749254" y="3223468"/>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PERPUTARAN ASET</a:t>
            </a:r>
            <a:endParaRPr lang="en-US" sz="680" dirty="0"/>
          </a:p>
        </p:txBody>
      </p:sp>
      <p:sp>
        <p:nvSpPr>
          <p:cNvPr id="58" name="Text 56"/>
          <p:cNvSpPr/>
          <p:nvPr/>
        </p:nvSpPr>
        <p:spPr>
          <a:xfrm>
            <a:off x="4749254" y="3356818"/>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0,14x</a:t>
            </a:r>
            <a:endParaRPr lang="en-US" sz="1900" dirty="0"/>
          </a:p>
        </p:txBody>
      </p:sp>
      <p:sp>
        <p:nvSpPr>
          <p:cNvPr id="59" name="Text 57"/>
          <p:cNvSpPr/>
          <p:nvPr/>
        </p:nvSpPr>
        <p:spPr>
          <a:xfrm>
            <a:off x="4749254" y="3648819"/>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Intensitas modal sangat tinggi</a:t>
            </a:r>
            <a:endParaRPr lang="en-US" sz="720" dirty="0"/>
          </a:p>
        </p:txBody>
      </p:sp>
      <p:sp>
        <p:nvSpPr>
          <p:cNvPr id="60" name="Text 58"/>
          <p:cNvSpPr/>
          <p:nvPr/>
        </p:nvSpPr>
        <p:spPr>
          <a:xfrm>
            <a:off x="6730305" y="3080593"/>
            <a:ext cx="2006501" cy="796677"/>
          </a:xfrm>
          <a:prstGeom prst="rect">
            <a:avLst/>
          </a:prstGeom>
          <a:solidFill>
            <a:srgbClr val="FFFFFF"/>
          </a:solidFill>
          <a:ln/>
        </p:spPr>
        <p:txBody>
          <a:bodyPr wrap="square" rtlCol="0" anchor="ctr"/>
          <a:lstStyle/>
          <a:p>
            <a:pPr indent="0" marL="0">
              <a:buNone/>
            </a:pPr>
            <a:endParaRPr lang="en-US" dirty="0"/>
          </a:p>
        </p:txBody>
      </p:sp>
      <p:sp>
        <p:nvSpPr>
          <p:cNvPr id="61" name="Shape 59"/>
          <p:cNvSpPr/>
          <p:nvPr/>
        </p:nvSpPr>
        <p:spPr>
          <a:xfrm>
            <a:off x="6730305" y="3094881"/>
            <a:ext cx="2006501" cy="0"/>
          </a:xfrm>
          <a:prstGeom prst="line">
            <a:avLst/>
          </a:prstGeom>
          <a:noFill/>
          <a:ln w="28575">
            <a:solidFill>
              <a:srgbClr val="C1502E"/>
            </a:solidFill>
            <a:prstDash val="solid"/>
          </a:ln>
        </p:spPr>
      </p:sp>
      <p:sp>
        <p:nvSpPr>
          <p:cNvPr id="62" name="Text 60"/>
          <p:cNvSpPr/>
          <p:nvPr/>
        </p:nvSpPr>
        <p:spPr>
          <a:xfrm>
            <a:off x="6857256" y="3223468"/>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ASET NON-PRODUKTIF</a:t>
            </a:r>
            <a:endParaRPr lang="en-US" sz="680" dirty="0"/>
          </a:p>
        </p:txBody>
      </p:sp>
      <p:sp>
        <p:nvSpPr>
          <p:cNvPr id="63" name="Text 61"/>
          <p:cNvSpPr/>
          <p:nvPr/>
        </p:nvSpPr>
        <p:spPr>
          <a:xfrm>
            <a:off x="6857256" y="3356818"/>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24,0%</a:t>
            </a:r>
            <a:endParaRPr lang="en-US" sz="1900" dirty="0"/>
          </a:p>
        </p:txBody>
      </p:sp>
      <p:sp>
        <p:nvSpPr>
          <p:cNvPr id="64" name="Text 62"/>
          <p:cNvSpPr/>
          <p:nvPr/>
        </p:nvSpPr>
        <p:spPr>
          <a:xfrm>
            <a:off x="6857256" y="3648819"/>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Aset dalam penyelesaian dan PPN tertagih</a:t>
            </a:r>
            <a:endParaRPr lang="en-US" sz="720" dirty="0"/>
          </a:p>
        </p:txBody>
      </p:sp>
      <p:sp>
        <p:nvSpPr>
          <p:cNvPr id="65" name="Text 63"/>
          <p:cNvSpPr/>
          <p:nvPr/>
        </p:nvSpPr>
        <p:spPr>
          <a:xfrm>
            <a:off x="406301" y="3991570"/>
            <a:ext cx="8331101" cy="497681"/>
          </a:xfrm>
          <a:prstGeom prst="rect">
            <a:avLst/>
          </a:prstGeom>
          <a:solidFill>
            <a:srgbClr val="16191D"/>
          </a:solidFill>
          <a:ln/>
        </p:spPr>
        <p:txBody>
          <a:bodyPr wrap="square" rtlCol="0" anchor="ctr"/>
          <a:lstStyle/>
          <a:p>
            <a:pPr indent="0" marL="0">
              <a:buNone/>
            </a:pPr>
            <a:endParaRPr lang="en-US" dirty="0"/>
          </a:p>
        </p:txBody>
      </p:sp>
      <p:sp>
        <p:nvSpPr>
          <p:cNvPr id="66" name="Text 64"/>
          <p:cNvSpPr/>
          <p:nvPr/>
        </p:nvSpPr>
        <p:spPr>
          <a:xfrm>
            <a:off x="558701" y="4093071"/>
            <a:ext cx="8186827" cy="294680"/>
          </a:xfrm>
          <a:prstGeom prst="rect">
            <a:avLst/>
          </a:prstGeom>
          <a:noFill/>
          <a:ln/>
        </p:spPr>
        <p:txBody>
          <a:bodyPr wrap="square" lIns="0" tIns="0" rIns="0" bIns="0" rtlCol="0" anchor="t"/>
          <a:lstStyle/>
          <a:p>
            <a:pPr algn="l" indent="0" marL="0">
              <a:lnSpc>
                <a:spcPts val="1161"/>
              </a:lnSpc>
              <a:buNone/>
            </a:pPr>
            <a:r>
              <a:rPr lang="en-US" sz="860" b="1" dirty="0">
                <a:solidFill>
                  <a:srgbClr val="E8845F"/>
                </a:solidFill>
                <a:latin typeface="Arial" pitchFamily="34" charset="0"/>
                <a:ea typeface="Arial" pitchFamily="34" charset="-122"/>
                <a:cs typeface="Arial" pitchFamily="34" charset="-120"/>
              </a:rPr>
              <a:t>Vonis.</a:t>
            </a:r>
            <a:pPr algn="l" indent="0" marL="0">
              <a:lnSpc>
                <a:spcPts val="1161"/>
              </a:lnSpc>
              <a:buNone/>
            </a:pPr>
            <a:r>
              <a:rPr lang="en-US" sz="860" dirty="0">
                <a:solidFill>
                  <a:srgbClr val="F2EFE9"/>
                </a:solidFill>
                <a:latin typeface="Arial" pitchFamily="34" charset="0"/>
                <a:ea typeface="Arial" pitchFamily="34" charset="-122"/>
                <a:cs typeface="Arial" pitchFamily="34" charset="-120"/>
              </a:rPr>
              <a:t> Solvabilitas dan likuiditas berada di kuartil teratas untuk emiten energi mana pun. Kelemahannya bukan pada kemampuan bayar, melainkan pada kemampuan mengubah modal menjadi pendapatan — hijau menandai kekuatan, oranye menandai area yang menurun.</a:t>
            </a:r>
            <a:endParaRPr lang="en-US" sz="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DEKOMPOSISI</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Mengapa Laba Sebelum Pajak Turun USD32,2 Juta</a:t>
            </a:r>
            <a:endParaRPr lang="en-US" sz="2400" dirty="0"/>
          </a:p>
        </p:txBody>
      </p:sp>
      <p:sp>
        <p:nvSpPr>
          <p:cNvPr id="4" name="Text 2"/>
          <p:cNvSpPr/>
          <p:nvPr/>
        </p:nvSpPr>
        <p:spPr>
          <a:xfrm>
            <a:off x="406301" y="916335"/>
            <a:ext cx="8331398" cy="25301"/>
          </a:xfrm>
          <a:prstGeom prst="rect">
            <a:avLst/>
          </a:prstGeom>
          <a:solidFill>
            <a:srgbClr val="C1502E"/>
          </a:solidFill>
          <a:ln/>
        </p:spPr>
        <p:txBody>
          <a:bodyPr wrap="square" rtlCol="0" anchor="ctr"/>
          <a:lstStyle/>
          <a:p>
            <a:pPr indent="0" marL="0">
              <a:buNone/>
            </a:pPr>
            <a:endParaRPr lang="en-US" dirty="0"/>
          </a:p>
        </p:txBody>
      </p:sp>
      <p:sp>
        <p:nvSpPr>
          <p:cNvPr id="5" name="Text 3"/>
          <p:cNvSpPr/>
          <p:nvPr/>
        </p:nvSpPr>
        <p:spPr>
          <a:xfrm>
            <a:off x="5689402" y="1094036"/>
            <a:ext cx="3108960"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PEMBACAAN</a:t>
            </a:r>
            <a:endParaRPr lang="en-US" sz="680" dirty="0"/>
          </a:p>
        </p:txBody>
      </p:sp>
      <p:sp>
        <p:nvSpPr>
          <p:cNvPr id="6" name="Text 4"/>
          <p:cNvSpPr/>
          <p:nvPr/>
        </p:nvSpPr>
        <p:spPr>
          <a:xfrm>
            <a:off x="5689402" y="1278136"/>
            <a:ext cx="3048000" cy="1539478"/>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b="1" dirty="0">
                <a:solidFill>
                  <a:srgbClr val="2C3136"/>
                </a:solidFill>
                <a:latin typeface="Arial" pitchFamily="34" charset="0"/>
                <a:ea typeface="Arial" pitchFamily="34" charset="-122"/>
                <a:cs typeface="Arial" pitchFamily="34" charset="-120"/>
              </a:rPr>
              <a:t>Beban pokok pendapatan</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naik USD32,9 juta — 98% dari kenaikan berasal dari penyusutan (+14,7) dan upah/tunjangan (+17,6)</a:t>
            </a:r>
            <a:endParaRPr lang="en-US" sz="860" dirty="0"/>
          </a:p>
          <a:p>
            <a:pPr algn="l" marL="69850" indent="-69850">
              <a:lnSpc>
                <a:spcPts val="1247"/>
              </a:lnSpc>
              <a:spcAft>
                <a:spcPts val="450"/>
              </a:spcAft>
              <a:buSzPct val="100000"/>
              <a:buChar char="•"/>
            </a:pPr>
            <a:r>
              <a:rPr lang="en-US" sz="860" b="1" dirty="0">
                <a:solidFill>
                  <a:srgbClr val="2C3136"/>
                </a:solidFill>
                <a:latin typeface="Arial" pitchFamily="34" charset="0"/>
                <a:ea typeface="Arial" pitchFamily="34" charset="-122"/>
                <a:cs typeface="Arial" pitchFamily="34" charset="-120"/>
              </a:rPr>
              <a:t>Selisih kurs</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berbalik dari laba USD16,0 juta menjadi rugi USD7,6 juta; sumbernya translasi pinjaman Yen dan saldo Rupiah</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Kontrak forward dengan Maybank dan SMBC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tidak ditetapkan sebagai instrumen lindung nilai akuntansi</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sehingga seluruh perubahan nilai wajar masuk laba rugi</a:t>
            </a:r>
            <a:endParaRPr lang="en-US" sz="860" dirty="0"/>
          </a:p>
        </p:txBody>
      </p:sp>
      <p:sp>
        <p:nvSpPr>
          <p:cNvPr id="7" name="Text 5"/>
          <p:cNvSpPr/>
          <p:nvPr/>
        </p:nvSpPr>
        <p:spPr>
          <a:xfrm>
            <a:off x="5689402" y="2931914"/>
            <a:ext cx="3048000" cy="619869"/>
          </a:xfrm>
          <a:prstGeom prst="rect">
            <a:avLst/>
          </a:prstGeom>
          <a:solidFill>
            <a:srgbClr val="16191D"/>
          </a:solidFill>
          <a:ln/>
        </p:spPr>
        <p:txBody>
          <a:bodyPr wrap="square" rtlCol="0" anchor="ctr"/>
          <a:lstStyle/>
          <a:p>
            <a:pPr indent="0" marL="0">
              <a:buNone/>
            </a:pPr>
            <a:endParaRPr lang="en-US" dirty="0"/>
          </a:p>
        </p:txBody>
      </p:sp>
      <p:sp>
        <p:nvSpPr>
          <p:cNvPr id="8" name="Text 6"/>
          <p:cNvSpPr/>
          <p:nvPr/>
        </p:nvSpPr>
        <p:spPr>
          <a:xfrm>
            <a:off x="5816352" y="3033415"/>
            <a:ext cx="2849981" cy="95250"/>
          </a:xfrm>
          <a:prstGeom prst="rect">
            <a:avLst/>
          </a:prstGeom>
          <a:noFill/>
          <a:ln/>
        </p:spPr>
        <p:txBody>
          <a:bodyPr wrap="square" lIns="0" tIns="0" rIns="0" bIns="0" rtlCol="0" anchor="t"/>
          <a:lstStyle/>
          <a:p>
            <a:pPr algn="l" indent="0" marL="0">
              <a:buNone/>
            </a:pPr>
            <a:r>
              <a:rPr lang="en-US" sz="680" b="1" dirty="0">
                <a:solidFill>
                  <a:srgbClr val="E8845F"/>
                </a:solidFill>
                <a:latin typeface="Arial" pitchFamily="34" charset="0"/>
                <a:ea typeface="Arial" pitchFamily="34" charset="-122"/>
                <a:cs typeface="Arial" pitchFamily="34" charset="-120"/>
              </a:rPr>
              <a:t>TANPA SELISIH KURS</a:t>
            </a:r>
            <a:endParaRPr lang="en-US" sz="680" dirty="0"/>
          </a:p>
        </p:txBody>
      </p:sp>
      <p:sp>
        <p:nvSpPr>
          <p:cNvPr id="9" name="Text 7"/>
          <p:cNvSpPr/>
          <p:nvPr/>
        </p:nvSpPr>
        <p:spPr>
          <a:xfrm>
            <a:off x="5816352" y="3179415"/>
            <a:ext cx="2849981" cy="270867"/>
          </a:xfrm>
          <a:prstGeom prst="rect">
            <a:avLst/>
          </a:prstGeom>
          <a:noFill/>
          <a:ln/>
        </p:spPr>
        <p:txBody>
          <a:bodyPr wrap="square" lIns="0" tIns="0" rIns="0" bIns="0" rtlCol="0" anchor="t"/>
          <a:lstStyle/>
          <a:p>
            <a:pPr algn="l" indent="0" marL="0">
              <a:lnSpc>
                <a:spcPts val="1066"/>
              </a:lnSpc>
              <a:spcBef>
                <a:spcPts val="400"/>
              </a:spcBef>
              <a:buNone/>
            </a:pPr>
            <a:r>
              <a:rPr lang="en-US" sz="820" dirty="0">
                <a:solidFill>
                  <a:srgbClr val="F2EFE9"/>
                </a:solidFill>
                <a:latin typeface="Arial" pitchFamily="34" charset="0"/>
                <a:ea typeface="Arial" pitchFamily="34" charset="-122"/>
                <a:cs typeface="Arial" pitchFamily="34" charset="-120"/>
              </a:rPr>
              <a:t>Laba sebelum pajak hanya turun </a:t>
            </a:r>
            <a:pPr algn="l" indent="0" marL="0">
              <a:lnSpc>
                <a:spcPts val="1066"/>
              </a:lnSpc>
              <a:spcBef>
                <a:spcPts val="400"/>
              </a:spcBef>
              <a:buNone/>
            </a:pPr>
            <a:r>
              <a:rPr lang="en-US" sz="820" b="1" dirty="0">
                <a:solidFill>
                  <a:srgbClr val="F2EFE9"/>
                </a:solidFill>
                <a:latin typeface="Arial" pitchFamily="34" charset="0"/>
                <a:ea typeface="Arial" pitchFamily="34" charset="-122"/>
                <a:cs typeface="Arial" pitchFamily="34" charset="-120"/>
              </a:rPr>
              <a:t>4,1%</a:t>
            </a:r>
            <a:pPr algn="l" indent="0" marL="0">
              <a:lnSpc>
                <a:spcPts val="1066"/>
              </a:lnSpc>
              <a:spcBef>
                <a:spcPts val="400"/>
              </a:spcBef>
              <a:buNone/>
            </a:pPr>
            <a:r>
              <a:rPr lang="en-US" sz="820" dirty="0">
                <a:solidFill>
                  <a:srgbClr val="F2EFE9"/>
                </a:solidFill>
                <a:latin typeface="Arial" pitchFamily="34" charset="0"/>
                <a:ea typeface="Arial" pitchFamily="34" charset="-122"/>
                <a:cs typeface="Arial" pitchFamily="34" charset="-120"/>
              </a:rPr>
              <a:t> (203,5 vs 212,2), bukan 14,1%.</a:t>
            </a:r>
            <a:endParaRPr lang="en-US" sz="820" dirty="0"/>
          </a:p>
        </p:txBody>
      </p:sp>
      <p:graphicFrame>
        <p:nvGraphicFramePr>
          <p:cNvPr id="10" name="Chart 0" descr=""/>
          <p:cNvGraphicFramePr/>
          <p:nvPr/>
        </p:nvGraphicFramePr>
        <p:xfrm>
          <a:off x="406301" y="1094036"/>
          <a:ext cx="5130701" cy="3149501"/>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KUALITAS LABA</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Arus Kas Adalah Sisi Terkuat</a:t>
            </a:r>
            <a:endParaRPr lang="en-US" sz="2400" dirty="0"/>
          </a:p>
        </p:txBody>
      </p:sp>
      <p:sp>
        <p:nvSpPr>
          <p:cNvPr id="4" name="Text 2"/>
          <p:cNvSpPr/>
          <p:nvPr/>
        </p:nvSpPr>
        <p:spPr>
          <a:xfrm>
            <a:off x="406301" y="916335"/>
            <a:ext cx="8331398" cy="25301"/>
          </a:xfrm>
          <a:prstGeom prst="rect">
            <a:avLst/>
          </a:prstGeom>
          <a:solidFill>
            <a:srgbClr val="C1502E"/>
          </a:solidFill>
          <a:ln/>
        </p:spPr>
        <p:txBody>
          <a:bodyPr wrap="square" rtlCol="0" anchor="ctr"/>
          <a:lstStyle/>
          <a:p>
            <a:pPr indent="0" marL="0">
              <a:buNone/>
            </a:pPr>
            <a:endParaRPr lang="en-US" dirty="0"/>
          </a:p>
        </p:txBody>
      </p:sp>
      <p:sp>
        <p:nvSpPr>
          <p:cNvPr id="5" name="Text 3"/>
          <p:cNvSpPr/>
          <p:nvPr/>
        </p:nvSpPr>
        <p:spPr>
          <a:xfrm>
            <a:off x="406301" y="1081236"/>
            <a:ext cx="2006501" cy="796677"/>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6301" y="1095524"/>
            <a:ext cx="2006501" cy="0"/>
          </a:xfrm>
          <a:prstGeom prst="line">
            <a:avLst/>
          </a:prstGeom>
          <a:noFill/>
          <a:ln w="28575">
            <a:solidFill>
              <a:srgbClr val="4A7C59"/>
            </a:solidFill>
            <a:prstDash val="solid"/>
          </a:ln>
        </p:spPr>
      </p:sp>
      <p:sp>
        <p:nvSpPr>
          <p:cNvPr id="7" name="Text 5"/>
          <p:cNvSpPr/>
          <p:nvPr/>
        </p:nvSpPr>
        <p:spPr>
          <a:xfrm>
            <a:off x="533251"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ARUS KAS OPERASI</a:t>
            </a:r>
            <a:endParaRPr lang="en-US" sz="680" dirty="0"/>
          </a:p>
        </p:txBody>
      </p:sp>
      <p:sp>
        <p:nvSpPr>
          <p:cNvPr id="8" name="Text 6"/>
          <p:cNvSpPr/>
          <p:nvPr/>
        </p:nvSpPr>
        <p:spPr>
          <a:xfrm>
            <a:off x="533251"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313,5</a:t>
            </a:r>
            <a:endParaRPr lang="en-US" sz="1900" dirty="0"/>
          </a:p>
        </p:txBody>
      </p:sp>
      <p:sp>
        <p:nvSpPr>
          <p:cNvPr id="9" name="Text 7"/>
          <p:cNvSpPr/>
          <p:nvPr/>
        </p:nvSpPr>
        <p:spPr>
          <a:xfrm>
            <a:off x="533251"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USD juta, naik 21,4% dari 258,3</a:t>
            </a:r>
            <a:endParaRPr lang="en-US" sz="720" dirty="0"/>
          </a:p>
        </p:txBody>
      </p:sp>
      <p:sp>
        <p:nvSpPr>
          <p:cNvPr id="10" name="Text 8"/>
          <p:cNvSpPr/>
          <p:nvPr/>
        </p:nvSpPr>
        <p:spPr>
          <a:xfrm>
            <a:off x="2514302" y="1081236"/>
            <a:ext cx="2006501" cy="796677"/>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2514302" y="1095524"/>
            <a:ext cx="2006501" cy="0"/>
          </a:xfrm>
          <a:prstGeom prst="line">
            <a:avLst/>
          </a:prstGeom>
          <a:noFill/>
          <a:ln w="28575">
            <a:solidFill>
              <a:srgbClr val="4A7C59"/>
            </a:solidFill>
            <a:prstDash val="solid"/>
          </a:ln>
        </p:spPr>
      </p:sp>
      <p:sp>
        <p:nvSpPr>
          <p:cNvPr id="12" name="Text 10"/>
          <p:cNvSpPr/>
          <p:nvPr/>
        </p:nvSpPr>
        <p:spPr>
          <a:xfrm>
            <a:off x="2641253"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FREE CASH FLOW</a:t>
            </a:r>
            <a:endParaRPr lang="en-US" sz="680" dirty="0"/>
          </a:p>
        </p:txBody>
      </p:sp>
      <p:sp>
        <p:nvSpPr>
          <p:cNvPr id="13" name="Text 11"/>
          <p:cNvSpPr/>
          <p:nvPr/>
        </p:nvSpPr>
        <p:spPr>
          <a:xfrm>
            <a:off x="2641253"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229,1</a:t>
            </a:r>
            <a:endParaRPr lang="en-US" sz="1900" dirty="0"/>
          </a:p>
        </p:txBody>
      </p:sp>
      <p:sp>
        <p:nvSpPr>
          <p:cNvPr id="14" name="Text 12"/>
          <p:cNvSpPr/>
          <p:nvPr/>
        </p:nvSpPr>
        <p:spPr>
          <a:xfrm>
            <a:off x="2641253"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USD juta, setelah capex kas 84,4</a:t>
            </a:r>
            <a:endParaRPr lang="en-US" sz="720" dirty="0"/>
          </a:p>
        </p:txBody>
      </p:sp>
      <p:sp>
        <p:nvSpPr>
          <p:cNvPr id="15" name="Text 13"/>
          <p:cNvSpPr/>
          <p:nvPr/>
        </p:nvSpPr>
        <p:spPr>
          <a:xfrm>
            <a:off x="4622304" y="1081236"/>
            <a:ext cx="2006501" cy="796677"/>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622304" y="1095524"/>
            <a:ext cx="2006501" cy="0"/>
          </a:xfrm>
          <a:prstGeom prst="line">
            <a:avLst/>
          </a:prstGeom>
          <a:noFill/>
          <a:ln w="28575">
            <a:solidFill>
              <a:srgbClr val="B08327"/>
            </a:solidFill>
            <a:prstDash val="solid"/>
          </a:ln>
        </p:spPr>
      </p:sp>
      <p:sp>
        <p:nvSpPr>
          <p:cNvPr id="17" name="Text 15"/>
          <p:cNvSpPr/>
          <p:nvPr/>
        </p:nvSpPr>
        <p:spPr>
          <a:xfrm>
            <a:off x="4749254"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CAPEX KAS</a:t>
            </a:r>
            <a:endParaRPr lang="en-US" sz="680" dirty="0"/>
          </a:p>
        </p:txBody>
      </p:sp>
      <p:sp>
        <p:nvSpPr>
          <p:cNvPr id="18" name="Text 16"/>
          <p:cNvSpPr/>
          <p:nvPr/>
        </p:nvSpPr>
        <p:spPr>
          <a:xfrm>
            <a:off x="4749254"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84,4</a:t>
            </a:r>
            <a:endParaRPr lang="en-US" sz="1900" dirty="0"/>
          </a:p>
        </p:txBody>
      </p:sp>
      <p:sp>
        <p:nvSpPr>
          <p:cNvPr id="19" name="Text 17"/>
          <p:cNvSpPr/>
          <p:nvPr/>
        </p:nvSpPr>
        <p:spPr>
          <a:xfrm>
            <a:off x="4749254"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USD juta, turun 18,4% dari 103,4</a:t>
            </a:r>
            <a:endParaRPr lang="en-US" sz="720" dirty="0"/>
          </a:p>
        </p:txBody>
      </p:sp>
      <p:sp>
        <p:nvSpPr>
          <p:cNvPr id="20" name="Text 18"/>
          <p:cNvSpPr/>
          <p:nvPr/>
        </p:nvSpPr>
        <p:spPr>
          <a:xfrm>
            <a:off x="6730305" y="1081236"/>
            <a:ext cx="2006501" cy="796677"/>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730305" y="1095524"/>
            <a:ext cx="2006501" cy="0"/>
          </a:xfrm>
          <a:prstGeom prst="line">
            <a:avLst/>
          </a:prstGeom>
          <a:noFill/>
          <a:ln w="28575">
            <a:solidFill>
              <a:srgbClr val="B08327"/>
            </a:solidFill>
            <a:prstDash val="solid"/>
          </a:ln>
        </p:spPr>
      </p:sp>
      <p:sp>
        <p:nvSpPr>
          <p:cNvPr id="22" name="Text 20"/>
          <p:cNvSpPr/>
          <p:nvPr/>
        </p:nvSpPr>
        <p:spPr>
          <a:xfrm>
            <a:off x="6857256"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DIVIDEN DIBAYAR</a:t>
            </a:r>
            <a:endParaRPr lang="en-US" sz="680" dirty="0"/>
          </a:p>
        </p:txBody>
      </p:sp>
      <p:sp>
        <p:nvSpPr>
          <p:cNvPr id="23" name="Text 21"/>
          <p:cNvSpPr/>
          <p:nvPr/>
        </p:nvSpPr>
        <p:spPr>
          <a:xfrm>
            <a:off x="6857256"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136,4</a:t>
            </a:r>
            <a:endParaRPr lang="en-US" sz="1900" dirty="0"/>
          </a:p>
        </p:txBody>
      </p:sp>
      <p:sp>
        <p:nvSpPr>
          <p:cNvPr id="24" name="Text 22"/>
          <p:cNvSpPr/>
          <p:nvPr/>
        </p:nvSpPr>
        <p:spPr>
          <a:xfrm>
            <a:off x="6857256"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USD juta; payout 85,1% atas laba 2024</a:t>
            </a:r>
            <a:endParaRPr lang="en-US" sz="720" dirty="0"/>
          </a:p>
        </p:txBody>
      </p:sp>
      <p:sp>
        <p:nvSpPr>
          <p:cNvPr id="25" name="Text 23"/>
          <p:cNvSpPr/>
          <p:nvPr/>
        </p:nvSpPr>
        <p:spPr>
          <a:xfrm>
            <a:off x="406301" y="2042964"/>
            <a:ext cx="4197096"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YANG MENDUKUNG</a:t>
            </a:r>
            <a:endParaRPr lang="en-US" sz="680" dirty="0"/>
          </a:p>
        </p:txBody>
      </p:sp>
      <p:sp>
        <p:nvSpPr>
          <p:cNvPr id="26" name="Text 24"/>
          <p:cNvSpPr/>
          <p:nvPr/>
        </p:nvSpPr>
        <p:spPr>
          <a:xfrm>
            <a:off x="406301" y="2227064"/>
            <a:ext cx="4114800" cy="804863"/>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Penerimaan kas dari pelanggan naik ke USD839,7 juta dari USD796,4 juta</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Periode penagihan membaik dari 58,25 hari ke 53,01 hari</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Pembayaran pajak penghasilan turun tajam ke USD44,4 juta dari USD71,4 juta</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Konversi kas 0,95x — laba akuntansi didukung kas riil</a:t>
            </a:r>
            <a:endParaRPr lang="en-US" sz="860" dirty="0"/>
          </a:p>
        </p:txBody>
      </p:sp>
      <p:sp>
        <p:nvSpPr>
          <p:cNvPr id="27" name="Text 25"/>
          <p:cNvSpPr/>
          <p:nvPr/>
        </p:nvSpPr>
        <p:spPr>
          <a:xfrm>
            <a:off x="4622602" y="2042964"/>
            <a:ext cx="4197096"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PERINGATAN</a:t>
            </a:r>
            <a:endParaRPr lang="en-US" sz="680" dirty="0"/>
          </a:p>
        </p:txBody>
      </p:sp>
      <p:sp>
        <p:nvSpPr>
          <p:cNvPr id="28" name="Text 26"/>
          <p:cNvSpPr/>
          <p:nvPr/>
        </p:nvSpPr>
        <p:spPr>
          <a:xfrm>
            <a:off x="4622602" y="2227064"/>
            <a:ext cx="4114800" cy="1121569"/>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Arus kas kuat sebagian karena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investasi ditahan</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capex turun 18,4%</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Realisasi investasi barang modal USD101,78 juta — hanya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USD39,76 juta untuk pengembangan</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USD62,02 juta untuk pemeliharaan</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Kas USD718,5 juta menghasilkan bunga 4,1% sementara obligasi hijau USD400 juta berbunga 5,15% — ada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carry negatif struktural</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Jika payout dipertahankan 85%, dividen dari laba 2025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turun sekitar 14%</a:t>
            </a:r>
            <a:endParaRPr lang="en-US" sz="8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PRODUKTIVITAS ASET</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Seperempat Aset Belum Menghasilkan Pendapatan</a:t>
            </a:r>
            <a:endParaRPr lang="en-US" sz="2400" dirty="0"/>
          </a:p>
        </p:txBody>
      </p:sp>
      <p:sp>
        <p:nvSpPr>
          <p:cNvPr id="4" name="Text 2"/>
          <p:cNvSpPr/>
          <p:nvPr/>
        </p:nvSpPr>
        <p:spPr>
          <a:xfrm>
            <a:off x="406301" y="916335"/>
            <a:ext cx="8331398" cy="25301"/>
          </a:xfrm>
          <a:prstGeom prst="rect">
            <a:avLst/>
          </a:prstGeom>
          <a:solidFill>
            <a:srgbClr val="C1502E"/>
          </a:solidFill>
          <a:ln/>
        </p:spPr>
        <p:txBody>
          <a:bodyPr wrap="square" rtlCol="0" anchor="ctr"/>
          <a:lstStyle/>
          <a:p>
            <a:pPr indent="0" marL="0">
              <a:buNone/>
            </a:pPr>
            <a:endParaRPr lang="en-US" dirty="0"/>
          </a:p>
        </p:txBody>
      </p:sp>
      <p:sp>
        <p:nvSpPr>
          <p:cNvPr id="5" name="Text 3"/>
          <p:cNvSpPr/>
          <p:nvPr/>
        </p:nvSpPr>
        <p:spPr>
          <a:xfrm>
            <a:off x="406301" y="1119336"/>
            <a:ext cx="3174950" cy="1754981"/>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b="1" dirty="0">
                <a:solidFill>
                  <a:srgbClr val="2C3136"/>
                </a:solidFill>
                <a:latin typeface="Arial" pitchFamily="34" charset="0"/>
                <a:ea typeface="Arial" pitchFamily="34" charset="-122"/>
                <a:cs typeface="Arial" pitchFamily="34" charset="-120"/>
              </a:rPr>
              <a:t>Aset dalam penyelesaian USD626,2 juta</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setara 20,6% total aset. Turun 34,1% karena Lumut Balai 2 dikapitalisasi — ini perkembangan positif</a:t>
            </a:r>
            <a:endParaRPr lang="en-US" sz="860" dirty="0"/>
          </a:p>
          <a:p>
            <a:pPr algn="l" marL="69850" indent="-69850">
              <a:lnSpc>
                <a:spcPts val="1247"/>
              </a:lnSpc>
              <a:spcAft>
                <a:spcPts val="450"/>
              </a:spcAft>
              <a:buSzPct val="100000"/>
              <a:buChar char="•"/>
            </a:pPr>
            <a:r>
              <a:rPr lang="en-US" sz="860" b="1" dirty="0">
                <a:solidFill>
                  <a:srgbClr val="2C3136"/>
                </a:solidFill>
                <a:latin typeface="Arial" pitchFamily="34" charset="0"/>
                <a:ea typeface="Arial" pitchFamily="34" charset="-122"/>
                <a:cs typeface="Arial" pitchFamily="34" charset="-120"/>
              </a:rPr>
              <a:t>Aset eksplorasi USD169,4 juta praktis beku</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hanya bertambah USD152 ribu sepanjang tahun (+0,09%), sejalan dengan realisasi nol sumur eksplorasi</a:t>
            </a:r>
            <a:endParaRPr lang="en-US" sz="860" dirty="0"/>
          </a:p>
          <a:p>
            <a:pPr algn="l" marL="69850" indent="-69850">
              <a:lnSpc>
                <a:spcPts val="1247"/>
              </a:lnSpc>
              <a:spcAft>
                <a:spcPts val="450"/>
              </a:spcAft>
              <a:buSzPct val="100000"/>
              <a:buChar char="•"/>
            </a:pPr>
            <a:r>
              <a:rPr lang="en-US" sz="860" b="1" dirty="0">
                <a:solidFill>
                  <a:srgbClr val="2C3136"/>
                </a:solidFill>
                <a:latin typeface="Arial" pitchFamily="34" charset="0"/>
                <a:ea typeface="Arial" pitchFamily="34" charset="-122"/>
                <a:cs typeface="Arial" pitchFamily="34" charset="-120"/>
              </a:rPr>
              <a:t>PPN dapat ditagihkan kembali USD101,2 juta</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neto — tagihan ke Pemerintah dengan pemulihan lambat</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Penyisihan penurunan nilai aset tetap USD112,6 juta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tidak berubah dari 2024</a:t>
            </a:r>
            <a:endParaRPr lang="en-US" sz="860" dirty="0"/>
          </a:p>
        </p:txBody>
      </p:sp>
      <p:sp>
        <p:nvSpPr>
          <p:cNvPr id="6" name="Text 4"/>
          <p:cNvSpPr/>
          <p:nvPr/>
        </p:nvSpPr>
        <p:spPr>
          <a:xfrm>
            <a:off x="406301" y="2988618"/>
            <a:ext cx="3174950" cy="615553"/>
          </a:xfrm>
          <a:prstGeom prst="rect">
            <a:avLst/>
          </a:prstGeom>
          <a:solidFill>
            <a:srgbClr val="16191D"/>
          </a:solidFill>
          <a:ln/>
        </p:spPr>
        <p:txBody>
          <a:bodyPr wrap="square" rtlCol="0" anchor="ctr"/>
          <a:lstStyle/>
          <a:p>
            <a:pPr indent="0" marL="0">
              <a:buNone/>
            </a:pPr>
            <a:endParaRPr lang="en-US" dirty="0"/>
          </a:p>
        </p:txBody>
      </p:sp>
      <p:sp>
        <p:nvSpPr>
          <p:cNvPr id="7" name="Text 5"/>
          <p:cNvSpPr/>
          <p:nvPr/>
        </p:nvSpPr>
        <p:spPr>
          <a:xfrm>
            <a:off x="533251" y="3090118"/>
            <a:ext cx="2979471" cy="412552"/>
          </a:xfrm>
          <a:prstGeom prst="rect">
            <a:avLst/>
          </a:prstGeom>
          <a:noFill/>
          <a:ln/>
        </p:spPr>
        <p:txBody>
          <a:bodyPr wrap="square" lIns="0" tIns="0" rIns="0" bIns="0" rtlCol="0" anchor="t"/>
          <a:lstStyle/>
          <a:p>
            <a:pPr algn="l" indent="0" marL="0">
              <a:lnSpc>
                <a:spcPts val="1082"/>
              </a:lnSpc>
              <a:buNone/>
            </a:pPr>
            <a:r>
              <a:rPr lang="en-US" sz="820" dirty="0">
                <a:solidFill>
                  <a:srgbClr val="F2EFE9"/>
                </a:solidFill>
                <a:latin typeface="Arial" pitchFamily="34" charset="0"/>
                <a:ea typeface="Arial" pitchFamily="34" charset="-122"/>
                <a:cs typeface="Arial" pitchFamily="34" charset="-120"/>
              </a:rPr>
              <a:t>Inilah sebab ROA hanya 4,54% dan perputaran aset 0,14x — bukan karena marjin buruk, tetapi karena basis asetnya belum bekerja.</a:t>
            </a:r>
            <a:endParaRPr lang="en-US" sz="820" dirty="0"/>
          </a:p>
        </p:txBody>
      </p:sp>
      <p:graphicFrame>
        <p:nvGraphicFramePr>
          <p:cNvPr id="8" name="Chart 0" descr=""/>
          <p:cNvGraphicFramePr/>
          <p:nvPr/>
        </p:nvGraphicFramePr>
        <p:xfrm>
          <a:off x="3733651" y="1094036"/>
          <a:ext cx="5003750" cy="31749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TARGET VS REALISASI 2025</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Melampaui di Sisi Atas, Meleset di Sisi Bawah</a:t>
            </a:r>
            <a:endParaRPr lang="en-US" sz="2400" dirty="0"/>
          </a:p>
        </p:txBody>
      </p:sp>
      <p:sp>
        <p:nvSpPr>
          <p:cNvPr id="4" name="Text 2"/>
          <p:cNvSpPr/>
          <p:nvPr/>
        </p:nvSpPr>
        <p:spPr>
          <a:xfrm>
            <a:off x="406301" y="865584"/>
            <a:ext cx="8419999" cy="315218"/>
          </a:xfrm>
          <a:prstGeom prst="rect">
            <a:avLst/>
          </a:prstGeom>
          <a:noFill/>
          <a:ln/>
        </p:spPr>
        <p:txBody>
          <a:bodyPr wrap="square" lIns="0" tIns="0" rIns="0" bIns="0" rtlCol="0" anchor="t"/>
          <a:lstStyle/>
          <a:p>
            <a:pPr algn="l" indent="0" marL="0">
              <a:lnSpc>
                <a:spcPts val="1242"/>
              </a:lnSpc>
              <a:spcBef>
                <a:spcPts val="600"/>
              </a:spcBef>
              <a:buNone/>
            </a:pPr>
            <a:r>
              <a:rPr lang="en-US" sz="900" dirty="0">
                <a:solidFill>
                  <a:srgbClr val="4A4F55"/>
                </a:solidFill>
                <a:latin typeface="Arial" pitchFamily="34" charset="0"/>
                <a:ea typeface="Arial" pitchFamily="34" charset="-122"/>
                <a:cs typeface="Arial" pitchFamily="34" charset="-120"/>
              </a:rPr>
              <a:t>Pendapatan dan produksi melampaui RKAP, EBITDA tepat sasaran — namun beban usaha membengkak 18,4% di atas anggaran sehingga laba bersih meleset 10,3%.</a:t>
            </a:r>
            <a:endParaRPr lang="en-US" sz="900" dirty="0"/>
          </a:p>
        </p:txBody>
      </p:sp>
      <p:sp>
        <p:nvSpPr>
          <p:cNvPr id="5" name="Text 3"/>
          <p:cNvSpPr/>
          <p:nvPr/>
        </p:nvSpPr>
        <p:spPr>
          <a:xfrm>
            <a:off x="406301" y="1282303"/>
            <a:ext cx="8331398" cy="25301"/>
          </a:xfrm>
          <a:prstGeom prst="rect">
            <a:avLst/>
          </a:prstGeom>
          <a:solidFill>
            <a:srgbClr val="C1502E"/>
          </a:solidFill>
          <a:ln/>
        </p:spPr>
        <p:txBody>
          <a:bodyPr wrap="square" rtlCol="0" anchor="ctr"/>
          <a:lstStyle/>
          <a:p>
            <a:pPr indent="0" marL="0">
              <a:buNone/>
            </a:pPr>
            <a:endParaRPr lang="en-US" dirty="0"/>
          </a:p>
        </p:txBody>
      </p:sp>
      <p:sp>
        <p:nvSpPr>
          <p:cNvPr id="6" name="Text 4"/>
          <p:cNvSpPr/>
          <p:nvPr/>
        </p:nvSpPr>
        <p:spPr>
          <a:xfrm>
            <a:off x="5537002" y="1421904"/>
            <a:ext cx="3264408"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LETAK KEGAGALANNYA</a:t>
            </a:r>
            <a:endParaRPr lang="en-US" sz="680" dirty="0"/>
          </a:p>
        </p:txBody>
      </p:sp>
      <p:sp>
        <p:nvSpPr>
          <p:cNvPr id="7" name="Text 5"/>
          <p:cNvSpPr/>
          <p:nvPr/>
        </p:nvSpPr>
        <p:spPr>
          <a:xfrm>
            <a:off x="5537002" y="1593354"/>
            <a:ext cx="3264408" cy="316706"/>
          </a:xfrm>
          <a:prstGeom prst="rect">
            <a:avLst/>
          </a:prstGeom>
          <a:noFill/>
          <a:ln/>
        </p:spPr>
        <p:txBody>
          <a:bodyPr wrap="square" lIns="0" tIns="0" rIns="0" bIns="0" rtlCol="0" anchor="t"/>
          <a:lstStyle/>
          <a:p>
            <a:pPr algn="l" indent="0" marL="0">
              <a:lnSpc>
                <a:spcPts val="1247"/>
              </a:lnSpc>
              <a:spcBef>
                <a:spcPts val="600"/>
              </a:spcBef>
              <a:buNone/>
            </a:pPr>
            <a:r>
              <a:rPr lang="en-US" sz="860" dirty="0">
                <a:solidFill>
                  <a:srgbClr val="2C3136"/>
                </a:solidFill>
                <a:latin typeface="Arial" pitchFamily="34" charset="0"/>
                <a:ea typeface="Arial" pitchFamily="34" charset="-122"/>
                <a:cs typeface="Arial" pitchFamily="34" charset="-120"/>
              </a:rPr>
              <a:t>Karena EBITDA memenuhi target sementara laba bersih tidak, seluruh selisih berada </a:t>
            </a:r>
            <a:pPr algn="l" indent="0" marL="0">
              <a:lnSpc>
                <a:spcPts val="1247"/>
              </a:lnSpc>
              <a:spcBef>
                <a:spcPts val="600"/>
              </a:spcBef>
              <a:buNone/>
            </a:pPr>
            <a:r>
              <a:rPr lang="en-US" sz="860" b="1" dirty="0">
                <a:solidFill>
                  <a:srgbClr val="2C3136"/>
                </a:solidFill>
                <a:latin typeface="Arial" pitchFamily="34" charset="0"/>
                <a:ea typeface="Arial" pitchFamily="34" charset="-122"/>
                <a:cs typeface="Arial" pitchFamily="34" charset="-120"/>
              </a:rPr>
              <a:t>di bawah garis EBITDA</a:t>
            </a:r>
            <a:pPr algn="l" indent="0" marL="0">
              <a:lnSpc>
                <a:spcPts val="1247"/>
              </a:lnSpc>
              <a:spcBef>
                <a:spcPts val="600"/>
              </a:spcBef>
              <a:buNone/>
            </a:pPr>
            <a:r>
              <a:rPr lang="en-US" sz="860" dirty="0">
                <a:solidFill>
                  <a:srgbClr val="2C3136"/>
                </a:solidFill>
                <a:latin typeface="Arial" pitchFamily="34" charset="0"/>
                <a:ea typeface="Arial" pitchFamily="34" charset="-122"/>
                <a:cs typeface="Arial" pitchFamily="34" charset="-120"/>
              </a:rPr>
              <a:t>:</a:t>
            </a:r>
            <a:endParaRPr lang="en-US" sz="860" dirty="0"/>
          </a:p>
        </p:txBody>
      </p:sp>
      <p:sp>
        <p:nvSpPr>
          <p:cNvPr id="8" name="Text 6"/>
          <p:cNvSpPr/>
          <p:nvPr/>
        </p:nvSpPr>
        <p:spPr>
          <a:xfrm>
            <a:off x="5537002" y="1986260"/>
            <a:ext cx="3200400" cy="532209"/>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Penyusutan aktual sekitar USD128 juta melawan asumsi RKAP sekitar USD100 juta — dampak COD Lumut Balai 2</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Rugi selisih kurs USD7,6 juta yang jelas tidak dianggarkan</a:t>
            </a:r>
            <a:endParaRPr lang="en-US" sz="860" dirty="0"/>
          </a:p>
        </p:txBody>
      </p:sp>
      <p:sp>
        <p:nvSpPr>
          <p:cNvPr id="9" name="Text 7"/>
          <p:cNvSpPr/>
          <p:nvPr/>
        </p:nvSpPr>
        <p:spPr>
          <a:xfrm>
            <a:off x="5537002" y="2607320"/>
            <a:ext cx="3264408" cy="475059"/>
          </a:xfrm>
          <a:prstGeom prst="rect">
            <a:avLst/>
          </a:prstGeom>
          <a:noFill/>
          <a:ln/>
        </p:spPr>
        <p:txBody>
          <a:bodyPr wrap="square" lIns="0" tIns="0" rIns="0" bIns="0" rtlCol="0" anchor="t"/>
          <a:lstStyle/>
          <a:p>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Per area, hanya </a:t>
            </a:r>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Lumut Balai</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yang benar-benar mengalahkan target (122% dari target produksi). Ulubelu, Karaha, dan Lahendong di bawah atau setara target.</a:t>
            </a:r>
            <a:endParaRPr lang="en-US" sz="860" dirty="0"/>
          </a:p>
        </p:txBody>
      </p:sp>
      <p:sp>
        <p:nvSpPr>
          <p:cNvPr id="10" name="Text 8"/>
          <p:cNvSpPr/>
          <p:nvPr/>
        </p:nvSpPr>
        <p:spPr>
          <a:xfrm>
            <a:off x="406301" y="3898404"/>
            <a:ext cx="8498026" cy="95250"/>
          </a:xfrm>
          <a:prstGeom prst="rect">
            <a:avLst/>
          </a:prstGeom>
          <a:noFill/>
          <a:ln/>
        </p:spPr>
        <p:txBody>
          <a:bodyPr wrap="square" lIns="0" tIns="0" rIns="0" bIns="0" rtlCol="0" anchor="t"/>
          <a:lstStyle/>
          <a:p>
            <a:pPr algn="l" indent="0" marL="0">
              <a:spcBef>
                <a:spcPts val="900"/>
              </a:spcBef>
              <a:buNone/>
            </a:pPr>
            <a:r>
              <a:rPr lang="en-US" sz="650" dirty="0">
                <a:solidFill>
                  <a:srgbClr val="9AA0A6"/>
                </a:solidFill>
                <a:latin typeface="Arial" pitchFamily="34" charset="0"/>
                <a:ea typeface="Arial" pitchFamily="34" charset="-122"/>
                <a:cs typeface="Arial" pitchFamily="34" charset="-120"/>
              </a:rPr>
              <a:t>Sumber: Laporan Tahunan PGE 2025, hal. 221–224</a:t>
            </a:r>
            <a:endParaRPr lang="en-US" sz="6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06301" y="1421904"/>
          <a:ext cx="4978301" cy="2362200"/>
        </p:xfrm>
        <a:graphic>
          <a:graphicData uri="http://schemas.openxmlformats.org/drawingml/2006/table">
            <a:tbl>
              <a:tblPr/>
              <a:tblGrid>
                <a:gridCol w="2140669"/>
                <a:gridCol w="945877"/>
                <a:gridCol w="945877"/>
                <a:gridCol w="945877"/>
              </a:tblGrid>
              <a:tr h="337457">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Uraian</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RKAP 2025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Realisasi</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Capaian</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337457">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Pendapatan usaha (USD ribu)</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418.786</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432.726</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4A7C59"/>
                          </a:solidFill>
                          <a:latin typeface="Arial" pitchFamily="34" charset="0"/>
                          <a:ea typeface="Arial" pitchFamily="34" charset="-122"/>
                          <a:cs typeface="Arial" pitchFamily="34" charset="-120"/>
                        </a:rPr>
                        <a:t>103,3%</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337457">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Beban usaha (USD ribu)</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(191.799)</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(227.155)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118,4%</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337457">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Laba usaha (USD ribu)</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226.986</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205.571</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90,6%</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337457">
                <a:tc>
                  <a:txBody>
                    <a:bodyPr/>
                    <a:lstStyle/>
                    <a:p>
                      <a:pPr algn="l" indent="0" marL="0">
                        <a:buNone/>
                      </a:pPr>
                      <a:r>
                        <a:rPr lang="en-US" sz="800" b="1" dirty="0">
                          <a:solidFill>
                            <a:srgbClr val="16191D"/>
                          </a:solidFill>
                          <a:latin typeface="Arial" pitchFamily="34" charset="0"/>
                          <a:ea typeface="Arial" pitchFamily="34" charset="-122"/>
                          <a:cs typeface="Arial" pitchFamily="34" charset="-120"/>
                        </a:rPr>
                        <a:t>EBITDA (USD ribu)</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327.307</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330.353</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4A7C59"/>
                          </a:solidFill>
                          <a:latin typeface="Arial" pitchFamily="34" charset="0"/>
                          <a:ea typeface="Arial" pitchFamily="34" charset="-122"/>
                          <a:cs typeface="Arial" pitchFamily="34" charset="-120"/>
                        </a:rPr>
                        <a:t>100,9%</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337457">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Laba bersih (USD ribu)</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153.510</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137.667</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E8845F"/>
                          </a:solidFill>
                          <a:latin typeface="Arial" pitchFamily="34" charset="0"/>
                          <a:ea typeface="Arial" pitchFamily="34" charset="-122"/>
                          <a:cs typeface="Arial" pitchFamily="34" charset="-120"/>
                        </a:rPr>
                        <a:t>89,7%</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337457">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Produksi (GWh)</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4.908,2</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5.095,5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4A7C59"/>
                          </a:solidFill>
                          <a:latin typeface="Arial" pitchFamily="34" charset="0"/>
                          <a:ea typeface="Arial" pitchFamily="34" charset="-122"/>
                          <a:cs typeface="Arial" pitchFamily="34" charset="-120"/>
                        </a:rPr>
                        <a:t>103,8%</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PROYEKSI 2026</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Panduan Moderat, Program Operasional Sangat Agresif</a:t>
            </a:r>
            <a:endParaRPr lang="en-US" sz="2400" dirty="0"/>
          </a:p>
        </p:txBody>
      </p:sp>
      <p:sp>
        <p:nvSpPr>
          <p:cNvPr id="4" name="Text 2"/>
          <p:cNvSpPr/>
          <p:nvPr/>
        </p:nvSpPr>
        <p:spPr>
          <a:xfrm>
            <a:off x="406301" y="916335"/>
            <a:ext cx="8331398" cy="25301"/>
          </a:xfrm>
          <a:prstGeom prst="rect">
            <a:avLst/>
          </a:prstGeom>
          <a:solidFill>
            <a:srgbClr val="C1502E"/>
          </a:solidFill>
          <a:ln/>
        </p:spPr>
        <p:txBody>
          <a:bodyPr wrap="square" rtlCol="0" anchor="ctr"/>
          <a:lstStyle/>
          <a:p>
            <a:pPr indent="0" marL="0">
              <a:buNone/>
            </a:pPr>
            <a:endParaRPr lang="en-US" dirty="0"/>
          </a:p>
        </p:txBody>
      </p:sp>
      <p:sp>
        <p:nvSpPr>
          <p:cNvPr id="5" name="Text 3"/>
          <p:cNvSpPr/>
          <p:nvPr/>
        </p:nvSpPr>
        <p:spPr>
          <a:xfrm>
            <a:off x="406301" y="1081236"/>
            <a:ext cx="4171137"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PANDUAN KEUANGAN 2026</a:t>
            </a:r>
            <a:endParaRPr lang="en-US" sz="680" dirty="0"/>
          </a:p>
        </p:txBody>
      </p:sp>
      <p:sp>
        <p:nvSpPr>
          <p:cNvPr id="6" name="Text 4"/>
          <p:cNvSpPr/>
          <p:nvPr/>
        </p:nvSpPr>
        <p:spPr>
          <a:xfrm>
            <a:off x="406301" y="2649587"/>
            <a:ext cx="4171137" cy="342454"/>
          </a:xfrm>
          <a:prstGeom prst="rect">
            <a:avLst/>
          </a:prstGeom>
          <a:noFill/>
          <a:ln/>
        </p:spPr>
        <p:txBody>
          <a:bodyPr wrap="square" lIns="0" tIns="0" rIns="0" bIns="0" rtlCol="0" anchor="t"/>
          <a:lstStyle/>
          <a:p>
            <a:pPr algn="l" indent="0" marL="0">
              <a:lnSpc>
                <a:spcPts val="900"/>
              </a:lnSpc>
              <a:spcBef>
                <a:spcPts val="600"/>
              </a:spcBef>
              <a:buNone/>
            </a:pPr>
            <a:r>
              <a:rPr lang="en-US" sz="720" dirty="0">
                <a:solidFill>
                  <a:srgbClr val="6E7379"/>
                </a:solidFill>
                <a:latin typeface="Arial" pitchFamily="34" charset="0"/>
                <a:ea typeface="Arial" pitchFamily="34" charset="-122"/>
                <a:cs typeface="Arial" pitchFamily="34" charset="-120"/>
              </a:rPr>
              <a:t>Target laba bersih 2026 sebesar USD150–160 juta pada dasarnya </a:t>
            </a:r>
            <a:pPr algn="l" indent="0" marL="0">
              <a:lnSpc>
                <a:spcPts val="900"/>
              </a:lnSpc>
              <a:spcBef>
                <a:spcPts val="600"/>
              </a:spcBef>
              <a:buNone/>
            </a:pPr>
            <a:r>
              <a:rPr lang="en-US" sz="720" b="1" dirty="0">
                <a:solidFill>
                  <a:srgbClr val="6E7379"/>
                </a:solidFill>
                <a:latin typeface="Arial" pitchFamily="34" charset="0"/>
                <a:ea typeface="Arial" pitchFamily="34" charset="-122"/>
                <a:cs typeface="Arial" pitchFamily="34" charset="-120"/>
              </a:rPr>
              <a:t>mengulang target 2025 yang gagal dicapai</a:t>
            </a:r>
            <a:pPr algn="l" indent="0" marL="0">
              <a:lnSpc>
                <a:spcPts val="900"/>
              </a:lnSpc>
              <a:spcBef>
                <a:spcPts val="600"/>
              </a:spcBef>
              <a:buNone/>
            </a:pPr>
            <a:r>
              <a:rPr lang="en-US" sz="720" dirty="0">
                <a:solidFill>
                  <a:srgbClr val="6E7379"/>
                </a:solidFill>
                <a:latin typeface="Arial" pitchFamily="34" charset="0"/>
                <a:ea typeface="Arial" pitchFamily="34" charset="-122"/>
                <a:cs typeface="Arial" pitchFamily="34" charset="-120"/>
              </a:rPr>
              <a:t> (USD153,5 juta). Panduan ini menuntut pemulihan margin, bukan sekadar pertumbuhan.</a:t>
            </a:r>
            <a:endParaRPr lang="en-US" sz="720" dirty="0"/>
          </a:p>
        </p:txBody>
      </p:sp>
      <p:sp>
        <p:nvSpPr>
          <p:cNvPr id="7" name="Text 5"/>
          <p:cNvSpPr/>
          <p:nvPr/>
        </p:nvSpPr>
        <p:spPr>
          <a:xfrm>
            <a:off x="4648051" y="1081236"/>
            <a:ext cx="4171137"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PROGRAM PEMBORAN: LOMPATAN LEBIH DARI 10X</a:t>
            </a:r>
            <a:endParaRPr lang="en-US" sz="680" dirty="0"/>
          </a:p>
        </p:txBody>
      </p:sp>
      <p:sp>
        <p:nvSpPr>
          <p:cNvPr id="8" name="Text 6"/>
          <p:cNvSpPr/>
          <p:nvPr/>
        </p:nvSpPr>
        <p:spPr>
          <a:xfrm>
            <a:off x="4648051" y="2649587"/>
            <a:ext cx="4171137" cy="228302"/>
          </a:xfrm>
          <a:prstGeom prst="rect">
            <a:avLst/>
          </a:prstGeom>
          <a:noFill/>
          <a:ln/>
        </p:spPr>
        <p:txBody>
          <a:bodyPr wrap="square" lIns="0" tIns="0" rIns="0" bIns="0" rtlCol="0" anchor="t"/>
          <a:lstStyle/>
          <a:p>
            <a:pPr algn="l" indent="0" marL="0">
              <a:lnSpc>
                <a:spcPts val="900"/>
              </a:lnSpc>
              <a:spcBef>
                <a:spcPts val="600"/>
              </a:spcBef>
              <a:buNone/>
            </a:pPr>
            <a:r>
              <a:rPr lang="en-US" sz="720" dirty="0">
                <a:solidFill>
                  <a:srgbClr val="6E7379"/>
                </a:solidFill>
                <a:latin typeface="Arial" pitchFamily="34" charset="0"/>
                <a:ea typeface="Arial" pitchFamily="34" charset="-122"/>
                <a:cs typeface="Arial" pitchFamily="34" charset="-120"/>
              </a:rPr>
              <a:t>Alasan resmi kegagalan eksplorasi 2025 — persiapan teknis, studi geosains, perizinan, pembebasan lahan — bersifat struktural dan berulang. </a:t>
            </a:r>
            <a:pPr algn="l" indent="0" marL="0">
              <a:lnSpc>
                <a:spcPts val="900"/>
              </a:lnSpc>
              <a:spcBef>
                <a:spcPts val="600"/>
              </a:spcBef>
              <a:buNone/>
            </a:pPr>
            <a:r>
              <a:rPr lang="en-US" sz="720" b="1" dirty="0">
                <a:solidFill>
                  <a:srgbClr val="6E7379"/>
                </a:solidFill>
                <a:latin typeface="Arial" pitchFamily="34" charset="0"/>
                <a:ea typeface="Arial" pitchFamily="34" charset="-122"/>
                <a:cs typeface="Arial" pitchFamily="34" charset="-120"/>
              </a:rPr>
              <a:t>Dua tahun berturut-turut nol pemboran eksplorasi.</a:t>
            </a:r>
            <a:endParaRPr lang="en-US" sz="720" dirty="0"/>
          </a:p>
        </p:txBody>
      </p:sp>
      <p:sp>
        <p:nvSpPr>
          <p:cNvPr id="9" name="Text 7"/>
          <p:cNvSpPr/>
          <p:nvPr/>
        </p:nvSpPr>
        <p:spPr>
          <a:xfrm>
            <a:off x="406301" y="3118991"/>
            <a:ext cx="8331101" cy="634752"/>
          </a:xfrm>
          <a:prstGeom prst="rect">
            <a:avLst/>
          </a:prstGeom>
          <a:solidFill>
            <a:srgbClr val="16191D"/>
          </a:solidFill>
          <a:ln/>
        </p:spPr>
        <p:txBody>
          <a:bodyPr wrap="square" rtlCol="0" anchor="ctr"/>
          <a:lstStyle/>
          <a:p>
            <a:pPr indent="0" marL="0">
              <a:buNone/>
            </a:pPr>
            <a:endParaRPr lang="en-US" dirty="0"/>
          </a:p>
        </p:txBody>
      </p:sp>
      <p:sp>
        <p:nvSpPr>
          <p:cNvPr id="10" name="Text 8"/>
          <p:cNvSpPr/>
          <p:nvPr/>
        </p:nvSpPr>
        <p:spPr>
          <a:xfrm>
            <a:off x="558701" y="3220492"/>
            <a:ext cx="8186827" cy="431750"/>
          </a:xfrm>
          <a:prstGeom prst="rect">
            <a:avLst/>
          </a:prstGeom>
          <a:noFill/>
          <a:ln/>
        </p:spPr>
        <p:txBody>
          <a:bodyPr wrap="square" lIns="0" tIns="0" rIns="0" bIns="0" rtlCol="0" anchor="t"/>
          <a:lstStyle/>
          <a:p>
            <a:pPr algn="l" indent="0" marL="0">
              <a:lnSpc>
                <a:spcPts val="1134"/>
              </a:lnSpc>
              <a:buNone/>
            </a:pPr>
            <a:r>
              <a:rPr lang="en-US" sz="840" b="1" dirty="0">
                <a:solidFill>
                  <a:srgbClr val="E8845F"/>
                </a:solidFill>
                <a:latin typeface="Arial" pitchFamily="34" charset="0"/>
                <a:ea typeface="Arial" pitchFamily="34" charset="-122"/>
                <a:cs typeface="Arial" pitchFamily="34" charset="-120"/>
              </a:rPr>
              <a:t>Aritmetika yang belum tersambung.</a:t>
            </a:r>
            <a:pPr algn="l" indent="0" marL="0">
              <a:lnSpc>
                <a:spcPts val="1134"/>
              </a:lnSpc>
              <a:buNone/>
            </a:pPr>
            <a:r>
              <a:rPr lang="en-US" sz="840" dirty="0">
                <a:solidFill>
                  <a:srgbClr val="F2EFE9"/>
                </a:solidFill>
                <a:latin typeface="Arial" pitchFamily="34" charset="0"/>
                <a:ea typeface="Arial" pitchFamily="34" charset="-122"/>
                <a:cs typeface="Arial" pitchFamily="34" charset="-120"/>
              </a:rPr>
              <a:t> Target 1 GW dalam dua tahun menuntut tambahan 273 MW dari 727 MW saat ini. Proyek yang realistis COD dalam jendela itu — Lumut Balai 3 masih pemboran pengembangan; Lahendong dan Ulubelu Binary Unit masih tahap perolehan PPA — tidak mendekati angka tersebut. Proyeksi modal kerja 2026 turun 14,7%, konsisten dengan program yang jauh lebih berat.</a:t>
            </a:r>
            <a:endParaRPr lang="en-US" sz="84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06301" y="1252686"/>
          <a:ext cx="4089350" cy="1320701"/>
        </p:xfrm>
        <a:graphic>
          <a:graphicData uri="http://schemas.openxmlformats.org/drawingml/2006/table">
            <a:tbl>
              <a:tblPr/>
              <a:tblGrid>
                <a:gridCol w="1881101"/>
                <a:gridCol w="1104125"/>
                <a:gridCol w="1104125"/>
              </a:tblGrid>
              <a:tr h="264140">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Uraian</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Realisasi 2025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Target 2026</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64140">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Pendapatan usaha (USD juta)</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432,7</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445–455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4140">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EBITDA (USD juta)</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330,4</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340–350</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4140">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Laba bersih (USD juta)</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137,7</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150–160</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4140">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Produksi (GWh)</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5.095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5.255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648051" y="1252686"/>
          <a:ext cx="4089350" cy="1320701"/>
        </p:xfrm>
        <a:graphic>
          <a:graphicData uri="http://schemas.openxmlformats.org/drawingml/2006/table">
            <a:tbl>
              <a:tblPr/>
              <a:tblGrid>
                <a:gridCol w="1881101"/>
                <a:gridCol w="1104125"/>
                <a:gridCol w="1104125"/>
              </a:tblGrid>
              <a:tr h="264140">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Aktivitas Pemboran</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Realisasi 2025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Target 2026</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64140">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Pemboran eksplorasi</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0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5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4140">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Development dan make-up</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2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14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4140">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Kerja Ulang Reparasi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0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2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4140">
                <a:tc>
                  <a:txBody>
                    <a:bodyPr/>
                    <a:lstStyle/>
                    <a:p>
                      <a:pPr algn="l" indent="0" marL="0">
                        <a:buNone/>
                      </a:pPr>
                      <a:r>
                        <a:rPr lang="en-US" sz="800" b="1" dirty="0">
                          <a:solidFill>
                            <a:srgbClr val="16191D"/>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2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21 sumur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C1502E"/>
                </a:solidFill>
                <a:latin typeface="Arial" pitchFamily="34" charset="0"/>
                <a:ea typeface="Arial" pitchFamily="34" charset="-122"/>
                <a:cs typeface="Arial" pitchFamily="34" charset="-120"/>
              </a:rPr>
              <a:t>PGE · KUALITAS PELAPORAN</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Tujuh Inkonsistensi yang Perlu Diverifikasi</a:t>
            </a:r>
            <a:endParaRPr lang="en-US" sz="2400" dirty="0"/>
          </a:p>
        </p:txBody>
      </p:sp>
      <p:sp>
        <p:nvSpPr>
          <p:cNvPr id="4" name="Text 2"/>
          <p:cNvSpPr/>
          <p:nvPr/>
        </p:nvSpPr>
        <p:spPr>
          <a:xfrm>
            <a:off x="406301" y="865584"/>
            <a:ext cx="8419999" cy="157609"/>
          </a:xfrm>
          <a:prstGeom prst="rect">
            <a:avLst/>
          </a:prstGeom>
          <a:noFill/>
          <a:ln/>
        </p:spPr>
        <p:txBody>
          <a:bodyPr wrap="square" lIns="0" tIns="0" rIns="0" bIns="0" rtlCol="0" anchor="t"/>
          <a:lstStyle/>
          <a:p>
            <a:pPr algn="l" indent="0" marL="0">
              <a:lnSpc>
                <a:spcPts val="1242"/>
              </a:lnSpc>
              <a:spcBef>
                <a:spcPts val="600"/>
              </a:spcBef>
              <a:buNone/>
            </a:pPr>
            <a:r>
              <a:rPr lang="en-US" sz="900" dirty="0">
                <a:solidFill>
                  <a:srgbClr val="4A4F55"/>
                </a:solidFill>
                <a:latin typeface="Arial" pitchFamily="34" charset="0"/>
                <a:ea typeface="Arial" pitchFamily="34" charset="-122"/>
                <a:cs typeface="Arial" pitchFamily="34" charset="-120"/>
              </a:rPr>
              <a:t>Tidak satu pun mengubah kesimpulan analitis. Namun untuk emiten sekelas ini, butir 1 sampai 4 semestinya tertangkap dalam review internal.</a:t>
            </a:r>
            <a:endParaRPr lang="en-US" sz="900" dirty="0"/>
          </a:p>
        </p:txBody>
      </p:sp>
      <p:sp>
        <p:nvSpPr>
          <p:cNvPr id="5" name="Text 3"/>
          <p:cNvSpPr/>
          <p:nvPr/>
        </p:nvSpPr>
        <p:spPr>
          <a:xfrm>
            <a:off x="406301" y="1124694"/>
            <a:ext cx="8331398" cy="25301"/>
          </a:xfrm>
          <a:prstGeom prst="rect">
            <a:avLst/>
          </a:prstGeom>
          <a:solidFill>
            <a:srgbClr val="C1502E"/>
          </a:solidFill>
          <a:ln/>
        </p:spPr>
        <p:txBody>
          <a:bodyPr wrap="square" rtlCol="0" anchor="ctr"/>
          <a:lstStyle/>
          <a:p>
            <a:pPr indent="0" marL="0">
              <a:buNone/>
            </a:pPr>
            <a:endParaRPr lang="en-US" dirty="0"/>
          </a:p>
        </p:txBody>
      </p:sp>
      <p:sp>
        <p:nvSpPr>
          <p:cNvPr id="6" name="Text 4"/>
          <p:cNvSpPr/>
          <p:nvPr/>
        </p:nvSpPr>
        <p:spPr>
          <a:xfrm>
            <a:off x="406301" y="1315045"/>
            <a:ext cx="3989731" cy="316706"/>
          </a:xfrm>
          <a:prstGeom prst="rect">
            <a:avLst/>
          </a:prstGeom>
          <a:noFill/>
          <a:ln/>
        </p:spPr>
        <p:txBody>
          <a:bodyPr wrap="square" lIns="0" tIns="0" rIns="0" bIns="0" rtlCol="0" anchor="t"/>
          <a:lstStyle/>
          <a:p>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1.  Margin laba usaha 2023</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 disajikan 65,27%; perhitungan dari angka laporan sendiri (226.055/406.288) menghasilkan 55,64%</a:t>
            </a:r>
            <a:endParaRPr lang="en-US" sz="860" dirty="0"/>
          </a:p>
        </p:txBody>
      </p:sp>
      <p:sp>
        <p:nvSpPr>
          <p:cNvPr id="7" name="Text 5"/>
          <p:cNvSpPr/>
          <p:nvPr/>
        </p:nvSpPr>
        <p:spPr>
          <a:xfrm>
            <a:off x="406301" y="1720602"/>
            <a:ext cx="3989731" cy="316706"/>
          </a:xfrm>
          <a:prstGeom prst="rect">
            <a:avLst/>
          </a:prstGeom>
          <a:noFill/>
          <a:ln/>
        </p:spPr>
        <p:txBody>
          <a:bodyPr wrap="square" lIns="0" tIns="0" rIns="0" bIns="0" rtlCol="0" anchor="t"/>
          <a:lstStyle/>
          <a:p>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2.  Perputaran total aset tertukar</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 antar halaman: 14,35% dan 13,66% dibalik, dan muncul sebagai 0,14% di tabel ketiga</a:t>
            </a:r>
            <a:endParaRPr lang="en-US" sz="860" dirty="0"/>
          </a:p>
        </p:txBody>
      </p:sp>
      <p:sp>
        <p:nvSpPr>
          <p:cNvPr id="8" name="Text 6"/>
          <p:cNvSpPr/>
          <p:nvPr/>
        </p:nvSpPr>
        <p:spPr>
          <a:xfrm>
            <a:off x="406301" y="2126159"/>
            <a:ext cx="3989731" cy="316706"/>
          </a:xfrm>
          <a:prstGeom prst="rect">
            <a:avLst/>
          </a:prstGeom>
          <a:noFill/>
          <a:ln/>
        </p:spPr>
        <p:txBody>
          <a:bodyPr wrap="square" lIns="0" tIns="0" rIns="0" bIns="0" rtlCol="0" anchor="t"/>
          <a:lstStyle/>
          <a:p>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3.  Rasio modal terhadap aset</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 disajikan 67,41% di satu halaman dan 0,67% di halaman lain — kesalahan skala 100x</a:t>
            </a:r>
            <a:endParaRPr lang="en-US" sz="860" dirty="0"/>
          </a:p>
        </p:txBody>
      </p:sp>
      <p:sp>
        <p:nvSpPr>
          <p:cNvPr id="9" name="Text 7"/>
          <p:cNvSpPr/>
          <p:nvPr/>
        </p:nvSpPr>
        <p:spPr>
          <a:xfrm>
            <a:off x="406301" y="2531715"/>
            <a:ext cx="3989731" cy="316706"/>
          </a:xfrm>
          <a:prstGeom prst="rect">
            <a:avLst/>
          </a:prstGeom>
          <a:noFill/>
          <a:ln/>
        </p:spPr>
        <p:txBody>
          <a:bodyPr wrap="square" lIns="0" tIns="0" rIns="0" bIns="0" rtlCol="0" anchor="t"/>
          <a:lstStyle/>
          <a:p>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4.  Saldo laba</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 narasi menyebut USD333.350 naik 0,39%, kalimat berikutnya menyebut penurunan, tabel menunjukkan 331.486 turun 0,17%</a:t>
            </a:r>
            <a:endParaRPr lang="en-US" sz="860" dirty="0"/>
          </a:p>
        </p:txBody>
      </p:sp>
      <p:sp>
        <p:nvSpPr>
          <p:cNvPr id="10" name="Text 8"/>
          <p:cNvSpPr/>
          <p:nvPr/>
        </p:nvSpPr>
        <p:spPr>
          <a:xfrm>
            <a:off x="4419302" y="1315045"/>
            <a:ext cx="3989731" cy="316706"/>
          </a:xfrm>
          <a:prstGeom prst="rect">
            <a:avLst/>
          </a:prstGeom>
          <a:noFill/>
          <a:ln/>
        </p:spPr>
        <p:txBody>
          <a:bodyPr wrap="square" lIns="0" tIns="0" rIns="0" bIns="0" rtlCol="0" anchor="t"/>
          <a:lstStyle/>
          <a:p>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5.  Salah ketik angka</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 liabilitas jangka pendek 2024 ditulis USD227.926 ribu; angka yang benar 227.296</a:t>
            </a:r>
            <a:endParaRPr lang="en-US" sz="860" dirty="0"/>
          </a:p>
        </p:txBody>
      </p:sp>
      <p:sp>
        <p:nvSpPr>
          <p:cNvPr id="11" name="Text 9"/>
          <p:cNvSpPr/>
          <p:nvPr/>
        </p:nvSpPr>
        <p:spPr>
          <a:xfrm>
            <a:off x="4419302" y="1720602"/>
            <a:ext cx="3989731" cy="475059"/>
          </a:xfrm>
          <a:prstGeom prst="rect">
            <a:avLst/>
          </a:prstGeom>
          <a:noFill/>
          <a:ln/>
        </p:spPr>
        <p:txBody>
          <a:bodyPr wrap="square" lIns="0" tIns="0" rIns="0" bIns="0" rtlCol="0" anchor="t"/>
          <a:lstStyle/>
          <a:p>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6.  Catatan 37 laporan auditan</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 tabel reklasifikasi menunjukkan laba bruto 242.235 menjadi 240.399, tetapi kolom reklasifikasi kosong; selisih 1.836 tidak muncul</a:t>
            </a:r>
            <a:endParaRPr lang="en-US" sz="860" dirty="0"/>
          </a:p>
        </p:txBody>
      </p:sp>
      <p:sp>
        <p:nvSpPr>
          <p:cNvPr id="12" name="Text 10"/>
          <p:cNvSpPr/>
          <p:nvPr/>
        </p:nvSpPr>
        <p:spPr>
          <a:xfrm>
            <a:off x="4419302" y="2284512"/>
            <a:ext cx="3989731" cy="475059"/>
          </a:xfrm>
          <a:prstGeom prst="rect">
            <a:avLst/>
          </a:prstGeom>
          <a:noFill/>
          <a:ln/>
        </p:spPr>
        <p:txBody>
          <a:bodyPr wrap="square" lIns="0" tIns="0" rIns="0" bIns="0" rtlCol="0" anchor="t"/>
          <a:lstStyle/>
          <a:p>
            <a:pPr algn="l" indent="0" marL="0">
              <a:lnSpc>
                <a:spcPts val="1247"/>
              </a:lnSpc>
              <a:spcBef>
                <a:spcPts val="700"/>
              </a:spcBef>
              <a:buNone/>
            </a:pPr>
            <a:r>
              <a:rPr lang="en-US" sz="860" b="1" dirty="0">
                <a:solidFill>
                  <a:srgbClr val="2C3136"/>
                </a:solidFill>
                <a:latin typeface="Arial" pitchFamily="34" charset="0"/>
                <a:ea typeface="Arial" pitchFamily="34" charset="-122"/>
                <a:cs typeface="Arial" pitchFamily="34" charset="-120"/>
              </a:rPr>
              <a:t>7.  Metodologi rasio tidak diungkap</a:t>
            </a:r>
            <a:pPr algn="l" indent="0" marL="0">
              <a:lnSpc>
                <a:spcPts val="1247"/>
              </a:lnSpc>
              <a:spcBef>
                <a:spcPts val="700"/>
              </a:spcBef>
              <a:buNone/>
            </a:pPr>
            <a:r>
              <a:rPr lang="en-US" sz="860" dirty="0">
                <a:solidFill>
                  <a:srgbClr val="2C3136"/>
                </a:solidFill>
                <a:latin typeface="Arial" pitchFamily="34" charset="0"/>
                <a:ea typeface="Arial" pitchFamily="34" charset="-122"/>
                <a:cs typeface="Arial" pitchFamily="34" charset="-120"/>
              </a:rPr>
              <a:t> — ROI dilaporkan 24,04% (2025), 30,15% (2024), 30,90% (2023) dan tidak dapat direproduksi dari kombinasi angka mana pun yang disajikan</a:t>
            </a:r>
            <a:endParaRPr lang="en-US" sz="860" dirty="0"/>
          </a:p>
        </p:txBody>
      </p:sp>
      <p:sp>
        <p:nvSpPr>
          <p:cNvPr id="13" name="Text 11"/>
          <p:cNvSpPr/>
          <p:nvPr/>
        </p:nvSpPr>
        <p:spPr>
          <a:xfrm>
            <a:off x="4419302" y="2873871"/>
            <a:ext cx="3911501" cy="529977"/>
          </a:xfrm>
          <a:prstGeom prst="rect">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4419302" y="2888159"/>
            <a:ext cx="3911501" cy="0"/>
          </a:xfrm>
          <a:prstGeom prst="line">
            <a:avLst/>
          </a:prstGeom>
          <a:noFill/>
          <a:ln w="28575">
            <a:solidFill>
              <a:srgbClr val="B08327"/>
            </a:solidFill>
            <a:prstDash val="solid"/>
          </a:ln>
        </p:spPr>
      </p:sp>
      <p:sp>
        <p:nvSpPr>
          <p:cNvPr id="15" name="Text 13"/>
          <p:cNvSpPr/>
          <p:nvPr/>
        </p:nvSpPr>
        <p:spPr>
          <a:xfrm>
            <a:off x="4546253" y="3054697"/>
            <a:ext cx="3730752" cy="247650"/>
          </a:xfrm>
          <a:prstGeom prst="rect">
            <a:avLst/>
          </a:prstGeom>
          <a:noFill/>
          <a:ln/>
        </p:spPr>
        <p:txBody>
          <a:bodyPr wrap="square" lIns="0" tIns="0" rIns="0" bIns="0" rtlCol="0" anchor="t"/>
          <a:lstStyle/>
          <a:p>
            <a:pPr algn="l" indent="0" marL="0">
              <a:lnSpc>
                <a:spcPts val="975"/>
              </a:lnSpc>
              <a:spcBef>
                <a:spcPts val="400"/>
              </a:spcBef>
              <a:buNone/>
            </a:pPr>
            <a:r>
              <a:rPr lang="en-US" sz="780" dirty="0">
                <a:solidFill>
                  <a:srgbClr val="6E7379"/>
                </a:solidFill>
                <a:latin typeface="Arial" pitchFamily="34" charset="0"/>
                <a:ea typeface="Arial" pitchFamily="34" charset="-122"/>
                <a:cs typeface="Arial" pitchFamily="34" charset="-120"/>
              </a:rPr>
              <a:t>Terjemahan tidak cocok pada hal. 205: versi Indonesia menjelaskan penambahan pinjaman, versi Inggris membahas PSAK 223 dan beban pajak.</a:t>
            </a:r>
            <a:endParaRPr lang="en-US" sz="780" dirty="0"/>
          </a:p>
        </p:txBody>
      </p:sp>
      <p:sp>
        <p:nvSpPr>
          <p:cNvPr id="16" name="Text 14"/>
          <p:cNvSpPr/>
          <p:nvPr/>
        </p:nvSpPr>
        <p:spPr>
          <a:xfrm>
            <a:off x="406301" y="3784848"/>
            <a:ext cx="8331101" cy="548580"/>
          </a:xfrm>
          <a:prstGeom prst="rect">
            <a:avLst/>
          </a:prstGeom>
          <a:solidFill>
            <a:srgbClr val="16191D"/>
          </a:solidFill>
          <a:ln/>
        </p:spPr>
        <p:txBody>
          <a:bodyPr wrap="square" rtlCol="0" anchor="ctr"/>
          <a:lstStyle/>
          <a:p>
            <a:pPr indent="0" marL="0">
              <a:buNone/>
            </a:pPr>
            <a:endParaRPr lang="en-US" dirty="0"/>
          </a:p>
        </p:txBody>
      </p:sp>
      <p:sp>
        <p:nvSpPr>
          <p:cNvPr id="17" name="Text 15"/>
          <p:cNvSpPr/>
          <p:nvPr/>
        </p:nvSpPr>
        <p:spPr>
          <a:xfrm>
            <a:off x="558701" y="3911798"/>
            <a:ext cx="8186827" cy="294680"/>
          </a:xfrm>
          <a:prstGeom prst="rect">
            <a:avLst/>
          </a:prstGeom>
          <a:noFill/>
          <a:ln/>
        </p:spPr>
        <p:txBody>
          <a:bodyPr wrap="square" lIns="0" tIns="0" rIns="0" bIns="0" rtlCol="0" anchor="t"/>
          <a:lstStyle/>
          <a:p>
            <a:pPr algn="l" indent="0" marL="0">
              <a:lnSpc>
                <a:spcPts val="1161"/>
              </a:lnSpc>
              <a:buNone/>
            </a:pPr>
            <a:r>
              <a:rPr lang="en-US" sz="860" b="1" dirty="0">
                <a:solidFill>
                  <a:srgbClr val="E8845F"/>
                </a:solidFill>
                <a:latin typeface="Arial" pitchFamily="34" charset="0"/>
                <a:ea typeface="Arial" pitchFamily="34" charset="-122"/>
                <a:cs typeface="Arial" pitchFamily="34" charset="-120"/>
              </a:rPr>
              <a:t>Mengapa ini penting.</a:t>
            </a:r>
            <a:pPr algn="l" indent="0" marL="0">
              <a:lnSpc>
                <a:spcPts val="1161"/>
              </a:lnSpc>
              <a:buNone/>
            </a:pPr>
            <a:r>
              <a:rPr lang="en-US" sz="860" dirty="0">
                <a:solidFill>
                  <a:srgbClr val="F2EFE9"/>
                </a:solidFill>
                <a:latin typeface="Arial" pitchFamily="34" charset="0"/>
                <a:ea typeface="Arial" pitchFamily="34" charset="-122"/>
                <a:cs typeface="Arial" pitchFamily="34" charset="-120"/>
              </a:rPr>
              <a:t> Rasio yang disajikan berbeda antar halaman membuat pembaca tidak dapat memilih angka mana yang otoritatif, dan metodologi ROI yang tidak diungkap membuat salah satu rasio profitabilitas utama tidak dapat diuji siapa pun di luar Perseroan.</a:t>
            </a:r>
            <a:endParaRPr lang="en-US" sz="8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6191D"/>
          </a:solidFill>
          <a:ln/>
        </p:spPr>
        <p:txBody>
          <a:bodyPr wrap="square" rtlCol="0" anchor="ctr"/>
          <a:lstStyle/>
          <a:p>
            <a:pPr indent="0" marL="0">
              <a:buNone/>
            </a:pPr>
            <a:endParaRPr lang="en-US" dirty="0"/>
          </a:p>
        </p:txBody>
      </p:sp>
      <p:sp>
        <p:nvSpPr>
          <p:cNvPr id="3" name="Text 1"/>
          <p:cNvSpPr/>
          <p:nvPr/>
        </p:nvSpPr>
        <p:spPr>
          <a:xfrm>
            <a:off x="584150" y="685800"/>
            <a:ext cx="762000" cy="50750"/>
          </a:xfrm>
          <a:prstGeom prst="rect">
            <a:avLst/>
          </a:prstGeom>
          <a:solidFill>
            <a:srgbClr val="2E7D91"/>
          </a:solidFill>
          <a:ln/>
        </p:spPr>
        <p:txBody>
          <a:bodyPr wrap="square" rtlCol="0" anchor="ctr"/>
          <a:lstStyle/>
          <a:p>
            <a:pPr indent="0" marL="0">
              <a:buNone/>
            </a:pPr>
            <a:endParaRPr lang="en-US" dirty="0"/>
          </a:p>
        </p:txBody>
      </p:sp>
      <p:sp>
        <p:nvSpPr>
          <p:cNvPr id="4" name="Text 2"/>
          <p:cNvSpPr/>
          <p:nvPr/>
        </p:nvSpPr>
        <p:spPr>
          <a:xfrm>
            <a:off x="584150" y="939701"/>
            <a:ext cx="8135213" cy="1219200"/>
          </a:xfrm>
          <a:prstGeom prst="rect">
            <a:avLst/>
          </a:prstGeom>
          <a:noFill/>
          <a:ln/>
        </p:spPr>
        <p:txBody>
          <a:bodyPr wrap="square" lIns="0" tIns="0" rIns="0" bIns="0" rtlCol="0" anchor="t"/>
          <a:lstStyle/>
          <a:p>
            <a:pPr algn="l" indent="0" marL="0">
              <a:lnSpc>
                <a:spcPts val="9600"/>
              </a:lnSpc>
              <a:spcBef>
                <a:spcPts val="1600"/>
              </a:spcBef>
              <a:buNone/>
            </a:pPr>
            <a:r>
              <a:rPr lang="en-US" sz="9600" b="1" dirty="0">
                <a:solidFill>
                  <a:srgbClr val="2E7D91"/>
                </a:solidFill>
                <a:latin typeface="Georgia" pitchFamily="34" charset="0"/>
                <a:ea typeface="Georgia" pitchFamily="34" charset="-122"/>
                <a:cs typeface="Georgia" pitchFamily="34" charset="-120"/>
              </a:rPr>
              <a:t>02</a:t>
            </a:r>
            <a:endParaRPr lang="en-US" sz="9600" dirty="0"/>
          </a:p>
        </p:txBody>
      </p:sp>
      <p:sp>
        <p:nvSpPr>
          <p:cNvPr id="5" name="Text 3"/>
          <p:cNvSpPr/>
          <p:nvPr/>
        </p:nvSpPr>
        <p:spPr>
          <a:xfrm>
            <a:off x="584150" y="2260402"/>
            <a:ext cx="8135213" cy="438894"/>
          </a:xfrm>
          <a:prstGeom prst="rect">
            <a:avLst/>
          </a:prstGeom>
          <a:noFill/>
          <a:ln/>
        </p:spPr>
        <p:txBody>
          <a:bodyPr wrap="square" lIns="0" tIns="0" rIns="0" bIns="0" rtlCol="0" anchor="t"/>
          <a:lstStyle/>
          <a:p>
            <a:pPr algn="l" indent="0" marL="0">
              <a:lnSpc>
                <a:spcPts val="3456"/>
              </a:lnSpc>
              <a:spcBef>
                <a:spcPts val="800"/>
              </a:spcBef>
              <a:buNone/>
            </a:pPr>
            <a:r>
              <a:rPr lang="en-US" sz="3200" b="1" dirty="0">
                <a:solidFill>
                  <a:srgbClr val="F2EFE9"/>
                </a:solidFill>
                <a:latin typeface="Arial" pitchFamily="34" charset="0"/>
                <a:ea typeface="Arial" pitchFamily="34" charset="-122"/>
                <a:cs typeface="Arial" pitchFamily="34" charset="-120"/>
              </a:rPr>
              <a:t>PT Bank Mandiri (Persero) Tbk</a:t>
            </a:r>
            <a:endParaRPr lang="en-US" sz="3200" dirty="0"/>
          </a:p>
        </p:txBody>
      </p:sp>
      <p:sp>
        <p:nvSpPr>
          <p:cNvPr id="6" name="Text 4"/>
          <p:cNvSpPr/>
          <p:nvPr/>
        </p:nvSpPr>
        <p:spPr>
          <a:xfrm>
            <a:off x="584150" y="2851696"/>
            <a:ext cx="7513269" cy="385465"/>
          </a:xfrm>
          <a:prstGeom prst="rect">
            <a:avLst/>
          </a:prstGeom>
          <a:noFill/>
          <a:ln/>
        </p:spPr>
        <p:txBody>
          <a:bodyPr wrap="square" lIns="0" tIns="0" rIns="0" bIns="0" rtlCol="0" anchor="t"/>
          <a:lstStyle/>
          <a:p>
            <a:pPr algn="l" indent="0" marL="0">
              <a:lnSpc>
                <a:spcPts val="1518"/>
              </a:lnSpc>
              <a:spcBef>
                <a:spcPts val="1200"/>
              </a:spcBef>
              <a:buNone/>
            </a:pPr>
            <a:r>
              <a:rPr lang="en-US" sz="1100" dirty="0">
                <a:solidFill>
                  <a:srgbClr val="B9BEC4"/>
                </a:solidFill>
                <a:latin typeface="Arial" pitchFamily="34" charset="0"/>
                <a:ea typeface="Arial" pitchFamily="34" charset="-122"/>
                <a:cs typeface="Arial" pitchFamily="34" charset="-120"/>
              </a:rPr>
              <a:t>Laporan Keberlanjutan 2025 — POJK 51/2017, GRI 2021, SASB, TCFD, dan early adoption IFRS S1 dan S2 yang di Indonesia diadopsi menjadi PSPK 1 dan 2.</a:t>
            </a:r>
            <a:endParaRPr lang="en-US" sz="1100" dirty="0"/>
          </a:p>
        </p:txBody>
      </p:sp>
      <p:sp>
        <p:nvSpPr>
          <p:cNvPr id="7" name="Text 5"/>
          <p:cNvSpPr/>
          <p:nvPr/>
        </p:nvSpPr>
        <p:spPr>
          <a:xfrm>
            <a:off x="584150" y="3567261"/>
            <a:ext cx="7975550" cy="12650"/>
          </a:xfrm>
          <a:prstGeom prst="rect">
            <a:avLst/>
          </a:prstGeom>
          <a:solidFill>
            <a:srgbClr val="3A4046"/>
          </a:solidFill>
          <a:ln/>
        </p:spPr>
        <p:txBody>
          <a:bodyPr wrap="square" rtlCol="0" anchor="ctr"/>
          <a:lstStyle/>
          <a:p>
            <a:pPr indent="0" marL="0">
              <a:buNone/>
            </a:pPr>
            <a:endParaRPr lang="en-US" dirty="0"/>
          </a:p>
        </p:txBody>
      </p:sp>
      <p:sp>
        <p:nvSpPr>
          <p:cNvPr id="8" name="Text 6"/>
          <p:cNvSpPr/>
          <p:nvPr/>
        </p:nvSpPr>
        <p:spPr>
          <a:xfrm>
            <a:off x="584150"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TOTAL ASET</a:t>
            </a:r>
            <a:endParaRPr lang="en-US" sz="680" dirty="0"/>
          </a:p>
        </p:txBody>
      </p:sp>
      <p:sp>
        <p:nvSpPr>
          <p:cNvPr id="9" name="Text 7"/>
          <p:cNvSpPr/>
          <p:nvPr/>
        </p:nvSpPr>
        <p:spPr>
          <a:xfrm>
            <a:off x="584150"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Rp2.830 T</a:t>
            </a:r>
            <a:endParaRPr lang="en-US" sz="1700" dirty="0"/>
          </a:p>
        </p:txBody>
      </p:sp>
      <p:sp>
        <p:nvSpPr>
          <p:cNvPr id="10" name="Text 8"/>
          <p:cNvSpPr/>
          <p:nvPr/>
        </p:nvSpPr>
        <p:spPr>
          <a:xfrm>
            <a:off x="2578001"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LABA BERSIH</a:t>
            </a:r>
            <a:endParaRPr lang="en-US" sz="680" dirty="0"/>
          </a:p>
        </p:txBody>
      </p:sp>
      <p:sp>
        <p:nvSpPr>
          <p:cNvPr id="11" name="Text 9"/>
          <p:cNvSpPr/>
          <p:nvPr/>
        </p:nvSpPr>
        <p:spPr>
          <a:xfrm>
            <a:off x="2578001"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Rp56,3 T</a:t>
            </a:r>
            <a:endParaRPr lang="en-US" sz="1700" dirty="0"/>
          </a:p>
        </p:txBody>
      </p:sp>
      <p:sp>
        <p:nvSpPr>
          <p:cNvPr id="12" name="Text 10"/>
          <p:cNvSpPr/>
          <p:nvPr/>
        </p:nvSpPr>
        <p:spPr>
          <a:xfrm>
            <a:off x="4571851"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PEMBIAYAAN BERKELANJUTAN</a:t>
            </a:r>
            <a:endParaRPr lang="en-US" sz="680" dirty="0"/>
          </a:p>
        </p:txBody>
      </p:sp>
      <p:sp>
        <p:nvSpPr>
          <p:cNvPr id="13" name="Text 11"/>
          <p:cNvSpPr/>
          <p:nvPr/>
        </p:nvSpPr>
        <p:spPr>
          <a:xfrm>
            <a:off x="4571851"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Rp315,8 T</a:t>
            </a:r>
            <a:endParaRPr lang="en-US" sz="1700" dirty="0"/>
          </a:p>
        </p:txBody>
      </p:sp>
      <p:sp>
        <p:nvSpPr>
          <p:cNvPr id="14" name="Text 12"/>
          <p:cNvSpPr/>
          <p:nvPr/>
        </p:nvSpPr>
        <p:spPr>
          <a:xfrm>
            <a:off x="6565702" y="3783062"/>
            <a:ext cx="2033727" cy="95250"/>
          </a:xfrm>
          <a:prstGeom prst="rect">
            <a:avLst/>
          </a:prstGeom>
          <a:noFill/>
          <a:ln/>
        </p:spPr>
        <p:txBody>
          <a:bodyPr wrap="square" lIns="0" tIns="0" rIns="0" bIns="0" rtlCol="0" anchor="t"/>
          <a:lstStyle/>
          <a:p>
            <a:pPr algn="l" indent="0" marL="0">
              <a:buNone/>
            </a:pPr>
            <a:r>
              <a:rPr lang="en-US" sz="680" b="1" dirty="0">
                <a:solidFill>
                  <a:srgbClr val="8B9096"/>
                </a:solidFill>
                <a:latin typeface="Arial" pitchFamily="34" charset="0"/>
                <a:ea typeface="Arial" pitchFamily="34" charset="-122"/>
                <a:cs typeface="Arial" pitchFamily="34" charset="-120"/>
              </a:rPr>
              <a:t>FINANCED EMISSIONS</a:t>
            </a:r>
            <a:endParaRPr lang="en-US" sz="680" dirty="0"/>
          </a:p>
        </p:txBody>
      </p:sp>
      <p:sp>
        <p:nvSpPr>
          <p:cNvPr id="15" name="Text 13"/>
          <p:cNvSpPr/>
          <p:nvPr/>
        </p:nvSpPr>
        <p:spPr>
          <a:xfrm>
            <a:off x="6565702" y="3929063"/>
            <a:ext cx="2033727" cy="257175"/>
          </a:xfrm>
          <a:prstGeom prst="rect">
            <a:avLst/>
          </a:prstGeom>
          <a:noFill/>
          <a:ln/>
        </p:spPr>
        <p:txBody>
          <a:bodyPr wrap="square" lIns="0" tIns="0" rIns="0" bIns="0" rtlCol="0" anchor="t"/>
          <a:lstStyle/>
          <a:p>
            <a:pPr algn="l" indent="0" marL="0">
              <a:spcBef>
                <a:spcPts val="400"/>
              </a:spcBef>
              <a:buNone/>
            </a:pPr>
            <a:r>
              <a:rPr lang="en-US" sz="1700" b="1" dirty="0">
                <a:solidFill>
                  <a:srgbClr val="F2EFE9"/>
                </a:solidFill>
                <a:latin typeface="Arial" pitchFamily="34" charset="0"/>
                <a:ea typeface="Arial" pitchFamily="34" charset="-122"/>
                <a:cs typeface="Arial" pitchFamily="34" charset="-120"/>
              </a:rPr>
              <a:t>20,3 jt tCO2e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FINANCIAL HIGHLIGHTS</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Kinerja Ekonomi Konsolidasian</a:t>
            </a:r>
            <a:endParaRPr lang="en-US" sz="2400" dirty="0"/>
          </a:p>
        </p:txBody>
      </p:sp>
      <p:sp>
        <p:nvSpPr>
          <p:cNvPr id="4" name="Text 2"/>
          <p:cNvSpPr/>
          <p:nvPr/>
        </p:nvSpPr>
        <p:spPr>
          <a:xfrm>
            <a:off x="406301" y="865584"/>
            <a:ext cx="8419999" cy="315218"/>
          </a:xfrm>
          <a:prstGeom prst="rect">
            <a:avLst/>
          </a:prstGeom>
          <a:noFill/>
          <a:ln/>
        </p:spPr>
        <p:txBody>
          <a:bodyPr wrap="square" lIns="0" tIns="0" rIns="0" bIns="0" rtlCol="0" anchor="t"/>
          <a:lstStyle/>
          <a:p>
            <a:pPr algn="l" indent="0" marL="0">
              <a:lnSpc>
                <a:spcPts val="1242"/>
              </a:lnSpc>
              <a:spcBef>
                <a:spcPts val="600"/>
              </a:spcBef>
              <a:buNone/>
            </a:pPr>
            <a:r>
              <a:rPr lang="en-US" sz="900" dirty="0">
                <a:solidFill>
                  <a:srgbClr val="4A4F55"/>
                </a:solidFill>
                <a:latin typeface="Arial" pitchFamily="34" charset="0"/>
                <a:ea typeface="Arial" pitchFamily="34" charset="-122"/>
                <a:cs typeface="Arial" pitchFamily="34" charset="-120"/>
              </a:rPr>
              <a:t>Aset tumbuh 16,6% dan DPK 24,0%, namun laba bersih hanya naik 0,9%. Ekspansi neraca tidak diikuti ekspansi laba — margin dan efisiensi tergerus di seluruh lini.</a:t>
            </a:r>
            <a:endParaRPr lang="en-US" sz="900" dirty="0"/>
          </a:p>
        </p:txBody>
      </p:sp>
      <p:sp>
        <p:nvSpPr>
          <p:cNvPr id="5" name="Text 3"/>
          <p:cNvSpPr/>
          <p:nvPr/>
        </p:nvSpPr>
        <p:spPr>
          <a:xfrm>
            <a:off x="406301" y="1282303"/>
            <a:ext cx="8331398" cy="25301"/>
          </a:xfrm>
          <a:prstGeom prst="rect">
            <a:avLst/>
          </a:prstGeom>
          <a:solidFill>
            <a:srgbClr val="154C5B"/>
          </a:solidFill>
          <a:ln/>
        </p:spPr>
        <p:txBody>
          <a:bodyPr wrap="square" rtlCol="0" anchor="ctr"/>
          <a:lstStyle/>
          <a:p>
            <a:pPr indent="0" marL="0">
              <a:buNone/>
            </a:pPr>
            <a:endParaRPr lang="en-US"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06301" y="1409105"/>
          <a:ext cx="8331101" cy="3073301"/>
        </p:xfrm>
        <a:graphic>
          <a:graphicData uri="http://schemas.openxmlformats.org/drawingml/2006/table">
            <a:tbl>
              <a:tblPr/>
              <a:tblGrid>
                <a:gridCol w="3832306"/>
                <a:gridCol w="1499598"/>
                <a:gridCol w="1499598"/>
                <a:gridCol w="1499598"/>
              </a:tblGrid>
              <a:tr h="204887">
                <a:tc>
                  <a:txBody>
                    <a:bodyPr/>
                    <a:lstStyle/>
                    <a:p>
                      <a:pPr algn="l" indent="0" marL="0">
                        <a:buNone/>
                      </a:pPr>
                      <a:r>
                        <a:rPr lang="en-US" sz="740" b="1" dirty="0">
                          <a:solidFill>
                            <a:srgbClr val="FFFFFF"/>
                          </a:solidFill>
                          <a:latin typeface="Arial" pitchFamily="34" charset="0"/>
                          <a:ea typeface="Arial" pitchFamily="34" charset="-122"/>
                          <a:cs typeface="Arial" pitchFamily="34" charset="-120"/>
                        </a:rPr>
                        <a:t>Uraian  (Rp triliun, konsolidasi)</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2025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2024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Δ %</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04887">
                <a:tc gridSpan="4">
                  <a:txBody>
                    <a:bodyPr/>
                    <a:lstStyle/>
                    <a:p>
                      <a:pPr algn="l" indent="0" marL="0">
                        <a:buNone/>
                      </a:pPr>
                      <a:r>
                        <a:rPr lang="en-US" sz="700" b="1" dirty="0">
                          <a:solidFill>
                            <a:srgbClr val="16191D"/>
                          </a:solidFill>
                          <a:latin typeface="Arial" pitchFamily="34" charset="0"/>
                          <a:ea typeface="Arial" pitchFamily="34" charset="-122"/>
                          <a:cs typeface="Arial" pitchFamily="34" charset="-120"/>
                        </a:rPr>
                        <a:t>POSISI KEUANGAN</a:t>
                      </a:r>
                      <a:endParaRPr lang="en-US" sz="7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DCD6CB"/>
                    </a:solidFill>
                  </a:tcPr>
                </a:tc>
                <a:tc hMerge="1">
                  <a:tcPr/>
                </a:tc>
                <a:tc hMerge="1">
                  <a:tcPr/>
                </a:tc>
                <a:tc hMerge="1">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Total aset</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2.829,95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2.427,22</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+16,6%</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Kredit dan pembiayaan bank</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1.894,98</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1.670,55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+13,4%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Dana pihak ketiga</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2.105,76</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1.698,90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+24,0%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Total liabilitas</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2.536,20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2.143,43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+18,3%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gridSpan="4">
                  <a:txBody>
                    <a:bodyPr/>
                    <a:lstStyle/>
                    <a:p>
                      <a:pPr algn="l" indent="0" marL="0">
                        <a:buNone/>
                      </a:pPr>
                      <a:r>
                        <a:rPr lang="en-US" sz="700" b="1" dirty="0">
                          <a:solidFill>
                            <a:srgbClr val="16191D"/>
                          </a:solidFill>
                          <a:latin typeface="Arial" pitchFamily="34" charset="0"/>
                          <a:ea typeface="Arial" pitchFamily="34" charset="-122"/>
                          <a:cs typeface="Arial" pitchFamily="34" charset="-120"/>
                        </a:rPr>
                        <a:t>NILAI EKONOMI</a:t>
                      </a:r>
                      <a:endParaRPr lang="en-US" sz="7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DCD6CB"/>
                    </a:solidFill>
                  </a:tcPr>
                </a:tc>
                <a:tc hMerge="1">
                  <a:tcPr/>
                </a:tc>
                <a:tc hMerge="1">
                  <a:tcPr/>
                </a:tc>
                <a:tc hMerge="1">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Pendapatan bunga</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139,65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129,64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+7,7%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Pendapatan syariah</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24,76</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21,60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+14,7%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Pendapatan provisi dan komisi lainnya</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27,55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23,45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+17,5%</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b="1" dirty="0">
                          <a:solidFill>
                            <a:srgbClr val="16191D"/>
                          </a:solidFill>
                          <a:latin typeface="Arial" pitchFamily="34" charset="0"/>
                          <a:ea typeface="Arial" pitchFamily="34" charset="-122"/>
                          <a:cs typeface="Arial" pitchFamily="34" charset="-120"/>
                        </a:rPr>
                        <a:t>Nilai ekonomi yang dihasilkan</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16191D"/>
                          </a:solidFill>
                          <a:latin typeface="Arial" pitchFamily="34" charset="0"/>
                          <a:ea typeface="Arial" pitchFamily="34" charset="-122"/>
                          <a:cs typeface="Arial" pitchFamily="34" charset="-120"/>
                        </a:rPr>
                        <a:t>213,43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16191D"/>
                          </a:solidFill>
                          <a:latin typeface="Arial" pitchFamily="34" charset="0"/>
                          <a:ea typeface="Arial" pitchFamily="34" charset="-122"/>
                          <a:cs typeface="Arial" pitchFamily="34" charset="-120"/>
                        </a:rPr>
                        <a:t>206,66</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740" b="1" dirty="0">
                          <a:solidFill>
                            <a:srgbClr val="4A7C59"/>
                          </a:solidFill>
                          <a:latin typeface="Arial" pitchFamily="34" charset="0"/>
                          <a:ea typeface="Arial" pitchFamily="34" charset="-122"/>
                          <a:cs typeface="Arial" pitchFamily="34" charset="-120"/>
                        </a:rPr>
                        <a:t>+3,3%</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Beban gaji dan tunjangan pegawai</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26,64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23,99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+11,0%</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Pembayaran dividen kepada pemegang saham</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43,51</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33,04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+31,7%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dirty="0">
                          <a:solidFill>
                            <a:srgbClr val="16191D"/>
                          </a:solidFill>
                          <a:latin typeface="Arial" pitchFamily="34" charset="0"/>
                          <a:ea typeface="Arial" pitchFamily="34" charset="-122"/>
                          <a:cs typeface="Arial" pitchFamily="34" charset="-120"/>
                        </a:rPr>
                        <a:t>Pembayaran kepada pemerintah (pajak, retribusi)</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15,07</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dirty="0">
                          <a:solidFill>
                            <a:srgbClr val="16191D"/>
                          </a:solidFill>
                          <a:latin typeface="Arial" pitchFamily="34" charset="0"/>
                          <a:ea typeface="Arial" pitchFamily="34" charset="-122"/>
                          <a:cs typeface="Arial" pitchFamily="34" charset="-120"/>
                        </a:rPr>
                        <a:t>15,24</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40" b="1" dirty="0">
                          <a:solidFill>
                            <a:srgbClr val="6E7379"/>
                          </a:solidFill>
                          <a:latin typeface="Arial" pitchFamily="34" charset="0"/>
                          <a:ea typeface="Arial" pitchFamily="34" charset="-122"/>
                          <a:cs typeface="Arial" pitchFamily="34" charset="-120"/>
                        </a:rPr>
                        <a:t>−1,1%</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04887">
                <a:tc>
                  <a:txBody>
                    <a:bodyPr/>
                    <a:lstStyle/>
                    <a:p>
                      <a:pPr algn="l" indent="0" marL="0">
                        <a:buNone/>
                      </a:pPr>
                      <a:r>
                        <a:rPr lang="en-US" sz="740" b="1" dirty="0">
                          <a:solidFill>
                            <a:srgbClr val="FFFFFF"/>
                          </a:solidFill>
                          <a:latin typeface="Arial" pitchFamily="34" charset="0"/>
                          <a:ea typeface="Arial" pitchFamily="34" charset="-122"/>
                          <a:cs typeface="Arial" pitchFamily="34" charset="-120"/>
                        </a:rPr>
                        <a:t>Laba bersih</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56,29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FFFFFF"/>
                          </a:solidFill>
                          <a:latin typeface="Arial" pitchFamily="34" charset="0"/>
                          <a:ea typeface="Arial" pitchFamily="34" charset="-122"/>
                          <a:cs typeface="Arial" pitchFamily="34" charset="-120"/>
                        </a:rPr>
                        <a:t>55,78</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40" b="1" dirty="0">
                          <a:solidFill>
                            <a:srgbClr val="E8845F"/>
                          </a:solidFill>
                          <a:latin typeface="Arial" pitchFamily="34" charset="0"/>
                          <a:ea typeface="Arial" pitchFamily="34" charset="-122"/>
                          <a:cs typeface="Arial" pitchFamily="34" charset="-120"/>
                        </a:rPr>
                        <a:t>+0,9%</a:t>
                      </a:r>
                      <a:endParaRPr lang="en-US" sz="74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FINANCIAL HEALTH</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Kualitas Aset Terjaga, Profitabilitas Menyempit</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406301"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6301" y="1095524"/>
            <a:ext cx="2006501" cy="0"/>
          </a:xfrm>
          <a:prstGeom prst="line">
            <a:avLst/>
          </a:prstGeom>
          <a:noFill/>
          <a:ln w="28575">
            <a:solidFill>
              <a:srgbClr val="4A7C59"/>
            </a:solidFill>
            <a:prstDash val="solid"/>
          </a:ln>
        </p:spPr>
      </p:sp>
      <p:sp>
        <p:nvSpPr>
          <p:cNvPr id="7" name="Text 5"/>
          <p:cNvSpPr/>
          <p:nvPr/>
        </p:nvSpPr>
        <p:spPr>
          <a:xfrm>
            <a:off x="533251"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RETURN ON EQUITY</a:t>
            </a:r>
            <a:endParaRPr lang="en-US" sz="680" dirty="0"/>
          </a:p>
        </p:txBody>
      </p:sp>
      <p:sp>
        <p:nvSpPr>
          <p:cNvPr id="8" name="Text 6"/>
          <p:cNvSpPr/>
          <p:nvPr/>
        </p:nvSpPr>
        <p:spPr>
          <a:xfrm>
            <a:off x="533251"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23,15%</a:t>
            </a:r>
            <a:endParaRPr lang="en-US" sz="1900" dirty="0"/>
          </a:p>
        </p:txBody>
      </p:sp>
      <p:sp>
        <p:nvSpPr>
          <p:cNvPr id="9" name="Text 7"/>
          <p:cNvSpPr/>
          <p:nvPr/>
        </p:nvSpPr>
        <p:spPr>
          <a:xfrm>
            <a:off x="533251"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dari 24,19% dan 27,31%</a:t>
            </a:r>
            <a:endParaRPr lang="en-US" sz="720" dirty="0"/>
          </a:p>
        </p:txBody>
      </p:sp>
      <p:sp>
        <p:nvSpPr>
          <p:cNvPr id="10" name="Text 8"/>
          <p:cNvSpPr/>
          <p:nvPr/>
        </p:nvSpPr>
        <p:spPr>
          <a:xfrm>
            <a:off x="2514302"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2514302" y="1095524"/>
            <a:ext cx="2006501" cy="0"/>
          </a:xfrm>
          <a:prstGeom prst="line">
            <a:avLst/>
          </a:prstGeom>
          <a:noFill/>
          <a:ln w="28575">
            <a:solidFill>
              <a:srgbClr val="4A7C59"/>
            </a:solidFill>
            <a:prstDash val="solid"/>
          </a:ln>
        </p:spPr>
      </p:sp>
      <p:sp>
        <p:nvSpPr>
          <p:cNvPr id="12" name="Text 10"/>
          <p:cNvSpPr/>
          <p:nvPr/>
        </p:nvSpPr>
        <p:spPr>
          <a:xfrm>
            <a:off x="2641253"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NPL GROSS</a:t>
            </a:r>
            <a:endParaRPr lang="en-US" sz="680" dirty="0"/>
          </a:p>
        </p:txBody>
      </p:sp>
      <p:sp>
        <p:nvSpPr>
          <p:cNvPr id="13" name="Text 11"/>
          <p:cNvSpPr/>
          <p:nvPr/>
        </p:nvSpPr>
        <p:spPr>
          <a:xfrm>
            <a:off x="2641253"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0,96%</a:t>
            </a:r>
            <a:endParaRPr lang="en-US" sz="1900" dirty="0"/>
          </a:p>
        </p:txBody>
      </p:sp>
      <p:sp>
        <p:nvSpPr>
          <p:cNvPr id="14" name="Text 12"/>
          <p:cNvSpPr/>
          <p:nvPr/>
        </p:nvSpPr>
        <p:spPr>
          <a:xfrm>
            <a:off x="2641253"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Membaik dari 0,97% dan 1,02%</a:t>
            </a:r>
            <a:endParaRPr lang="en-US" sz="720" dirty="0"/>
          </a:p>
        </p:txBody>
      </p:sp>
      <p:sp>
        <p:nvSpPr>
          <p:cNvPr id="15" name="Text 13"/>
          <p:cNvSpPr/>
          <p:nvPr/>
        </p:nvSpPr>
        <p:spPr>
          <a:xfrm>
            <a:off x="4622304"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4622304" y="1095524"/>
            <a:ext cx="2006501" cy="0"/>
          </a:xfrm>
          <a:prstGeom prst="line">
            <a:avLst/>
          </a:prstGeom>
          <a:noFill/>
          <a:ln w="28575">
            <a:solidFill>
              <a:srgbClr val="4A7C59"/>
            </a:solidFill>
            <a:prstDash val="solid"/>
          </a:ln>
        </p:spPr>
      </p:sp>
      <p:sp>
        <p:nvSpPr>
          <p:cNvPr id="17" name="Text 15"/>
          <p:cNvSpPr/>
          <p:nvPr/>
        </p:nvSpPr>
        <p:spPr>
          <a:xfrm>
            <a:off x="4749254"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KPMM / CAR</a:t>
            </a:r>
            <a:endParaRPr lang="en-US" sz="680" dirty="0"/>
          </a:p>
        </p:txBody>
      </p:sp>
      <p:sp>
        <p:nvSpPr>
          <p:cNvPr id="18" name="Text 16"/>
          <p:cNvSpPr/>
          <p:nvPr/>
        </p:nvSpPr>
        <p:spPr>
          <a:xfrm>
            <a:off x="4749254"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19,36%</a:t>
            </a:r>
            <a:endParaRPr lang="en-US" sz="1900" dirty="0"/>
          </a:p>
        </p:txBody>
      </p:sp>
      <p:sp>
        <p:nvSpPr>
          <p:cNvPr id="19" name="Text 17"/>
          <p:cNvSpPr/>
          <p:nvPr/>
        </p:nvSpPr>
        <p:spPr>
          <a:xfrm>
            <a:off x="4749254" y="1649462"/>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Jauh di atas ambang, turun dari 20,10%</a:t>
            </a:r>
            <a:endParaRPr lang="en-US" sz="720" dirty="0"/>
          </a:p>
        </p:txBody>
      </p:sp>
      <p:sp>
        <p:nvSpPr>
          <p:cNvPr id="20" name="Text 18"/>
          <p:cNvSpPr/>
          <p:nvPr/>
        </p:nvSpPr>
        <p:spPr>
          <a:xfrm>
            <a:off x="6730305" y="1081236"/>
            <a:ext cx="2006501" cy="910828"/>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730305" y="1095524"/>
            <a:ext cx="2006501" cy="0"/>
          </a:xfrm>
          <a:prstGeom prst="line">
            <a:avLst/>
          </a:prstGeom>
          <a:noFill/>
          <a:ln w="28575">
            <a:solidFill>
              <a:srgbClr val="4A7C59"/>
            </a:solidFill>
            <a:prstDash val="solid"/>
          </a:ln>
        </p:spPr>
      </p:sp>
      <p:sp>
        <p:nvSpPr>
          <p:cNvPr id="22" name="Text 20"/>
          <p:cNvSpPr/>
          <p:nvPr/>
        </p:nvSpPr>
        <p:spPr>
          <a:xfrm>
            <a:off x="6857256" y="1224111"/>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LDR</a:t>
            </a:r>
            <a:endParaRPr lang="en-US" sz="680" dirty="0"/>
          </a:p>
        </p:txBody>
      </p:sp>
      <p:sp>
        <p:nvSpPr>
          <p:cNvPr id="23" name="Text 21"/>
          <p:cNvSpPr/>
          <p:nvPr/>
        </p:nvSpPr>
        <p:spPr>
          <a:xfrm>
            <a:off x="6857256" y="1357461"/>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88,92%</a:t>
            </a:r>
            <a:endParaRPr lang="en-US" sz="1900" dirty="0"/>
          </a:p>
        </p:txBody>
      </p:sp>
      <p:sp>
        <p:nvSpPr>
          <p:cNvPr id="24" name="Text 22"/>
          <p:cNvSpPr/>
          <p:nvPr/>
        </p:nvSpPr>
        <p:spPr>
          <a:xfrm>
            <a:off x="6857256" y="1649462"/>
            <a:ext cx="1787652" cy="228302"/>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tajam dari 98,04%; likuiditas melonggar</a:t>
            </a:r>
            <a:endParaRPr lang="en-US" sz="720" dirty="0"/>
          </a:p>
        </p:txBody>
      </p:sp>
      <p:sp>
        <p:nvSpPr>
          <p:cNvPr id="25" name="Text 23"/>
          <p:cNvSpPr/>
          <p:nvPr/>
        </p:nvSpPr>
        <p:spPr>
          <a:xfrm>
            <a:off x="406301" y="2080915"/>
            <a:ext cx="2006501" cy="796677"/>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406301" y="2095202"/>
            <a:ext cx="2006501" cy="0"/>
          </a:xfrm>
          <a:prstGeom prst="line">
            <a:avLst/>
          </a:prstGeom>
          <a:noFill/>
          <a:ln w="28575">
            <a:solidFill>
              <a:srgbClr val="B08327"/>
            </a:solidFill>
            <a:prstDash val="solid"/>
          </a:ln>
        </p:spPr>
      </p:sp>
      <p:sp>
        <p:nvSpPr>
          <p:cNvPr id="27" name="Text 25"/>
          <p:cNvSpPr/>
          <p:nvPr/>
        </p:nvSpPr>
        <p:spPr>
          <a:xfrm>
            <a:off x="533251"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RETURN ON ASSETS</a:t>
            </a:r>
            <a:endParaRPr lang="en-US" sz="680" dirty="0"/>
          </a:p>
        </p:txBody>
      </p:sp>
      <p:sp>
        <p:nvSpPr>
          <p:cNvPr id="28" name="Text 26"/>
          <p:cNvSpPr/>
          <p:nvPr/>
        </p:nvSpPr>
        <p:spPr>
          <a:xfrm>
            <a:off x="533251"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3,19%</a:t>
            </a:r>
            <a:endParaRPr lang="en-US" sz="1900" dirty="0"/>
          </a:p>
        </p:txBody>
      </p:sp>
      <p:sp>
        <p:nvSpPr>
          <p:cNvPr id="29" name="Text 27"/>
          <p:cNvSpPr/>
          <p:nvPr/>
        </p:nvSpPr>
        <p:spPr>
          <a:xfrm>
            <a:off x="533251" y="2649141"/>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dari 3,59% dan 4,03%</a:t>
            </a:r>
            <a:endParaRPr lang="en-US" sz="720" dirty="0"/>
          </a:p>
        </p:txBody>
      </p:sp>
      <p:sp>
        <p:nvSpPr>
          <p:cNvPr id="30" name="Text 28"/>
          <p:cNvSpPr/>
          <p:nvPr/>
        </p:nvSpPr>
        <p:spPr>
          <a:xfrm>
            <a:off x="2514302" y="2080915"/>
            <a:ext cx="2006501" cy="796677"/>
          </a:xfrm>
          <a:prstGeom prst="rect">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2514302" y="2095202"/>
            <a:ext cx="2006501" cy="0"/>
          </a:xfrm>
          <a:prstGeom prst="line">
            <a:avLst/>
          </a:prstGeom>
          <a:noFill/>
          <a:ln w="28575">
            <a:solidFill>
              <a:srgbClr val="B08327"/>
            </a:solidFill>
            <a:prstDash val="solid"/>
          </a:ln>
        </p:spPr>
      </p:sp>
      <p:sp>
        <p:nvSpPr>
          <p:cNvPr id="32" name="Text 30"/>
          <p:cNvSpPr/>
          <p:nvPr/>
        </p:nvSpPr>
        <p:spPr>
          <a:xfrm>
            <a:off x="2641253"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NET INTEREST MARGIN</a:t>
            </a:r>
            <a:endParaRPr lang="en-US" sz="680" dirty="0"/>
          </a:p>
        </p:txBody>
      </p:sp>
      <p:sp>
        <p:nvSpPr>
          <p:cNvPr id="33" name="Text 31"/>
          <p:cNvSpPr/>
          <p:nvPr/>
        </p:nvSpPr>
        <p:spPr>
          <a:xfrm>
            <a:off x="2641253"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4,59%</a:t>
            </a:r>
            <a:endParaRPr lang="en-US" sz="1900" dirty="0"/>
          </a:p>
        </p:txBody>
      </p:sp>
      <p:sp>
        <p:nvSpPr>
          <p:cNvPr id="34" name="Text 32"/>
          <p:cNvSpPr/>
          <p:nvPr/>
        </p:nvSpPr>
        <p:spPr>
          <a:xfrm>
            <a:off x="2641253" y="2649141"/>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dari 4,93% dan 5,25%</a:t>
            </a:r>
            <a:endParaRPr lang="en-US" sz="720" dirty="0"/>
          </a:p>
        </p:txBody>
      </p:sp>
      <p:sp>
        <p:nvSpPr>
          <p:cNvPr id="35" name="Text 33"/>
          <p:cNvSpPr/>
          <p:nvPr/>
        </p:nvSpPr>
        <p:spPr>
          <a:xfrm>
            <a:off x="4622304" y="2080915"/>
            <a:ext cx="2006501" cy="796677"/>
          </a:xfrm>
          <a:prstGeom prst="rect">
            <a:avLst/>
          </a:prstGeom>
          <a:solidFill>
            <a:srgbClr val="FFFFFF"/>
          </a:solidFill>
          <a:ln/>
        </p:spPr>
        <p:txBody>
          <a:bodyPr wrap="square" rtlCol="0" anchor="ctr"/>
          <a:lstStyle/>
          <a:p>
            <a:pPr indent="0" marL="0">
              <a:buNone/>
            </a:pPr>
            <a:endParaRPr lang="en-US" dirty="0"/>
          </a:p>
        </p:txBody>
      </p:sp>
      <p:sp>
        <p:nvSpPr>
          <p:cNvPr id="36" name="Shape 34"/>
          <p:cNvSpPr/>
          <p:nvPr/>
        </p:nvSpPr>
        <p:spPr>
          <a:xfrm>
            <a:off x="4622304" y="2095202"/>
            <a:ext cx="2006501" cy="0"/>
          </a:xfrm>
          <a:prstGeom prst="line">
            <a:avLst/>
          </a:prstGeom>
          <a:noFill/>
          <a:ln w="28575">
            <a:solidFill>
              <a:srgbClr val="C1502E"/>
            </a:solidFill>
            <a:prstDash val="solid"/>
          </a:ln>
        </p:spPr>
      </p:sp>
      <p:sp>
        <p:nvSpPr>
          <p:cNvPr id="37" name="Text 35"/>
          <p:cNvSpPr/>
          <p:nvPr/>
        </p:nvSpPr>
        <p:spPr>
          <a:xfrm>
            <a:off x="4749254"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BOPO</a:t>
            </a:r>
            <a:endParaRPr lang="en-US" sz="680" dirty="0"/>
          </a:p>
        </p:txBody>
      </p:sp>
      <p:sp>
        <p:nvSpPr>
          <p:cNvPr id="38" name="Text 36"/>
          <p:cNvSpPr/>
          <p:nvPr/>
        </p:nvSpPr>
        <p:spPr>
          <a:xfrm>
            <a:off x="4749254"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60,23%</a:t>
            </a:r>
            <a:endParaRPr lang="en-US" sz="1900" dirty="0"/>
          </a:p>
        </p:txBody>
      </p:sp>
      <p:sp>
        <p:nvSpPr>
          <p:cNvPr id="39" name="Text 37"/>
          <p:cNvSpPr/>
          <p:nvPr/>
        </p:nvSpPr>
        <p:spPr>
          <a:xfrm>
            <a:off x="4749254" y="2649141"/>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Memburuk 8,4 poin dalam dua tahun</a:t>
            </a:r>
            <a:endParaRPr lang="en-US" sz="720" dirty="0"/>
          </a:p>
        </p:txBody>
      </p:sp>
      <p:sp>
        <p:nvSpPr>
          <p:cNvPr id="40" name="Text 38"/>
          <p:cNvSpPr/>
          <p:nvPr/>
        </p:nvSpPr>
        <p:spPr>
          <a:xfrm>
            <a:off x="6730305" y="2080915"/>
            <a:ext cx="2006501" cy="796677"/>
          </a:xfrm>
          <a:prstGeom prst="rect">
            <a:avLst/>
          </a:prstGeom>
          <a:solidFill>
            <a:srgbClr val="FFFFFF"/>
          </a:solidFill>
          <a:ln/>
        </p:spPr>
        <p:txBody>
          <a:bodyPr wrap="square" rtlCol="0" anchor="ctr"/>
          <a:lstStyle/>
          <a:p>
            <a:pPr indent="0" marL="0">
              <a:buNone/>
            </a:pPr>
            <a:endParaRPr lang="en-US" dirty="0"/>
          </a:p>
        </p:txBody>
      </p:sp>
      <p:sp>
        <p:nvSpPr>
          <p:cNvPr id="41" name="Shape 39"/>
          <p:cNvSpPr/>
          <p:nvPr/>
        </p:nvSpPr>
        <p:spPr>
          <a:xfrm>
            <a:off x="6730305" y="2095202"/>
            <a:ext cx="2006501" cy="0"/>
          </a:xfrm>
          <a:prstGeom prst="line">
            <a:avLst/>
          </a:prstGeom>
          <a:noFill/>
          <a:ln w="28575">
            <a:solidFill>
              <a:srgbClr val="C1502E"/>
            </a:solidFill>
            <a:prstDash val="solid"/>
          </a:ln>
        </p:spPr>
      </p:sp>
      <p:sp>
        <p:nvSpPr>
          <p:cNvPr id="42" name="Text 40"/>
          <p:cNvSpPr/>
          <p:nvPr/>
        </p:nvSpPr>
        <p:spPr>
          <a:xfrm>
            <a:off x="6857256" y="2223790"/>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NPL NETT</a:t>
            </a:r>
            <a:endParaRPr lang="en-US" sz="680" dirty="0"/>
          </a:p>
        </p:txBody>
      </p:sp>
      <p:sp>
        <p:nvSpPr>
          <p:cNvPr id="43" name="Text 41"/>
          <p:cNvSpPr/>
          <p:nvPr/>
        </p:nvSpPr>
        <p:spPr>
          <a:xfrm>
            <a:off x="6857256" y="2357140"/>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0,40%</a:t>
            </a:r>
            <a:endParaRPr lang="en-US" sz="1900" dirty="0"/>
          </a:p>
        </p:txBody>
      </p:sp>
      <p:sp>
        <p:nvSpPr>
          <p:cNvPr id="44" name="Text 42"/>
          <p:cNvSpPr/>
          <p:nvPr/>
        </p:nvSpPr>
        <p:spPr>
          <a:xfrm>
            <a:off x="6857256" y="2649141"/>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Naik dari 0,33% dan 0,29%</a:t>
            </a:r>
            <a:endParaRPr lang="en-US" sz="720" dirty="0"/>
          </a:p>
        </p:txBody>
      </p:sp>
      <p:sp>
        <p:nvSpPr>
          <p:cNvPr id="45" name="Text 43"/>
          <p:cNvSpPr/>
          <p:nvPr/>
        </p:nvSpPr>
        <p:spPr>
          <a:xfrm>
            <a:off x="406301" y="2966442"/>
            <a:ext cx="2006501" cy="796677"/>
          </a:xfrm>
          <a:prstGeom prst="rect">
            <a:avLst/>
          </a:prstGeom>
          <a:solidFill>
            <a:srgbClr val="FFFFFF"/>
          </a:solidFill>
          <a:ln/>
        </p:spPr>
        <p:txBody>
          <a:bodyPr wrap="square" rtlCol="0" anchor="ctr"/>
          <a:lstStyle/>
          <a:p>
            <a:pPr indent="0" marL="0">
              <a:buNone/>
            </a:pPr>
            <a:endParaRPr lang="en-US" dirty="0"/>
          </a:p>
        </p:txBody>
      </p:sp>
      <p:sp>
        <p:nvSpPr>
          <p:cNvPr id="46" name="Shape 44"/>
          <p:cNvSpPr/>
          <p:nvPr/>
        </p:nvSpPr>
        <p:spPr>
          <a:xfrm>
            <a:off x="406301" y="2980730"/>
            <a:ext cx="2006501" cy="0"/>
          </a:xfrm>
          <a:prstGeom prst="line">
            <a:avLst/>
          </a:prstGeom>
          <a:noFill/>
          <a:ln w="28575">
            <a:solidFill>
              <a:srgbClr val="154C5B"/>
            </a:solidFill>
            <a:prstDash val="solid"/>
          </a:ln>
        </p:spPr>
      </p:sp>
      <p:sp>
        <p:nvSpPr>
          <p:cNvPr id="47" name="Text 45"/>
          <p:cNvSpPr/>
          <p:nvPr/>
        </p:nvSpPr>
        <p:spPr>
          <a:xfrm>
            <a:off x="533251" y="3109317"/>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LCR INDIVIDU</a:t>
            </a:r>
            <a:endParaRPr lang="en-US" sz="680" dirty="0"/>
          </a:p>
        </p:txBody>
      </p:sp>
      <p:sp>
        <p:nvSpPr>
          <p:cNvPr id="48" name="Text 46"/>
          <p:cNvSpPr/>
          <p:nvPr/>
        </p:nvSpPr>
        <p:spPr>
          <a:xfrm>
            <a:off x="533251" y="3242667"/>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137,4%</a:t>
            </a:r>
            <a:endParaRPr lang="en-US" sz="1900" dirty="0"/>
          </a:p>
        </p:txBody>
      </p:sp>
      <p:sp>
        <p:nvSpPr>
          <p:cNvPr id="49" name="Text 47"/>
          <p:cNvSpPr/>
          <p:nvPr/>
        </p:nvSpPr>
        <p:spPr>
          <a:xfrm>
            <a:off x="533251" y="3534668"/>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dari 139,2% dan 176,2%</a:t>
            </a:r>
            <a:endParaRPr lang="en-US" sz="720" dirty="0"/>
          </a:p>
        </p:txBody>
      </p:sp>
      <p:sp>
        <p:nvSpPr>
          <p:cNvPr id="50" name="Text 48"/>
          <p:cNvSpPr/>
          <p:nvPr/>
        </p:nvSpPr>
        <p:spPr>
          <a:xfrm>
            <a:off x="2514302" y="2966442"/>
            <a:ext cx="2006501" cy="796677"/>
          </a:xfrm>
          <a:prstGeom prst="rect">
            <a:avLst/>
          </a:prstGeom>
          <a:solidFill>
            <a:srgbClr val="FFFFFF"/>
          </a:solidFill>
          <a:ln/>
        </p:spPr>
        <p:txBody>
          <a:bodyPr wrap="square" rtlCol="0" anchor="ctr"/>
          <a:lstStyle/>
          <a:p>
            <a:pPr indent="0" marL="0">
              <a:buNone/>
            </a:pPr>
            <a:endParaRPr lang="en-US" dirty="0"/>
          </a:p>
        </p:txBody>
      </p:sp>
      <p:sp>
        <p:nvSpPr>
          <p:cNvPr id="51" name="Shape 49"/>
          <p:cNvSpPr/>
          <p:nvPr/>
        </p:nvSpPr>
        <p:spPr>
          <a:xfrm>
            <a:off x="2514302" y="2980730"/>
            <a:ext cx="2006501" cy="0"/>
          </a:xfrm>
          <a:prstGeom prst="line">
            <a:avLst/>
          </a:prstGeom>
          <a:noFill/>
          <a:ln w="28575">
            <a:solidFill>
              <a:srgbClr val="154C5B"/>
            </a:solidFill>
            <a:prstDash val="solid"/>
          </a:ln>
        </p:spPr>
      </p:sp>
      <p:sp>
        <p:nvSpPr>
          <p:cNvPr id="52" name="Text 50"/>
          <p:cNvSpPr/>
          <p:nvPr/>
        </p:nvSpPr>
        <p:spPr>
          <a:xfrm>
            <a:off x="2641253" y="3109317"/>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CKPN / ASET PRODUKTIF</a:t>
            </a:r>
            <a:endParaRPr lang="en-US" sz="680" dirty="0"/>
          </a:p>
        </p:txBody>
      </p:sp>
      <p:sp>
        <p:nvSpPr>
          <p:cNvPr id="53" name="Text 51"/>
          <p:cNvSpPr/>
          <p:nvPr/>
        </p:nvSpPr>
        <p:spPr>
          <a:xfrm>
            <a:off x="2641253" y="3242667"/>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1,95%</a:t>
            </a:r>
            <a:endParaRPr lang="en-US" sz="1900" dirty="0"/>
          </a:p>
        </p:txBody>
      </p:sp>
      <p:sp>
        <p:nvSpPr>
          <p:cNvPr id="54" name="Text 52"/>
          <p:cNvSpPr/>
          <p:nvPr/>
        </p:nvSpPr>
        <p:spPr>
          <a:xfrm>
            <a:off x="2641253" y="3534668"/>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Turun dari 2,32% dan 2,87%</a:t>
            </a:r>
            <a:endParaRPr lang="en-US" sz="720" dirty="0"/>
          </a:p>
        </p:txBody>
      </p:sp>
      <p:sp>
        <p:nvSpPr>
          <p:cNvPr id="55" name="Text 53"/>
          <p:cNvSpPr/>
          <p:nvPr/>
        </p:nvSpPr>
        <p:spPr>
          <a:xfrm>
            <a:off x="4622304" y="2966442"/>
            <a:ext cx="2006501" cy="796677"/>
          </a:xfrm>
          <a:prstGeom prst="rect">
            <a:avLst/>
          </a:prstGeom>
          <a:solidFill>
            <a:srgbClr val="FFFFFF"/>
          </a:solidFill>
          <a:ln/>
        </p:spPr>
        <p:txBody>
          <a:bodyPr wrap="square" rtlCol="0" anchor="ctr"/>
          <a:lstStyle/>
          <a:p>
            <a:pPr indent="0" marL="0">
              <a:buNone/>
            </a:pPr>
            <a:endParaRPr lang="en-US" dirty="0"/>
          </a:p>
        </p:txBody>
      </p:sp>
      <p:sp>
        <p:nvSpPr>
          <p:cNvPr id="56" name="Shape 54"/>
          <p:cNvSpPr/>
          <p:nvPr/>
        </p:nvSpPr>
        <p:spPr>
          <a:xfrm>
            <a:off x="4622304" y="2980730"/>
            <a:ext cx="2006501" cy="0"/>
          </a:xfrm>
          <a:prstGeom prst="line">
            <a:avLst/>
          </a:prstGeom>
          <a:noFill/>
          <a:ln w="28575">
            <a:solidFill>
              <a:srgbClr val="154C5B"/>
            </a:solidFill>
            <a:prstDash val="solid"/>
          </a:ln>
        </p:spPr>
      </p:sp>
      <p:sp>
        <p:nvSpPr>
          <p:cNvPr id="57" name="Text 55"/>
          <p:cNvSpPr/>
          <p:nvPr/>
        </p:nvSpPr>
        <p:spPr>
          <a:xfrm>
            <a:off x="4749254" y="3109317"/>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ASET BERMASALAH</a:t>
            </a:r>
            <a:endParaRPr lang="en-US" sz="680" dirty="0"/>
          </a:p>
        </p:txBody>
      </p:sp>
      <p:sp>
        <p:nvSpPr>
          <p:cNvPr id="58" name="Text 56"/>
          <p:cNvSpPr/>
          <p:nvPr/>
        </p:nvSpPr>
        <p:spPr>
          <a:xfrm>
            <a:off x="4749254" y="3242667"/>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0,69%</a:t>
            </a:r>
            <a:endParaRPr lang="en-US" sz="1900" dirty="0"/>
          </a:p>
        </p:txBody>
      </p:sp>
      <p:sp>
        <p:nvSpPr>
          <p:cNvPr id="59" name="Text 57"/>
          <p:cNvSpPr/>
          <p:nvPr/>
        </p:nvSpPr>
        <p:spPr>
          <a:xfrm>
            <a:off x="4749254" y="3534668"/>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Praktis datar tiga tahun</a:t>
            </a:r>
            <a:endParaRPr lang="en-US" sz="720" dirty="0"/>
          </a:p>
        </p:txBody>
      </p:sp>
      <p:sp>
        <p:nvSpPr>
          <p:cNvPr id="60" name="Text 58"/>
          <p:cNvSpPr/>
          <p:nvPr/>
        </p:nvSpPr>
        <p:spPr>
          <a:xfrm>
            <a:off x="6730305" y="2966442"/>
            <a:ext cx="2006501" cy="796677"/>
          </a:xfrm>
          <a:prstGeom prst="rect">
            <a:avLst/>
          </a:prstGeom>
          <a:solidFill>
            <a:srgbClr val="FFFFFF"/>
          </a:solidFill>
          <a:ln/>
        </p:spPr>
        <p:txBody>
          <a:bodyPr wrap="square" rtlCol="0" anchor="ctr"/>
          <a:lstStyle/>
          <a:p>
            <a:pPr indent="0" marL="0">
              <a:buNone/>
            </a:pPr>
            <a:endParaRPr lang="en-US" dirty="0"/>
          </a:p>
        </p:txBody>
      </p:sp>
      <p:sp>
        <p:nvSpPr>
          <p:cNvPr id="61" name="Shape 59"/>
          <p:cNvSpPr/>
          <p:nvPr/>
        </p:nvSpPr>
        <p:spPr>
          <a:xfrm>
            <a:off x="6730305" y="2980730"/>
            <a:ext cx="2006501" cy="0"/>
          </a:xfrm>
          <a:prstGeom prst="line">
            <a:avLst/>
          </a:prstGeom>
          <a:noFill/>
          <a:ln w="28575">
            <a:solidFill>
              <a:srgbClr val="154C5B"/>
            </a:solidFill>
            <a:prstDash val="solid"/>
          </a:ln>
        </p:spPr>
      </p:sp>
      <p:sp>
        <p:nvSpPr>
          <p:cNvPr id="62" name="Text 60"/>
          <p:cNvSpPr/>
          <p:nvPr/>
        </p:nvSpPr>
        <p:spPr>
          <a:xfrm>
            <a:off x="6857256" y="3109317"/>
            <a:ext cx="1787652"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PERTUMBUHAN LABA</a:t>
            </a:r>
            <a:endParaRPr lang="en-US" sz="680" dirty="0"/>
          </a:p>
        </p:txBody>
      </p:sp>
      <p:sp>
        <p:nvSpPr>
          <p:cNvPr id="63" name="Text 61"/>
          <p:cNvSpPr/>
          <p:nvPr/>
        </p:nvSpPr>
        <p:spPr>
          <a:xfrm>
            <a:off x="6857256" y="3242667"/>
            <a:ext cx="1787652" cy="241250"/>
          </a:xfrm>
          <a:prstGeom prst="rect">
            <a:avLst/>
          </a:prstGeom>
          <a:noFill/>
          <a:ln/>
        </p:spPr>
        <p:txBody>
          <a:bodyPr wrap="square" lIns="0" tIns="0" rIns="0" bIns="0" rtlCol="0" anchor="t"/>
          <a:lstStyle/>
          <a:p>
            <a:pPr algn="l" indent="0" marL="0">
              <a:lnSpc>
                <a:spcPts val="1900"/>
              </a:lnSpc>
              <a:spcBef>
                <a:spcPts val="300"/>
              </a:spcBef>
              <a:buNone/>
            </a:pPr>
            <a:r>
              <a:rPr lang="en-US" sz="1900" b="1" dirty="0">
                <a:solidFill>
                  <a:srgbClr val="16191D"/>
                </a:solidFill>
                <a:latin typeface="Arial" pitchFamily="34" charset="0"/>
                <a:ea typeface="Arial" pitchFamily="34" charset="-122"/>
                <a:cs typeface="Arial" pitchFamily="34" charset="-120"/>
              </a:rPr>
              <a:t>+0,9%</a:t>
            </a:r>
            <a:endParaRPr lang="en-US" sz="1900" dirty="0"/>
          </a:p>
        </p:txBody>
      </p:sp>
      <p:sp>
        <p:nvSpPr>
          <p:cNvPr id="64" name="Text 62"/>
          <p:cNvSpPr/>
          <p:nvPr/>
        </p:nvSpPr>
        <p:spPr>
          <a:xfrm>
            <a:off x="6857256" y="3534668"/>
            <a:ext cx="1787652" cy="114151"/>
          </a:xfrm>
          <a:prstGeom prst="rect">
            <a:avLst/>
          </a:prstGeom>
          <a:noFill/>
          <a:ln/>
        </p:spPr>
        <p:txBody>
          <a:bodyPr wrap="square" lIns="0" tIns="0" rIns="0" bIns="0" rtlCol="0" anchor="t"/>
          <a:lstStyle/>
          <a:p>
            <a:pPr algn="l" indent="0" marL="0">
              <a:lnSpc>
                <a:spcPts val="900"/>
              </a:lnSpc>
              <a:spcBef>
                <a:spcPts val="400"/>
              </a:spcBef>
              <a:buNone/>
            </a:pPr>
            <a:r>
              <a:rPr lang="en-US" sz="720" dirty="0">
                <a:solidFill>
                  <a:srgbClr val="6E7379"/>
                </a:solidFill>
                <a:latin typeface="Arial" pitchFamily="34" charset="0"/>
                <a:ea typeface="Arial" pitchFamily="34" charset="-122"/>
                <a:cs typeface="Arial" pitchFamily="34" charset="-120"/>
              </a:rPr>
              <a:t>Melawan pertumbuhan aset +16,6%</a:t>
            </a:r>
            <a:endParaRPr lang="en-US" sz="720" dirty="0"/>
          </a:p>
        </p:txBody>
      </p:sp>
      <p:sp>
        <p:nvSpPr>
          <p:cNvPr id="65" name="Text 63"/>
          <p:cNvSpPr/>
          <p:nvPr/>
        </p:nvSpPr>
        <p:spPr>
          <a:xfrm>
            <a:off x="406301" y="3877419"/>
            <a:ext cx="8331101" cy="497681"/>
          </a:xfrm>
          <a:prstGeom prst="rect">
            <a:avLst/>
          </a:prstGeom>
          <a:solidFill>
            <a:srgbClr val="16191D"/>
          </a:solidFill>
          <a:ln/>
        </p:spPr>
        <p:txBody>
          <a:bodyPr wrap="square" rtlCol="0" anchor="ctr"/>
          <a:lstStyle/>
          <a:p>
            <a:pPr indent="0" marL="0">
              <a:buNone/>
            </a:pPr>
            <a:endParaRPr lang="en-US" dirty="0"/>
          </a:p>
        </p:txBody>
      </p:sp>
      <p:sp>
        <p:nvSpPr>
          <p:cNvPr id="66" name="Text 64"/>
          <p:cNvSpPr/>
          <p:nvPr/>
        </p:nvSpPr>
        <p:spPr>
          <a:xfrm>
            <a:off x="558701" y="3978920"/>
            <a:ext cx="8186827" cy="294680"/>
          </a:xfrm>
          <a:prstGeom prst="rect">
            <a:avLst/>
          </a:prstGeom>
          <a:noFill/>
          <a:ln/>
        </p:spPr>
        <p:txBody>
          <a:bodyPr wrap="square" lIns="0" tIns="0" rIns="0" bIns="0" rtlCol="0" anchor="t"/>
          <a:lstStyle/>
          <a:p>
            <a:pPr algn="l" indent="0" marL="0">
              <a:lnSpc>
                <a:spcPts val="1161"/>
              </a:lnSpc>
              <a:buNone/>
            </a:pPr>
            <a:r>
              <a:rPr lang="en-US" sz="860" b="1" dirty="0">
                <a:solidFill>
                  <a:srgbClr val="5FB6CC"/>
                </a:solidFill>
                <a:latin typeface="Arial" pitchFamily="34" charset="0"/>
                <a:ea typeface="Arial" pitchFamily="34" charset="-122"/>
                <a:cs typeface="Arial" pitchFamily="34" charset="-120"/>
              </a:rPr>
              <a:t>Vonis.</a:t>
            </a:r>
            <a:pPr algn="l" indent="0" marL="0">
              <a:lnSpc>
                <a:spcPts val="1161"/>
              </a:lnSpc>
              <a:buNone/>
            </a:pPr>
            <a:r>
              <a:rPr lang="en-US" sz="860" dirty="0">
                <a:solidFill>
                  <a:srgbClr val="F2EFE9"/>
                </a:solidFill>
                <a:latin typeface="Arial" pitchFamily="34" charset="0"/>
                <a:ea typeface="Arial" pitchFamily="34" charset="-122"/>
                <a:cs typeface="Arial" pitchFamily="34" charset="-120"/>
              </a:rPr>
              <a:t> Permodalan dan kualitas kredit tetap kokoh. Yang menyempit adalah mesin labanya: NIM turun 0,66 poin dalam dua tahun sementara BOPO naik 8,35 poin. Konteks ini penting — ambisi keberlanjutan menuntut belanja modal justru ketika ruang fiskal internal sedang mengetat.</a:t>
            </a:r>
            <a:endParaRPr lang="en-US" sz="8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PORTOFOLIO BERKELANJUTAN</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Apa Isi Sebenarnya dari Rp315,8 Triliun</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5562451" y="1094036"/>
            <a:ext cx="3238449"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PEMBACAAN</a:t>
            </a:r>
            <a:endParaRPr lang="en-US" sz="680" dirty="0"/>
          </a:p>
        </p:txBody>
      </p:sp>
      <p:sp>
        <p:nvSpPr>
          <p:cNvPr id="6" name="Text 4"/>
          <p:cNvSpPr/>
          <p:nvPr/>
        </p:nvSpPr>
        <p:spPr>
          <a:xfrm>
            <a:off x="5562451" y="1278136"/>
            <a:ext cx="3174950" cy="1754981"/>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b="1" dirty="0">
                <a:solidFill>
                  <a:srgbClr val="2C3136"/>
                </a:solidFill>
                <a:latin typeface="Arial" pitchFamily="34" charset="0"/>
                <a:ea typeface="Arial" pitchFamily="34" charset="-122"/>
                <a:cs typeface="Arial" pitchFamily="34" charset="-120"/>
              </a:rPr>
              <a:t>81% berasal dari dua kategori</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yang sudah menjadi bisnis inti dan mandat regulasi: UMKM Rp140,1 T dan lahan/perkebunan Rp115,7 T</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Kategori yang benar-benar aditif secara iklim berjumlah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Rp50,6 T</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 16,0% dari portofolio berkelanjutan</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Energi terbarukan hanya tumbuh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Rp1,1 T</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sepanjang 2025, dari basis Rp11,8 T</a:t>
            </a:r>
            <a:endParaRPr lang="en-US" sz="860" dirty="0"/>
          </a:p>
          <a:p>
            <a:pPr algn="l" marL="69850" indent="-69850">
              <a:lnSpc>
                <a:spcPts val="1247"/>
              </a:lnSpc>
              <a:spcAft>
                <a:spcPts val="450"/>
              </a:spcAft>
              <a:buSzPct val="100000"/>
              <a:buChar char="•"/>
            </a:pPr>
            <a:r>
              <a:rPr lang="en-US" sz="860" b="1" dirty="0">
                <a:solidFill>
                  <a:srgbClr val="2C3136"/>
                </a:solidFill>
                <a:latin typeface="Arial" pitchFamily="34" charset="0"/>
                <a:ea typeface="Arial" pitchFamily="34" charset="-122"/>
                <a:cs typeface="Arial" pitchFamily="34" charset="-120"/>
              </a:rPr>
              <a:t>Empat kategori bernilai nol tiga tahun berturut-turut</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efisiensi energi, pengendalian polusi, konservasi biodiversitas, dan adaptasi perubahan iklim</a:t>
            </a:r>
            <a:endParaRPr lang="en-US" sz="860" dirty="0"/>
          </a:p>
        </p:txBody>
      </p:sp>
      <p:sp>
        <p:nvSpPr>
          <p:cNvPr id="7" name="Text 5"/>
          <p:cNvSpPr/>
          <p:nvPr/>
        </p:nvSpPr>
        <p:spPr>
          <a:xfrm>
            <a:off x="5562451" y="3134618"/>
            <a:ext cx="3174950" cy="653802"/>
          </a:xfrm>
          <a:prstGeom prst="rect">
            <a:avLst/>
          </a:prstGeom>
          <a:solidFill>
            <a:srgbClr val="FFFFFF"/>
          </a:solidFill>
          <a:ln/>
        </p:spPr>
        <p:txBody>
          <a:bodyPr wrap="square" rtlCol="0" anchor="ctr"/>
          <a:lstStyle/>
          <a:p>
            <a:pPr indent="0" marL="0">
              <a:buNone/>
            </a:pPr>
            <a:endParaRPr lang="en-US" dirty="0"/>
          </a:p>
        </p:txBody>
      </p:sp>
      <p:sp>
        <p:nvSpPr>
          <p:cNvPr id="8" name="Shape 6"/>
          <p:cNvSpPr/>
          <p:nvPr/>
        </p:nvSpPr>
        <p:spPr>
          <a:xfrm>
            <a:off x="5562451" y="3148905"/>
            <a:ext cx="3174950" cy="0"/>
          </a:xfrm>
          <a:prstGeom prst="line">
            <a:avLst/>
          </a:prstGeom>
          <a:noFill/>
          <a:ln w="28575">
            <a:solidFill>
              <a:srgbClr val="B08327"/>
            </a:solidFill>
            <a:prstDash val="solid"/>
          </a:ln>
        </p:spPr>
      </p:sp>
      <p:sp>
        <p:nvSpPr>
          <p:cNvPr id="9" name="Text 7"/>
          <p:cNvSpPr/>
          <p:nvPr/>
        </p:nvSpPr>
        <p:spPr>
          <a:xfrm>
            <a:off x="5689402" y="3315444"/>
            <a:ext cx="2979471" cy="371475"/>
          </a:xfrm>
          <a:prstGeom prst="rect">
            <a:avLst/>
          </a:prstGeom>
          <a:noFill/>
          <a:ln/>
        </p:spPr>
        <p:txBody>
          <a:bodyPr wrap="square" lIns="0" tIns="0" rIns="0" bIns="0" rtlCol="0" anchor="t"/>
          <a:lstStyle/>
          <a:p>
            <a:pPr algn="l" indent="0" marL="0">
              <a:lnSpc>
                <a:spcPts val="975"/>
              </a:lnSpc>
              <a:spcBef>
                <a:spcPts val="400"/>
              </a:spcBef>
              <a:buNone/>
            </a:pPr>
            <a:r>
              <a:rPr lang="en-US" sz="780" dirty="0">
                <a:solidFill>
                  <a:srgbClr val="6E7379"/>
                </a:solidFill>
                <a:latin typeface="Arial" pitchFamily="34" charset="0"/>
                <a:ea typeface="Arial" pitchFamily="34" charset="-122"/>
                <a:cs typeface="Arial" pitchFamily="34" charset="-120"/>
              </a:rPr>
              <a:t>Ini kritik terhadap taksonomi KKUB POJK 51, bukan terhadap Bank Mandiri secara khusus — tetapi konsekuensinya nyata bagi pembacaan angka Rp315,8 T.</a:t>
            </a:r>
            <a:endParaRPr lang="en-US" sz="780" dirty="0"/>
          </a:p>
        </p:txBody>
      </p:sp>
      <p:graphicFrame>
        <p:nvGraphicFramePr>
          <p:cNvPr id="10" name="Chart 0" descr=""/>
          <p:cNvGraphicFramePr/>
          <p:nvPr/>
        </p:nvGraphicFramePr>
        <p:xfrm>
          <a:off x="406301" y="1094036"/>
          <a:ext cx="5003750" cy="31749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TREN TIGA TAHUN</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Nominalnya Naik, Pangsanya Turun Tiga Tahun</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406301" y="1094036"/>
            <a:ext cx="3238449" cy="316706"/>
          </a:xfrm>
          <a:prstGeom prst="rect">
            <a:avLst/>
          </a:prstGeom>
          <a:noFill/>
          <a:ln/>
        </p:spPr>
        <p:txBody>
          <a:bodyPr wrap="square" lIns="0" tIns="0" rIns="0" bIns="0" rtlCol="0" anchor="t"/>
          <a:lstStyle/>
          <a:p>
            <a:pPr algn="l" indent="0" marL="0">
              <a:lnSpc>
                <a:spcPts val="1247"/>
              </a:lnSpc>
              <a:buNone/>
            </a:pPr>
            <a:r>
              <a:rPr lang="en-US" sz="860" dirty="0">
                <a:solidFill>
                  <a:srgbClr val="2C3136"/>
                </a:solidFill>
                <a:latin typeface="Arial" pitchFamily="34" charset="0"/>
                <a:ea typeface="Arial" pitchFamily="34" charset="-122"/>
                <a:cs typeface="Arial" pitchFamily="34" charset="-120"/>
              </a:rPr>
              <a:t>Portofolio berkelanjutan memang tumbuh — tetapi portofolio konvensional tumbuh hampir dua kali lebih cepat.</a:t>
            </a:r>
            <a:endParaRPr lang="en-US" sz="860" dirty="0"/>
          </a:p>
        </p:txBody>
      </p:sp>
      <p:sp>
        <p:nvSpPr>
          <p:cNvPr id="6" name="Text 4"/>
          <p:cNvSpPr/>
          <p:nvPr/>
        </p:nvSpPr>
        <p:spPr>
          <a:xfrm>
            <a:off x="406301" y="1499592"/>
            <a:ext cx="3174950" cy="589359"/>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Pembiayaan berkelanjutan: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+10,8%</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lalu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+8,0%</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Total kredit: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+19,5%</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lalu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+13,4%</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Pangsa turun dari 24,30% ke 22,32% ke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21,11%</a:t>
            </a:r>
            <a:endParaRPr lang="en-US" sz="860" dirty="0"/>
          </a:p>
        </p:txBody>
      </p:sp>
      <p:sp>
        <p:nvSpPr>
          <p:cNvPr id="7" name="Text 5"/>
          <p:cNvSpPr/>
          <p:nvPr/>
        </p:nvSpPr>
        <p:spPr>
          <a:xfrm>
            <a:off x="406301" y="2215902"/>
            <a:ext cx="3174950" cy="753070"/>
          </a:xfrm>
          <a:prstGeom prst="rect">
            <a:avLst/>
          </a:prstGeom>
          <a:solidFill>
            <a:srgbClr val="16191D"/>
          </a:solidFill>
          <a:ln/>
        </p:spPr>
        <p:txBody>
          <a:bodyPr wrap="square" rtlCol="0" anchor="ctr"/>
          <a:lstStyle/>
          <a:p>
            <a:pPr indent="0" marL="0">
              <a:buNone/>
            </a:pPr>
            <a:endParaRPr lang="en-US" dirty="0"/>
          </a:p>
        </p:txBody>
      </p:sp>
      <p:sp>
        <p:nvSpPr>
          <p:cNvPr id="8" name="Text 6"/>
          <p:cNvSpPr/>
          <p:nvPr/>
        </p:nvSpPr>
        <p:spPr>
          <a:xfrm>
            <a:off x="533251" y="2317403"/>
            <a:ext cx="2979471" cy="550069"/>
          </a:xfrm>
          <a:prstGeom prst="rect">
            <a:avLst/>
          </a:prstGeom>
          <a:noFill/>
          <a:ln/>
        </p:spPr>
        <p:txBody>
          <a:bodyPr wrap="square" lIns="0" tIns="0" rIns="0" bIns="0" rtlCol="0" anchor="t"/>
          <a:lstStyle/>
          <a:p>
            <a:pPr algn="l" indent="0" marL="0">
              <a:lnSpc>
                <a:spcPts val="1082"/>
              </a:lnSpc>
              <a:buNone/>
            </a:pPr>
            <a:r>
              <a:rPr lang="en-US" sz="820" dirty="0">
                <a:solidFill>
                  <a:srgbClr val="F2EFE9"/>
                </a:solidFill>
                <a:latin typeface="Arial" pitchFamily="34" charset="0"/>
                <a:ea typeface="Arial" pitchFamily="34" charset="-122"/>
                <a:cs typeface="Arial" pitchFamily="34" charset="-120"/>
              </a:rPr>
              <a:t>Fakta ini disajikan lengkap pada hal. 406, namun tidak muncul di Ikhtisar maupun Pesan Direksi. Untuk bank yang memposisikan diri sebagai sustainability leader, </a:t>
            </a:r>
            <a:pPr algn="l" indent="0" marL="0">
              <a:lnSpc>
                <a:spcPts val="1082"/>
              </a:lnSpc>
              <a:buNone/>
            </a:pPr>
            <a:r>
              <a:rPr lang="en-US" sz="820" b="1" dirty="0">
                <a:solidFill>
                  <a:srgbClr val="F2EFE9"/>
                </a:solidFill>
                <a:latin typeface="Arial" pitchFamily="34" charset="0"/>
                <a:ea typeface="Arial" pitchFamily="34" charset="-122"/>
                <a:cs typeface="Arial" pitchFamily="34" charset="-120"/>
              </a:rPr>
              <a:t>tren tiga tahun ini adalah metrik terpenting yang tidak diberi narasi</a:t>
            </a:r>
            <a:pPr algn="l" indent="0" marL="0">
              <a:lnSpc>
                <a:spcPts val="1082"/>
              </a:lnSpc>
              <a:buNone/>
            </a:pPr>
            <a:r>
              <a:rPr lang="en-US" sz="820" dirty="0">
                <a:solidFill>
                  <a:srgbClr val="F2EFE9"/>
                </a:solidFill>
                <a:latin typeface="Arial" pitchFamily="34" charset="0"/>
                <a:ea typeface="Arial" pitchFamily="34" charset="-122"/>
                <a:cs typeface="Arial" pitchFamily="34" charset="-120"/>
              </a:rPr>
              <a:t>.</a:t>
            </a:r>
            <a:endParaRPr lang="en-US" sz="820" dirty="0"/>
          </a:p>
        </p:txBody>
      </p:sp>
      <p:sp>
        <p:nvSpPr>
          <p:cNvPr id="9" name="Text 7"/>
          <p:cNvSpPr/>
          <p:nvPr/>
        </p:nvSpPr>
        <p:spPr>
          <a:xfrm>
            <a:off x="406301" y="3070473"/>
            <a:ext cx="3238449" cy="342454"/>
          </a:xfrm>
          <a:prstGeom prst="rect">
            <a:avLst/>
          </a:prstGeom>
          <a:noFill/>
          <a:ln/>
        </p:spPr>
        <p:txBody>
          <a:bodyPr wrap="square" lIns="0" tIns="0" rIns="0" bIns="0" rtlCol="0" anchor="t"/>
          <a:lstStyle/>
          <a:p>
            <a:pPr algn="l" indent="0" marL="0">
              <a:lnSpc>
                <a:spcPts val="900"/>
              </a:lnSpc>
              <a:spcBef>
                <a:spcPts val="800"/>
              </a:spcBef>
              <a:buNone/>
            </a:pPr>
            <a:r>
              <a:rPr lang="en-US" sz="720" dirty="0">
                <a:solidFill>
                  <a:srgbClr val="6E7379"/>
                </a:solidFill>
                <a:latin typeface="Arial" pitchFamily="34" charset="0"/>
                <a:ea typeface="Arial" pitchFamily="34" charset="-122"/>
                <a:cs typeface="Arial" pitchFamily="34" charset="-120"/>
              </a:rPr>
              <a:t>Catatan: persentase 21,11% tidak dapat direkonsiliasi dengan angka kredit Rp1.894,98 T pada hal. 402 (rasionya menjadi 16,7%). Penyebut yang dipakai tidak didefinisikan.</a:t>
            </a:r>
            <a:endParaRPr lang="en-US" sz="720" dirty="0"/>
          </a:p>
        </p:txBody>
      </p:sp>
      <p:graphicFrame>
        <p:nvGraphicFramePr>
          <p:cNvPr id="10" name="Chart 0" descr=""/>
          <p:cNvGraphicFramePr/>
          <p:nvPr/>
        </p:nvGraphicFramePr>
        <p:xfrm>
          <a:off x="3733651" y="1094036"/>
          <a:ext cx="5003750" cy="317495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EMISI OPERASIONAL</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Target NZE 2030, Tetapi 2025 Bergerak Mundur</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5384602" y="1094036"/>
            <a:ext cx="3419856"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YANG DITONJOLKAN VS YANG TIDAK</a:t>
            </a:r>
            <a:endParaRPr lang="en-US" sz="680" dirty="0"/>
          </a:p>
        </p:txBody>
      </p:sp>
      <p:sp>
        <p:nvSpPr>
          <p:cNvPr id="6" name="Text 4"/>
          <p:cNvSpPr/>
          <p:nvPr/>
        </p:nvSpPr>
        <p:spPr>
          <a:xfrm>
            <a:off x="5384602" y="1265486"/>
            <a:ext cx="3352800" cy="1438275"/>
          </a:xfrm>
          <a:prstGeom prst="rect">
            <a:avLst/>
          </a:prstGeom>
          <a:noFill/>
          <a:ln/>
        </p:spPr>
        <p:txBody>
          <a:bodyPr wrap="square" lIns="69850" tIns="0" rIns="0" bIns="0" rtlCol="0" anchor="t"/>
          <a:lstStyle/>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Laporan menonjolkan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turun 32% dari baseline 2019</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 dan itu benar</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Yang tidak dinarasikan: emisi total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naik 1,7% YoY</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dan intensitas naik 3,1%</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Penyebabnya jelas: konsumsi BBM melonjak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18,8%</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ke 22,27 juta liter, mendorong Cakupan 1 naik 13%</a:t>
            </a:r>
            <a:endParaRPr lang="en-US" sz="860" dirty="0"/>
          </a:p>
          <a:p>
            <a:pPr algn="l" marL="69850" indent="-69850">
              <a:lnSpc>
                <a:spcPts val="1247"/>
              </a:lnSpc>
              <a:spcAft>
                <a:spcPts val="450"/>
              </a:spcAft>
              <a:buSzPct val="100000"/>
              <a:buChar char="•"/>
            </a:pPr>
            <a:r>
              <a:rPr lang="en-US" sz="860" dirty="0">
                <a:solidFill>
                  <a:srgbClr val="2C3136"/>
                </a:solidFill>
                <a:latin typeface="Arial" pitchFamily="34" charset="0"/>
                <a:ea typeface="Arial" pitchFamily="34" charset="-122"/>
                <a:cs typeface="Arial" pitchFamily="34" charset="-120"/>
              </a:rPr>
              <a:t>Total konsumsi energi naik </a:t>
            </a:r>
            <a:pPr algn="l" indent="0" marL="0">
              <a:lnSpc>
                <a:spcPts val="1247"/>
              </a:lnSpc>
              <a:spcAft>
                <a:spcPts val="450"/>
              </a:spcAft>
              <a:buNone/>
            </a:pPr>
            <a:r>
              <a:rPr lang="en-US" sz="860" b="1" dirty="0">
                <a:solidFill>
                  <a:srgbClr val="2C3136"/>
                </a:solidFill>
                <a:latin typeface="Arial" pitchFamily="34" charset="0"/>
                <a:ea typeface="Arial" pitchFamily="34" charset="-122"/>
                <a:cs typeface="Arial" pitchFamily="34" charset="-120"/>
              </a:rPr>
              <a:t>7,2%</a:t>
            </a:r>
            <a:pPr algn="l" indent="0" marL="0">
              <a:lnSpc>
                <a:spcPts val="1247"/>
              </a:lnSpc>
              <a:spcAft>
                <a:spcPts val="450"/>
              </a:spcAft>
              <a:buNone/>
            </a:pPr>
            <a:r>
              <a:rPr lang="en-US" sz="860" dirty="0">
                <a:solidFill>
                  <a:srgbClr val="2C3136"/>
                </a:solidFill>
                <a:latin typeface="Arial" pitchFamily="34" charset="0"/>
                <a:ea typeface="Arial" pitchFamily="34" charset="-122"/>
                <a:cs typeface="Arial" pitchFamily="34" charset="-120"/>
              </a:rPr>
              <a:t>; intensitas per pegawai naik 7,6% kembali ke level 2023</a:t>
            </a:r>
            <a:endParaRPr lang="en-US" sz="860" dirty="0"/>
          </a:p>
        </p:txBody>
      </p:sp>
      <p:sp>
        <p:nvSpPr>
          <p:cNvPr id="7" name="Text 5"/>
          <p:cNvSpPr/>
          <p:nvPr/>
        </p:nvSpPr>
        <p:spPr>
          <a:xfrm>
            <a:off x="406301" y="3964186"/>
            <a:ext cx="8331101" cy="634752"/>
          </a:xfrm>
          <a:prstGeom prst="rect">
            <a:avLst/>
          </a:prstGeom>
          <a:solidFill>
            <a:srgbClr val="16191D"/>
          </a:solidFill>
          <a:ln/>
        </p:spPr>
        <p:txBody>
          <a:bodyPr wrap="square" rtlCol="0" anchor="ctr"/>
          <a:lstStyle/>
          <a:p>
            <a:pPr indent="0" marL="0">
              <a:buNone/>
            </a:pPr>
            <a:endParaRPr lang="en-US" dirty="0"/>
          </a:p>
        </p:txBody>
      </p:sp>
      <p:sp>
        <p:nvSpPr>
          <p:cNvPr id="8" name="Text 6"/>
          <p:cNvSpPr/>
          <p:nvPr/>
        </p:nvSpPr>
        <p:spPr>
          <a:xfrm>
            <a:off x="558701" y="4065687"/>
            <a:ext cx="8186827" cy="431750"/>
          </a:xfrm>
          <a:prstGeom prst="rect">
            <a:avLst/>
          </a:prstGeom>
          <a:noFill/>
          <a:ln/>
        </p:spPr>
        <p:txBody>
          <a:bodyPr wrap="square" lIns="0" tIns="0" rIns="0" bIns="0" rtlCol="0" anchor="t"/>
          <a:lstStyle/>
          <a:p>
            <a:pPr algn="l" indent="0" marL="0">
              <a:lnSpc>
                <a:spcPts val="1134"/>
              </a:lnSpc>
              <a:buNone/>
            </a:pPr>
            <a:r>
              <a:rPr lang="en-US" sz="840" b="1" dirty="0">
                <a:solidFill>
                  <a:srgbClr val="5FB6CC"/>
                </a:solidFill>
                <a:latin typeface="Arial" pitchFamily="34" charset="0"/>
                <a:ea typeface="Arial" pitchFamily="34" charset="-122"/>
                <a:cs typeface="Arial" pitchFamily="34" charset="-120"/>
              </a:rPr>
              <a:t>Alokasi modal tidak selaras target.</a:t>
            </a:r>
            <a:pPr algn="l" indent="0" marL="0">
              <a:lnSpc>
                <a:spcPts val="1134"/>
              </a:lnSpc>
              <a:buNone/>
            </a:pPr>
            <a:r>
              <a:rPr lang="en-US" sz="840" dirty="0">
                <a:solidFill>
                  <a:srgbClr val="F2EFE9"/>
                </a:solidFill>
                <a:latin typeface="Arial" pitchFamily="34" charset="0"/>
                <a:ea typeface="Arial" pitchFamily="34" charset="-122"/>
                <a:cs typeface="Arial" pitchFamily="34" charset="-120"/>
              </a:rPr>
              <a:t> Belanja panel surya Rp1,4 miliar pada 2024 menjadi </a:t>
            </a:r>
            <a:pPr algn="l" indent="0" marL="0">
              <a:lnSpc>
                <a:spcPts val="1134"/>
              </a:lnSpc>
              <a:buNone/>
            </a:pPr>
            <a:r>
              <a:rPr lang="en-US" sz="840" b="1" dirty="0">
                <a:solidFill>
                  <a:srgbClr val="F2EFE9"/>
                </a:solidFill>
                <a:latin typeface="Arial" pitchFamily="34" charset="0"/>
                <a:ea typeface="Arial" pitchFamily="34" charset="-122"/>
                <a:cs typeface="Arial" pitchFamily="34" charset="-120"/>
              </a:rPr>
              <a:t>Rp0 pada 2025</a:t>
            </a:r>
            <a:pPr algn="l" indent="0" marL="0">
              <a:lnSpc>
                <a:spcPts val="1134"/>
              </a:lnSpc>
              <a:buNone/>
            </a:pPr>
            <a:r>
              <a:rPr lang="en-US" sz="840" dirty="0">
                <a:solidFill>
                  <a:srgbClr val="F2EFE9"/>
                </a:solidFill>
                <a:latin typeface="Arial" pitchFamily="34" charset="0"/>
                <a:ea typeface="Arial" pitchFamily="34" charset="-122"/>
                <a:cs typeface="Arial" pitchFamily="34" charset="-120"/>
              </a:rPr>
              <a:t>; unit panel surya stagnan di 870. Belanja LED Rp0 dua tahun berturut-turut. Satu-satunya belanja operasional lingkungan 2025 adalah Rp198 juta untuk mesin daur ulang botol. Roadmap-nya pun back-loaded: dari 244 ribu tCO2e (2025) ke 200 ribu (2028), lalu nol pada 2030.</a:t>
            </a:r>
            <a:endParaRPr lang="en-US" sz="840" dirty="0"/>
          </a:p>
        </p:txBody>
      </p:sp>
      <p:graphicFrame>
        <p:nvGraphicFramePr>
          <p:cNvPr id="9" name="Chart 0" descr=""/>
          <p:cNvGraphicFramePr/>
          <p:nvPr/>
        </p:nvGraphicFramePr>
        <p:xfrm>
          <a:off x="406301" y="1094036"/>
          <a:ext cx="4825901" cy="27432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EMISI PEMBIAYAAN</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Intensitas Turun, Emisi Absolut Naik</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406301" y="2694087"/>
            <a:ext cx="4171137" cy="95250"/>
          </a:xfrm>
          <a:prstGeom prst="rect">
            <a:avLst/>
          </a:prstGeom>
          <a:noFill/>
          <a:ln/>
        </p:spPr>
        <p:txBody>
          <a:bodyPr wrap="square" lIns="0" tIns="0" rIns="0" bIns="0" rtlCol="0" anchor="t"/>
          <a:lstStyle/>
          <a:p>
            <a:pPr algn="l" indent="0" marL="0">
              <a:spcBef>
                <a:spcPts val="900"/>
              </a:spcBef>
              <a:buNone/>
            </a:pPr>
            <a:r>
              <a:rPr lang="en-US" sz="680" b="1" dirty="0">
                <a:solidFill>
                  <a:srgbClr val="6E7379"/>
                </a:solidFill>
                <a:latin typeface="Arial" pitchFamily="34" charset="0"/>
                <a:ea typeface="Arial" pitchFamily="34" charset="-122"/>
                <a:cs typeface="Arial" pitchFamily="34" charset="-120"/>
              </a:rPr>
              <a:t>EMPAT KETERBATASAN METODOLOGIS</a:t>
            </a:r>
            <a:endParaRPr lang="en-US" sz="680" dirty="0"/>
          </a:p>
        </p:txBody>
      </p:sp>
      <p:sp>
        <p:nvSpPr>
          <p:cNvPr id="6" name="Text 4"/>
          <p:cNvSpPr/>
          <p:nvPr/>
        </p:nvSpPr>
        <p:spPr>
          <a:xfrm>
            <a:off x="406301" y="2852738"/>
            <a:ext cx="4089350" cy="926753"/>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Angka 2025 berbasis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posisi Desember 2024</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 tertinggal satu tahun</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Hanya nasabah yang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melapor emisi</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yang dihitung; non-pelapor dikeluarkan, tidak diproksi PCAF</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Seri waktu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tidak disajikan ulang</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meski cakupan melonjak dari 44,4% ke 60,9%</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Volatilitas sektoral ekstrem menandakan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data belum stabil</a:t>
            </a:r>
            <a:endParaRPr lang="en-US" sz="820" dirty="0"/>
          </a:p>
        </p:txBody>
      </p:sp>
      <p:sp>
        <p:nvSpPr>
          <p:cNvPr id="7" name="Text 5"/>
          <p:cNvSpPr/>
          <p:nvPr/>
        </p:nvSpPr>
        <p:spPr>
          <a:xfrm>
            <a:off x="4648051" y="1081236"/>
            <a:ext cx="4089350" cy="1174105"/>
          </a:xfrm>
          <a:prstGeom prst="rect">
            <a:avLst/>
          </a:prstGeom>
          <a:solidFill>
            <a:srgbClr val="16191D"/>
          </a:solidFill>
          <a:ln/>
        </p:spPr>
        <p:txBody>
          <a:bodyPr wrap="square" rtlCol="0" anchor="ctr"/>
          <a:lstStyle/>
          <a:p>
            <a:pPr indent="0" marL="0">
              <a:buNone/>
            </a:pPr>
            <a:endParaRPr lang="en-US" dirty="0"/>
          </a:p>
        </p:txBody>
      </p:sp>
      <p:sp>
        <p:nvSpPr>
          <p:cNvPr id="8" name="Text 6"/>
          <p:cNvSpPr/>
          <p:nvPr/>
        </p:nvSpPr>
        <p:spPr>
          <a:xfrm>
            <a:off x="4787652" y="1195536"/>
            <a:ext cx="3886352" cy="95250"/>
          </a:xfrm>
          <a:prstGeom prst="rect">
            <a:avLst/>
          </a:prstGeom>
          <a:noFill/>
          <a:ln/>
        </p:spPr>
        <p:txBody>
          <a:bodyPr wrap="square" lIns="0" tIns="0" rIns="0" bIns="0" rtlCol="0" anchor="t"/>
          <a:lstStyle/>
          <a:p>
            <a:pPr algn="l" indent="0" marL="0">
              <a:buNone/>
            </a:pPr>
            <a:r>
              <a:rPr lang="en-US" sz="680" b="1" dirty="0">
                <a:solidFill>
                  <a:srgbClr val="5FB6CC"/>
                </a:solidFill>
                <a:latin typeface="Arial" pitchFamily="34" charset="0"/>
                <a:ea typeface="Arial" pitchFamily="34" charset="-122"/>
                <a:cs typeface="Arial" pitchFamily="34" charset="-120"/>
              </a:rPr>
              <a:t>KLAIM DALAM PESAN DIREKSI</a:t>
            </a:r>
            <a:endParaRPr lang="en-US" sz="680" dirty="0"/>
          </a:p>
        </p:txBody>
      </p:sp>
      <p:sp>
        <p:nvSpPr>
          <p:cNvPr id="9" name="Text 7"/>
          <p:cNvSpPr/>
          <p:nvPr/>
        </p:nvSpPr>
        <p:spPr>
          <a:xfrm>
            <a:off x="4787652" y="1354187"/>
            <a:ext cx="3886352" cy="284262"/>
          </a:xfrm>
          <a:prstGeom prst="rect">
            <a:avLst/>
          </a:prstGeom>
          <a:noFill/>
          <a:ln/>
        </p:spPr>
        <p:txBody>
          <a:bodyPr wrap="square" lIns="0" tIns="0" rIns="0" bIns="0" rtlCol="0" anchor="t"/>
          <a:lstStyle/>
          <a:p>
            <a:pPr algn="l" indent="0" marL="0">
              <a:lnSpc>
                <a:spcPts val="1121"/>
              </a:lnSpc>
              <a:spcBef>
                <a:spcPts val="500"/>
              </a:spcBef>
              <a:buNone/>
            </a:pPr>
            <a:r>
              <a:rPr lang="en-US" sz="830" dirty="0">
                <a:solidFill>
                  <a:srgbClr val="F2EFE9"/>
                </a:solidFill>
                <a:latin typeface="Arial" pitchFamily="34" charset="0"/>
                <a:ea typeface="Arial" pitchFamily="34" charset="-122"/>
                <a:cs typeface="Arial" pitchFamily="34" charset="-120"/>
              </a:rPr>
              <a:t>“Penurunan emisi pembiayaan sebesar 12,4% dibandingkan tahun sebelumnya... hasil dari peningkatan eksposur kepada sektor energi terbarukan.”</a:t>
            </a:r>
            <a:endParaRPr lang="en-US" sz="830" dirty="0"/>
          </a:p>
        </p:txBody>
      </p:sp>
      <p:sp>
        <p:nvSpPr>
          <p:cNvPr id="10" name="Text 8"/>
          <p:cNvSpPr/>
          <p:nvPr/>
        </p:nvSpPr>
        <p:spPr>
          <a:xfrm>
            <a:off x="4787652" y="1714649"/>
            <a:ext cx="3886352" cy="426393"/>
          </a:xfrm>
          <a:prstGeom prst="rect">
            <a:avLst/>
          </a:prstGeom>
          <a:noFill/>
          <a:ln/>
        </p:spPr>
        <p:txBody>
          <a:bodyPr wrap="square" lIns="0" tIns="0" rIns="0" bIns="0" rtlCol="0" anchor="t"/>
          <a:lstStyle/>
          <a:p>
            <a:pPr algn="l" indent="0" marL="0">
              <a:lnSpc>
                <a:spcPts val="1121"/>
              </a:lnSpc>
              <a:spcBef>
                <a:spcPts val="600"/>
              </a:spcBef>
              <a:buNone/>
            </a:pPr>
            <a:r>
              <a:rPr lang="en-US" sz="830" b="1" dirty="0">
                <a:solidFill>
                  <a:srgbClr val="E8845F"/>
                </a:solidFill>
                <a:latin typeface="Arial" pitchFamily="34" charset="0"/>
                <a:ea typeface="Arial" pitchFamily="34" charset="-122"/>
                <a:cs typeface="Arial" pitchFamily="34" charset="-120"/>
              </a:rPr>
              <a:t>Faktanya:</a:t>
            </a:r>
            <a:pPr algn="l" indent="0" marL="0">
              <a:lnSpc>
                <a:spcPts val="1121"/>
              </a:lnSpc>
              <a:spcBef>
                <a:spcPts val="600"/>
              </a:spcBef>
              <a:buNone/>
            </a:pPr>
            <a:r>
              <a:rPr lang="en-US" sz="830" dirty="0">
                <a:solidFill>
                  <a:srgbClr val="E8845F"/>
                </a:solidFill>
                <a:latin typeface="Arial" pitchFamily="34" charset="0"/>
                <a:ea typeface="Arial" pitchFamily="34" charset="-122"/>
                <a:cs typeface="Arial" pitchFamily="34" charset="-120"/>
              </a:rPr>
              <a:t> emisi absolut naik 5,0%. Angka 12,4% adalah penurunan intensitas, yang sebagian besar aritmetika penyebut — kredit tumbuh 13,4% sementara emisi terhitung tumbuh 5,0%.</a:t>
            </a:r>
            <a:endParaRPr lang="en-US" sz="830" dirty="0"/>
          </a:p>
        </p:txBody>
      </p:sp>
      <p:sp>
        <p:nvSpPr>
          <p:cNvPr id="11" name="Text 9"/>
          <p:cNvSpPr/>
          <p:nvPr/>
        </p:nvSpPr>
        <p:spPr>
          <a:xfrm>
            <a:off x="4648051" y="2369641"/>
            <a:ext cx="4171137" cy="95250"/>
          </a:xfrm>
          <a:prstGeom prst="rect">
            <a:avLst/>
          </a:prstGeom>
          <a:noFill/>
          <a:ln/>
        </p:spPr>
        <p:txBody>
          <a:bodyPr wrap="square" lIns="0" tIns="0" rIns="0" bIns="0" rtlCol="0" anchor="t"/>
          <a:lstStyle/>
          <a:p>
            <a:pPr algn="l" indent="0" marL="0">
              <a:spcBef>
                <a:spcPts val="900"/>
              </a:spcBef>
              <a:buNone/>
            </a:pPr>
            <a:r>
              <a:rPr lang="en-US" sz="680" b="1" dirty="0">
                <a:solidFill>
                  <a:srgbClr val="6E7379"/>
                </a:solidFill>
                <a:latin typeface="Arial" pitchFamily="34" charset="0"/>
                <a:ea typeface="Arial" pitchFamily="34" charset="-122"/>
                <a:cs typeface="Arial" pitchFamily="34" charset="-120"/>
              </a:rPr>
              <a:t>SEKTOR YANG BERGERAK BERLAWANAN ARAH</a:t>
            </a:r>
            <a:endParaRPr lang="en-US" sz="680" dirty="0"/>
          </a:p>
        </p:txBody>
      </p:sp>
      <p:sp>
        <p:nvSpPr>
          <p:cNvPr id="12" name="Text 10"/>
          <p:cNvSpPr/>
          <p:nvPr/>
        </p:nvSpPr>
        <p:spPr>
          <a:xfrm>
            <a:off x="4648051" y="2528292"/>
            <a:ext cx="4089350" cy="567482"/>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b="1" dirty="0">
                <a:solidFill>
                  <a:srgbClr val="2C3136"/>
                </a:solidFill>
                <a:latin typeface="Arial" pitchFamily="34" charset="0"/>
                <a:ea typeface="Arial" pitchFamily="34" charset="-122"/>
                <a:cs typeface="Arial" pitchFamily="34" charset="-120"/>
              </a:rPr>
              <a:t>Batu bara</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0,55 ke 0,63 ke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1,04</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juta tCO2e — naik 89% dalam dua tahun</a:t>
            </a:r>
            <a:endParaRPr lang="en-US" sz="820" dirty="0"/>
          </a:p>
          <a:p>
            <a:pPr algn="l" marL="69850" indent="-69850">
              <a:lnSpc>
                <a:spcPts val="1189"/>
              </a:lnSpc>
              <a:spcAft>
                <a:spcPts val="450"/>
              </a:spcAft>
              <a:buSzPct val="100000"/>
              <a:buChar char="•"/>
            </a:pPr>
            <a:r>
              <a:rPr lang="en-US" sz="820" b="1" dirty="0">
                <a:solidFill>
                  <a:srgbClr val="2C3136"/>
                </a:solidFill>
                <a:latin typeface="Arial" pitchFamily="34" charset="0"/>
                <a:ea typeface="Arial" pitchFamily="34" charset="-122"/>
                <a:cs typeface="Arial" pitchFamily="34" charset="-120"/>
              </a:rPr>
              <a:t>Oil &amp; Gas</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1,38 ke 1,22 ke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3,14</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juta tCO2e — naik 157% YoY</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Intensitas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Healthcare</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bergerak 18,2 ke 4,8 ke 52,7 — 11x dalam satu tahun</a:t>
            </a:r>
            <a:endParaRPr lang="en-US" sz="82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06301" y="1081236"/>
          <a:ext cx="4089350" cy="1498550"/>
        </p:xfrm>
        <a:graphic>
          <a:graphicData uri="http://schemas.openxmlformats.org/drawingml/2006/table">
            <a:tbl>
              <a:tblPr/>
              <a:tblGrid>
                <a:gridCol w="1881101"/>
                <a:gridCol w="736083"/>
                <a:gridCol w="736083"/>
                <a:gridCol w="736083"/>
              </a:tblGrid>
              <a:tr h="24975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Uraian</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2023</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2024</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2025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49758">
                <a:tc>
                  <a:txBody>
                    <a:bodyPr/>
                    <a:lstStyle/>
                    <a:p>
                      <a:pPr algn="l" indent="0" marL="0">
                        <a:buNone/>
                      </a:pPr>
                      <a:r>
                        <a:rPr lang="en-US" sz="800" b="1" dirty="0">
                          <a:solidFill>
                            <a:srgbClr val="16191D"/>
                          </a:solidFill>
                          <a:latin typeface="Arial" pitchFamily="34" charset="0"/>
                          <a:ea typeface="Arial" pitchFamily="34" charset="-122"/>
                          <a:cs typeface="Arial" pitchFamily="34" charset="-120"/>
                        </a:rPr>
                        <a:t>Total absolut (juta tCO2e)</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18,1</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16191D"/>
                          </a:solidFill>
                          <a:latin typeface="Arial" pitchFamily="34" charset="0"/>
                          <a:ea typeface="Arial" pitchFamily="34" charset="-122"/>
                          <a:cs typeface="Arial" pitchFamily="34" charset="-120"/>
                        </a:rPr>
                        <a:t>19,4</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20,3</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r>
              <a:tr h="249758">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Intensitas (tCO2e/Rp miliar)</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31,83</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26,40</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4A7C59"/>
                          </a:solidFill>
                          <a:latin typeface="Arial" pitchFamily="34" charset="0"/>
                          <a:ea typeface="Arial" pitchFamily="34" charset="-122"/>
                          <a:cs typeface="Arial" pitchFamily="34" charset="-120"/>
                        </a:rPr>
                        <a:t>23,12</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49758">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Cakupan portofolio</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44,4%</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56,1%</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49758">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Batu bara (juta tCO2e)</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0,55</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0,63</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1,04</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49758">
                <a:tc>
                  <a:txBody>
                    <a:bodyPr/>
                    <a:lstStyle/>
                    <a:p>
                      <a:pPr algn="l" indent="0" marL="0">
                        <a:buNone/>
                      </a:pPr>
                      <a:r>
                        <a:rPr lang="en-US" sz="800" dirty="0">
                          <a:solidFill>
                            <a:srgbClr val="16191D"/>
                          </a:solidFill>
                          <a:latin typeface="Arial" pitchFamily="34" charset="0"/>
                          <a:ea typeface="Arial" pitchFamily="34" charset="-122"/>
                          <a:cs typeface="Arial" pitchFamily="34" charset="-120"/>
                        </a:rPr>
                        <a:t>Oil dan Gas (juta tCO2e)</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1,38</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dirty="0">
                          <a:solidFill>
                            <a:srgbClr val="16191D"/>
                          </a:solidFill>
                          <a:latin typeface="Arial" pitchFamily="34" charset="0"/>
                          <a:ea typeface="Arial" pitchFamily="34" charset="-122"/>
                          <a:cs typeface="Arial" pitchFamily="34" charset="-120"/>
                        </a:rPr>
                        <a:t>1,22</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800" b="1" dirty="0">
                          <a:solidFill>
                            <a:srgbClr val="C1502E"/>
                          </a:solidFill>
                          <a:latin typeface="Arial" pitchFamily="34" charset="0"/>
                          <a:ea typeface="Arial" pitchFamily="34" charset="-122"/>
                          <a:cs typeface="Arial" pitchFamily="34" charset="-120"/>
                        </a:rPr>
                        <a:t>3,14</a:t>
                      </a:r>
                      <a:endParaRPr lang="en-US" sz="80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KEBIJAKAN SEKTOR</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Tidak Ada Exclusion Batu Bara</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406301" y="1094036"/>
            <a:ext cx="2743200" cy="1925538"/>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6301" y="1108323"/>
            <a:ext cx="2743200" cy="0"/>
          </a:xfrm>
          <a:prstGeom prst="line">
            <a:avLst/>
          </a:prstGeom>
          <a:noFill/>
          <a:ln w="28575">
            <a:solidFill>
              <a:srgbClr val="154C5B"/>
            </a:solidFill>
            <a:prstDash val="solid"/>
          </a:ln>
        </p:spPr>
      </p:sp>
      <p:sp>
        <p:nvSpPr>
          <p:cNvPr id="7" name="Text 5"/>
          <p:cNvSpPr/>
          <p:nvPr/>
        </p:nvSpPr>
        <p:spPr>
          <a:xfrm>
            <a:off x="533251" y="1249561"/>
            <a:ext cx="2539085"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ISI EXCLUSION LIST</a:t>
            </a:r>
            <a:endParaRPr lang="en-US" sz="680" dirty="0"/>
          </a:p>
        </p:txBody>
      </p:sp>
      <p:sp>
        <p:nvSpPr>
          <p:cNvPr id="8" name="Text 6"/>
          <p:cNvSpPr/>
          <p:nvPr/>
        </p:nvSpPr>
        <p:spPr>
          <a:xfrm>
            <a:off x="533251" y="1421011"/>
            <a:ext cx="2489299" cy="1134963"/>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Penebangan liar</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Pembukaan lahan gambut</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Situs UNESCO, Ramsar, IUCN Kategori I dan II</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Pelanggaran HAM sesuai konvensi ILO</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Narkoba, pornografi, perjudian, pencucian uang, KKN</a:t>
            </a:r>
            <a:endParaRPr lang="en-US" sz="820" dirty="0"/>
          </a:p>
        </p:txBody>
      </p:sp>
      <p:sp>
        <p:nvSpPr>
          <p:cNvPr id="9" name="Text 7"/>
          <p:cNvSpPr/>
          <p:nvPr/>
        </p:nvSpPr>
        <p:spPr>
          <a:xfrm>
            <a:off x="533251" y="2644825"/>
            <a:ext cx="2539085" cy="120700"/>
          </a:xfrm>
          <a:prstGeom prst="rect">
            <a:avLst/>
          </a:prstGeom>
          <a:noFill/>
          <a:ln/>
        </p:spPr>
        <p:txBody>
          <a:bodyPr wrap="square" lIns="0" tIns="0" rIns="0" bIns="0" rtlCol="0" anchor="t"/>
          <a:lstStyle/>
          <a:p>
            <a:pPr algn="l" indent="0" marL="0">
              <a:lnSpc>
                <a:spcPts val="950"/>
              </a:lnSpc>
              <a:spcBef>
                <a:spcPts val="700"/>
              </a:spcBef>
              <a:buNone/>
            </a:pPr>
            <a:r>
              <a:rPr lang="en-US" sz="760" b="1" dirty="0">
                <a:solidFill>
                  <a:srgbClr val="6E7379"/>
                </a:solidFill>
                <a:latin typeface="Arial" pitchFamily="34" charset="0"/>
                <a:ea typeface="Arial" pitchFamily="34" charset="-122"/>
                <a:cs typeface="Arial" pitchFamily="34" charset="-120"/>
              </a:rPr>
              <a:t>Batu bara dan PLTU tidak ada dalam daftar ini.</a:t>
            </a:r>
            <a:endParaRPr lang="en-US" sz="760" dirty="0"/>
          </a:p>
        </p:txBody>
      </p:sp>
      <p:sp>
        <p:nvSpPr>
          <p:cNvPr id="10" name="Text 8"/>
          <p:cNvSpPr/>
          <p:nvPr/>
        </p:nvSpPr>
        <p:spPr>
          <a:xfrm>
            <a:off x="3276451" y="1094036"/>
            <a:ext cx="2743200" cy="1925538"/>
          </a:xfrm>
          <a:prstGeom prst="rect">
            <a:avLst/>
          </a:prstGeom>
          <a:solidFill>
            <a:srgbClr val="FFFFFF"/>
          </a:solidFill>
          <a:ln/>
        </p:spPr>
        <p:txBody>
          <a:bodyPr wrap="square" rtlCol="0" anchor="ctr"/>
          <a:lstStyle/>
          <a:p>
            <a:pPr indent="0" marL="0">
              <a:buNone/>
            </a:pPr>
            <a:endParaRPr lang="en-US" dirty="0"/>
          </a:p>
        </p:txBody>
      </p:sp>
      <p:sp>
        <p:nvSpPr>
          <p:cNvPr id="11" name="Shape 9"/>
          <p:cNvSpPr/>
          <p:nvPr/>
        </p:nvSpPr>
        <p:spPr>
          <a:xfrm>
            <a:off x="3276451" y="1108323"/>
            <a:ext cx="2743200" cy="0"/>
          </a:xfrm>
          <a:prstGeom prst="line">
            <a:avLst/>
          </a:prstGeom>
          <a:noFill/>
          <a:ln w="28575">
            <a:solidFill>
              <a:srgbClr val="B08327"/>
            </a:solidFill>
            <a:prstDash val="solid"/>
          </a:ln>
        </p:spPr>
      </p:sp>
      <p:sp>
        <p:nvSpPr>
          <p:cNvPr id="12" name="Text 10"/>
          <p:cNvSpPr/>
          <p:nvPr/>
        </p:nvSpPr>
        <p:spPr>
          <a:xfrm>
            <a:off x="3403402" y="1249561"/>
            <a:ext cx="2539085"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YANG BERLAKU SEBAGAI GANTINYA</a:t>
            </a:r>
            <a:endParaRPr lang="en-US" sz="680" dirty="0"/>
          </a:p>
        </p:txBody>
      </p:sp>
      <p:sp>
        <p:nvSpPr>
          <p:cNvPr id="13" name="Text 11"/>
          <p:cNvSpPr/>
          <p:nvPr/>
        </p:nvSpPr>
        <p:spPr>
          <a:xfrm>
            <a:off x="3403402" y="1421011"/>
            <a:ext cx="2489299" cy="1020663"/>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Tambang batu bara: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tidak membiayai tahap eksplorasi baru</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PROPER minimal Hijau</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Pemasok PLTU: tenor disesuaikan strategi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coal phase-out</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RUPTL PLN</a:t>
            </a:r>
            <a:endParaRPr lang="en-US" sz="820" dirty="0"/>
          </a:p>
          <a:p>
            <a:pPr algn="l" marL="69850" indent="-69850">
              <a:lnSpc>
                <a:spcPts val="1189"/>
              </a:lnSpc>
              <a:spcAft>
                <a:spcPts val="450"/>
              </a:spcAft>
              <a:buSzPct val="100000"/>
              <a:buChar char="•"/>
            </a:pPr>
            <a:r>
              <a:rPr lang="en-US" sz="820" b="1" dirty="0">
                <a:solidFill>
                  <a:srgbClr val="2C3136"/>
                </a:solidFill>
                <a:latin typeface="Arial" pitchFamily="34" charset="0"/>
                <a:ea typeface="Arial" pitchFamily="34" charset="-122"/>
                <a:cs typeface="Arial" pitchFamily="34" charset="-120"/>
              </a:rPr>
              <a:t>PLTU baru dengan PLN sebagai offtaker masih dapat dibiayai</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selama tenor selaras RUPTL</a:t>
            </a:r>
            <a:endParaRPr lang="en-US" sz="820" dirty="0"/>
          </a:p>
        </p:txBody>
      </p:sp>
      <p:sp>
        <p:nvSpPr>
          <p:cNvPr id="14" name="Text 12"/>
          <p:cNvSpPr/>
          <p:nvPr/>
        </p:nvSpPr>
        <p:spPr>
          <a:xfrm>
            <a:off x="3403402" y="2530525"/>
            <a:ext cx="2539085" cy="362099"/>
          </a:xfrm>
          <a:prstGeom prst="rect">
            <a:avLst/>
          </a:prstGeom>
          <a:noFill/>
          <a:ln/>
        </p:spPr>
        <p:txBody>
          <a:bodyPr wrap="square" lIns="0" tIns="0" rIns="0" bIns="0" rtlCol="0" anchor="t"/>
          <a:lstStyle/>
          <a:p>
            <a:pPr algn="l" indent="0" marL="0">
              <a:lnSpc>
                <a:spcPts val="950"/>
              </a:lnSpc>
              <a:spcBef>
                <a:spcPts val="700"/>
              </a:spcBef>
              <a:buNone/>
            </a:pPr>
            <a:r>
              <a:rPr lang="en-US" sz="760" dirty="0">
                <a:solidFill>
                  <a:srgbClr val="6E7379"/>
                </a:solidFill>
                <a:latin typeface="Arial" pitchFamily="34" charset="0"/>
                <a:ea typeface="Arial" pitchFamily="34" charset="-122"/>
                <a:cs typeface="Arial" pitchFamily="34" charset="-120"/>
              </a:rPr>
              <a:t>Posisi ini dapat dipertahankan bagi BUMN dengan mandat ketahanan energi — dan dinyatakan terbuka pada hal. 157.</a:t>
            </a:r>
            <a:endParaRPr lang="en-US" sz="760" dirty="0"/>
          </a:p>
        </p:txBody>
      </p:sp>
      <p:sp>
        <p:nvSpPr>
          <p:cNvPr id="15" name="Text 13"/>
          <p:cNvSpPr/>
          <p:nvPr/>
        </p:nvSpPr>
        <p:spPr>
          <a:xfrm>
            <a:off x="6146602" y="1094036"/>
            <a:ext cx="2590800" cy="1925538"/>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6146602" y="1108323"/>
            <a:ext cx="2590800" cy="0"/>
          </a:xfrm>
          <a:prstGeom prst="line">
            <a:avLst/>
          </a:prstGeom>
          <a:noFill/>
          <a:ln w="28575">
            <a:solidFill>
              <a:srgbClr val="4A7C59"/>
            </a:solidFill>
            <a:prstDash val="solid"/>
          </a:ln>
        </p:spPr>
      </p:sp>
      <p:sp>
        <p:nvSpPr>
          <p:cNvPr id="17" name="Text 15"/>
          <p:cNvSpPr/>
          <p:nvPr/>
        </p:nvSpPr>
        <p:spPr>
          <a:xfrm>
            <a:off x="6273552" y="1249561"/>
            <a:ext cx="2383637"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SISI YANG LEBIH MAJU</a:t>
            </a:r>
            <a:endParaRPr lang="en-US" sz="680" dirty="0"/>
          </a:p>
        </p:txBody>
      </p:sp>
      <p:sp>
        <p:nvSpPr>
          <p:cNvPr id="18" name="Text 16"/>
          <p:cNvSpPr/>
          <p:nvPr/>
        </p:nvSpPr>
        <p:spPr>
          <a:xfrm>
            <a:off x="6273552" y="1421011"/>
            <a:ext cx="2336899" cy="718542"/>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Sektor agrikultur menuntut komitmen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NDPE</a:t>
            </a:r>
            <a:endParaRPr lang="en-US" sz="820" dirty="0"/>
          </a:p>
          <a:p>
            <a:pPr algn="l" marL="69850" indent="-69850">
              <a:lnSpc>
                <a:spcPts val="1189"/>
              </a:lnSpc>
              <a:spcAft>
                <a:spcPts val="450"/>
              </a:spcAft>
              <a:buSzPct val="100000"/>
              <a:buChar char="•"/>
            </a:pPr>
            <a:r>
              <a:rPr lang="en-US" sz="820" b="1" dirty="0">
                <a:solidFill>
                  <a:srgbClr val="2C3136"/>
                </a:solidFill>
                <a:latin typeface="Arial" pitchFamily="34" charset="0"/>
                <a:ea typeface="Arial" pitchFamily="34" charset="-122"/>
                <a:cs typeface="Arial" pitchFamily="34" charset="-120"/>
              </a:rPr>
              <a:t>Larangan mutlak fasilitas baru di lahan gambut</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untuk debitur baru maupun eksisting</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Sawit wajib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ISPO dan/atau RSPO</a:t>
            </a:r>
            <a:endParaRPr lang="en-US" sz="820" dirty="0"/>
          </a:p>
        </p:txBody>
      </p:sp>
      <p:sp>
        <p:nvSpPr>
          <p:cNvPr id="19" name="Text 17"/>
          <p:cNvSpPr/>
          <p:nvPr/>
        </p:nvSpPr>
        <p:spPr>
          <a:xfrm>
            <a:off x="6273552" y="2228404"/>
            <a:ext cx="2383637" cy="362099"/>
          </a:xfrm>
          <a:prstGeom prst="rect">
            <a:avLst/>
          </a:prstGeom>
          <a:noFill/>
          <a:ln/>
        </p:spPr>
        <p:txBody>
          <a:bodyPr wrap="square" lIns="0" tIns="0" rIns="0" bIns="0" rtlCol="0" anchor="t"/>
          <a:lstStyle/>
          <a:p>
            <a:pPr algn="l" indent="0" marL="0">
              <a:lnSpc>
                <a:spcPts val="950"/>
              </a:lnSpc>
              <a:spcBef>
                <a:spcPts val="700"/>
              </a:spcBef>
              <a:buNone/>
            </a:pPr>
            <a:r>
              <a:rPr lang="en-US" sz="760" dirty="0">
                <a:solidFill>
                  <a:srgbClr val="6E7379"/>
                </a:solidFill>
                <a:latin typeface="Arial" pitchFamily="34" charset="0"/>
                <a:ea typeface="Arial" pitchFamily="34" charset="-122"/>
                <a:cs typeface="Arial" pitchFamily="34" charset="-120"/>
              </a:rPr>
              <a:t>Namun debitur bersertifikat </a:t>
            </a:r>
            <a:pPr algn="l" indent="0" marL="0">
              <a:lnSpc>
                <a:spcPts val="950"/>
              </a:lnSpc>
              <a:spcBef>
                <a:spcPts val="700"/>
              </a:spcBef>
              <a:buNone/>
            </a:pPr>
            <a:r>
              <a:rPr lang="en-US" sz="760" b="1" dirty="0">
                <a:solidFill>
                  <a:srgbClr val="6E7379"/>
                </a:solidFill>
                <a:latin typeface="Arial" pitchFamily="34" charset="0"/>
                <a:ea typeface="Arial" pitchFamily="34" charset="-122"/>
                <a:cs typeface="Arial" pitchFamily="34" charset="-120"/>
              </a:rPr>
              <a:t>turun 35% dalam dua tahun</a:t>
            </a:r>
            <a:pPr algn="l" indent="0" marL="0">
              <a:lnSpc>
                <a:spcPts val="950"/>
              </a:lnSpc>
              <a:spcBef>
                <a:spcPts val="700"/>
              </a:spcBef>
              <a:buNone/>
            </a:pPr>
            <a:r>
              <a:rPr lang="en-US" sz="760" dirty="0">
                <a:solidFill>
                  <a:srgbClr val="6E7379"/>
                </a:solidFill>
                <a:latin typeface="Arial" pitchFamily="34" charset="0"/>
                <a:ea typeface="Arial" pitchFamily="34" charset="-122"/>
                <a:cs typeface="Arial" pitchFamily="34" charset="-120"/>
              </a:rPr>
              <a:t> (307 ke 211 ke 199) sementara portofolio lahan naik ke Rp115,7 T.</a:t>
            </a:r>
            <a:endParaRPr lang="en-US" sz="760" dirty="0"/>
          </a:p>
        </p:txBody>
      </p:sp>
      <p:sp>
        <p:nvSpPr>
          <p:cNvPr id="20" name="Text 18"/>
          <p:cNvSpPr/>
          <p:nvPr/>
        </p:nvSpPr>
        <p:spPr>
          <a:xfrm>
            <a:off x="406301" y="3159175"/>
            <a:ext cx="8331101" cy="490835"/>
          </a:xfrm>
          <a:prstGeom prst="rect">
            <a:avLst/>
          </a:prstGeom>
          <a:solidFill>
            <a:srgbClr val="16191D"/>
          </a:solidFill>
          <a:ln/>
        </p:spPr>
        <p:txBody>
          <a:bodyPr wrap="square" rtlCol="0" anchor="ctr"/>
          <a:lstStyle/>
          <a:p>
            <a:pPr indent="0" marL="0">
              <a:buNone/>
            </a:pPr>
            <a:endParaRPr lang="en-US" dirty="0"/>
          </a:p>
        </p:txBody>
      </p:sp>
      <p:sp>
        <p:nvSpPr>
          <p:cNvPr id="21" name="Text 19"/>
          <p:cNvSpPr/>
          <p:nvPr/>
        </p:nvSpPr>
        <p:spPr>
          <a:xfrm>
            <a:off x="558701" y="3260675"/>
            <a:ext cx="8186827" cy="287834"/>
          </a:xfrm>
          <a:prstGeom prst="rect">
            <a:avLst/>
          </a:prstGeom>
          <a:noFill/>
          <a:ln/>
        </p:spPr>
        <p:txBody>
          <a:bodyPr wrap="square" lIns="0" tIns="0" rIns="0" bIns="0" rtlCol="0" anchor="t"/>
          <a:lstStyle/>
          <a:p>
            <a:pPr algn="l" indent="0" marL="0">
              <a:lnSpc>
                <a:spcPts val="1134"/>
              </a:lnSpc>
              <a:buNone/>
            </a:pPr>
            <a:r>
              <a:rPr lang="en-US" sz="840" b="1" dirty="0">
                <a:solidFill>
                  <a:srgbClr val="5FB6CC"/>
                </a:solidFill>
                <a:latin typeface="Arial" pitchFamily="34" charset="0"/>
                <a:ea typeface="Arial" pitchFamily="34" charset="-122"/>
                <a:cs typeface="Arial" pitchFamily="34" charset="-120"/>
              </a:rPr>
              <a:t>Kesenjangan target terbesar.</a:t>
            </a:r>
            <a:pPr algn="l" indent="0" marL="0">
              <a:lnSpc>
                <a:spcPts val="1134"/>
              </a:lnSpc>
              <a:buNone/>
            </a:pPr>
            <a:r>
              <a:rPr lang="en-US" sz="840" dirty="0">
                <a:solidFill>
                  <a:srgbClr val="F2EFE9"/>
                </a:solidFill>
                <a:latin typeface="Arial" pitchFamily="34" charset="0"/>
                <a:ea typeface="Arial" pitchFamily="34" charset="-122"/>
                <a:cs typeface="Arial" pitchFamily="34" charset="-120"/>
              </a:rPr>
              <a:t> NZE in Financing ditetapkan 2060 — 35 tahun ke depan — </a:t>
            </a:r>
            <a:pPr algn="l" indent="0" marL="0">
              <a:lnSpc>
                <a:spcPts val="1134"/>
              </a:lnSpc>
              <a:buNone/>
            </a:pPr>
            <a:r>
              <a:rPr lang="en-US" sz="840" b="1" dirty="0">
                <a:solidFill>
                  <a:srgbClr val="F2EFE9"/>
                </a:solidFill>
                <a:latin typeface="Arial" pitchFamily="34" charset="0"/>
                <a:ea typeface="Arial" pitchFamily="34" charset="-122"/>
                <a:cs typeface="Arial" pitchFamily="34" charset="-120"/>
              </a:rPr>
              <a:t>tanpa satu pun target antara</a:t>
            </a:r>
            <a:pPr algn="l" indent="0" marL="0">
              <a:lnSpc>
                <a:spcPts val="1134"/>
              </a:lnSpc>
              <a:buNone/>
            </a:pPr>
            <a:r>
              <a:rPr lang="en-US" sz="840" dirty="0">
                <a:solidFill>
                  <a:srgbClr val="F2EFE9"/>
                </a:solidFill>
                <a:latin typeface="Arial" pitchFamily="34" charset="0"/>
                <a:ea typeface="Arial" pitchFamily="34" charset="-122"/>
                <a:cs typeface="Arial" pitchFamily="34" charset="-120"/>
              </a:rPr>
              <a:t>. Tidak ada target intensitas 2030, tidak ada jalur dekarbonisasi sektoral, tidak ada validasi SBTi. Decarbonization Pathway disebut sudah disetujui dalam RAKB, tetapi isinya tidak diungkapkan.</a:t>
            </a:r>
            <a:endParaRPr lang="en-US" sz="8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MANAJEMEN RISIKO IKLIM</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Bagian Terkuat dari Seluruh Laporan</a:t>
            </a:r>
            <a:endParaRPr lang="en-US" sz="2400" dirty="0"/>
          </a:p>
        </p:txBody>
      </p:sp>
      <p:sp>
        <p:nvSpPr>
          <p:cNvPr id="4" name="Text 2"/>
          <p:cNvSpPr/>
          <p:nvPr/>
        </p:nvSpPr>
        <p:spPr>
          <a:xfrm>
            <a:off x="406301" y="865584"/>
            <a:ext cx="8419999" cy="315218"/>
          </a:xfrm>
          <a:prstGeom prst="rect">
            <a:avLst/>
          </a:prstGeom>
          <a:noFill/>
          <a:ln/>
        </p:spPr>
        <p:txBody>
          <a:bodyPr wrap="square" lIns="0" tIns="0" rIns="0" bIns="0" rtlCol="0" anchor="t"/>
          <a:lstStyle/>
          <a:p>
            <a:pPr algn="l" indent="0" marL="0">
              <a:lnSpc>
                <a:spcPts val="1242"/>
              </a:lnSpc>
              <a:spcBef>
                <a:spcPts val="600"/>
              </a:spcBef>
              <a:buNone/>
            </a:pPr>
            <a:r>
              <a:rPr lang="en-US" sz="900" dirty="0">
                <a:solidFill>
                  <a:srgbClr val="4A4F55"/>
                </a:solidFill>
                <a:latin typeface="Arial" pitchFamily="34" charset="0"/>
                <a:ea typeface="Arial" pitchFamily="34" charset="-122"/>
                <a:cs typeface="Arial" pitchFamily="34" charset="-120"/>
              </a:rPr>
              <a:t>CRMS mencakup 100% portofolio dengan skenario NGFS 5 untuk risiko transisi dan RCP 8.5 untuk risiko fisik. Pengungkapan sedetail ini — dengan angka rupiah, per sektor, per provinsi, hingga dampak ke CAR — masih jarang di pasar Indonesia.</a:t>
            </a:r>
            <a:endParaRPr lang="en-US" sz="900" dirty="0"/>
          </a:p>
        </p:txBody>
      </p:sp>
      <p:sp>
        <p:nvSpPr>
          <p:cNvPr id="5" name="Text 3"/>
          <p:cNvSpPr/>
          <p:nvPr/>
        </p:nvSpPr>
        <p:spPr>
          <a:xfrm>
            <a:off x="406301" y="1282303"/>
            <a:ext cx="8331398" cy="25301"/>
          </a:xfrm>
          <a:prstGeom prst="rect">
            <a:avLst/>
          </a:prstGeom>
          <a:solidFill>
            <a:srgbClr val="154C5B"/>
          </a:solidFill>
          <a:ln/>
        </p:spPr>
        <p:txBody>
          <a:bodyPr wrap="square" rtlCol="0" anchor="ctr"/>
          <a:lstStyle/>
          <a:p>
            <a:pPr indent="0" marL="0">
              <a:buNone/>
            </a:pPr>
            <a:endParaRPr lang="en-US" dirty="0"/>
          </a:p>
        </p:txBody>
      </p:sp>
      <p:sp>
        <p:nvSpPr>
          <p:cNvPr id="6" name="Text 4"/>
          <p:cNvSpPr/>
          <p:nvPr/>
        </p:nvSpPr>
        <p:spPr>
          <a:xfrm>
            <a:off x="5359301" y="1421904"/>
            <a:ext cx="3445663"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DUA CATATAN</a:t>
            </a:r>
            <a:endParaRPr lang="en-US" sz="680" dirty="0"/>
          </a:p>
        </p:txBody>
      </p:sp>
      <p:sp>
        <p:nvSpPr>
          <p:cNvPr id="7" name="Text 5"/>
          <p:cNvSpPr/>
          <p:nvPr/>
        </p:nvSpPr>
        <p:spPr>
          <a:xfrm>
            <a:off x="5359301" y="1593354"/>
            <a:ext cx="3378101" cy="1126034"/>
          </a:xfrm>
          <a:prstGeom prst="rect">
            <a:avLst/>
          </a:prstGeom>
          <a:noFill/>
          <a:ln/>
        </p:spPr>
        <p:txBody>
          <a:bodyPr wrap="square" lIns="69850" tIns="0" rIns="0" bIns="0" rtlCol="0" anchor="t"/>
          <a:lstStyle/>
          <a:p>
            <a:pPr algn="l" marL="69850" indent="-69850">
              <a:lnSpc>
                <a:spcPts val="1204"/>
              </a:lnSpc>
              <a:spcAft>
                <a:spcPts val="450"/>
              </a:spcAft>
              <a:buSzPct val="100000"/>
              <a:buChar char="•"/>
            </a:pPr>
            <a:r>
              <a:rPr lang="en-US" sz="830" dirty="0">
                <a:solidFill>
                  <a:srgbClr val="2C3136"/>
                </a:solidFill>
                <a:latin typeface="Arial" pitchFamily="34" charset="0"/>
                <a:ea typeface="Arial" pitchFamily="34" charset="-122"/>
                <a:cs typeface="Arial" pitchFamily="34" charset="-120"/>
              </a:rPr>
              <a:t>Hasilnya menunjukkan </a:t>
            </a:r>
            <a:pPr algn="l" indent="0" marL="0">
              <a:lnSpc>
                <a:spcPts val="1204"/>
              </a:lnSpc>
              <a:spcAft>
                <a:spcPts val="450"/>
              </a:spcAft>
              <a:buNone/>
            </a:pPr>
            <a:r>
              <a:rPr lang="en-US" sz="830" b="1" dirty="0">
                <a:solidFill>
                  <a:srgbClr val="2C3136"/>
                </a:solidFill>
                <a:latin typeface="Arial" pitchFamily="34" charset="0"/>
                <a:ea typeface="Arial" pitchFamily="34" charset="-122"/>
                <a:cs typeface="Arial" pitchFamily="34" charset="-120"/>
              </a:rPr>
              <a:t>eksposur yang secara finansial modest</a:t>
            </a:r>
            <a:pPr algn="l" indent="0" marL="0">
              <a:lnSpc>
                <a:spcPts val="1204"/>
              </a:lnSpc>
              <a:spcAft>
                <a:spcPts val="450"/>
              </a:spcAft>
              <a:buNone/>
            </a:pPr>
            <a:r>
              <a:rPr lang="en-US" sz="830" dirty="0">
                <a:solidFill>
                  <a:srgbClr val="2C3136"/>
                </a:solidFill>
                <a:latin typeface="Arial" pitchFamily="34" charset="0"/>
                <a:ea typeface="Arial" pitchFamily="34" charset="-122"/>
                <a:cs typeface="Arial" pitchFamily="34" charset="-120"/>
              </a:rPr>
              <a:t> — CAR turun 1 poin, NPL ke 1,4%. Ini justru melemahkan urgensi bisnis untuk transisi cepat, dan laporan tidak menguji apakah asumsi di baliknya sudah cukup konservatif</a:t>
            </a:r>
            <a:endParaRPr lang="en-US" sz="830" dirty="0"/>
          </a:p>
          <a:p>
            <a:pPr algn="l" marL="69850" indent="-69850">
              <a:lnSpc>
                <a:spcPts val="1204"/>
              </a:lnSpc>
              <a:spcAft>
                <a:spcPts val="450"/>
              </a:spcAft>
              <a:buSzPct val="100000"/>
              <a:buChar char="•"/>
            </a:pPr>
            <a:r>
              <a:rPr lang="en-US" sz="830" b="1" dirty="0">
                <a:solidFill>
                  <a:srgbClr val="2C3136"/>
                </a:solidFill>
                <a:latin typeface="Arial" pitchFamily="34" charset="0"/>
                <a:ea typeface="Arial" pitchFamily="34" charset="-122"/>
                <a:cs typeface="Arial" pitchFamily="34" charset="-120"/>
              </a:rPr>
              <a:t>42% gedung kantor berada di kategori Red Flag atau High Risk banjir</a:t>
            </a:r>
            <a:pPr algn="l" indent="0" marL="0">
              <a:lnSpc>
                <a:spcPts val="1204"/>
              </a:lnSpc>
              <a:spcAft>
                <a:spcPts val="450"/>
              </a:spcAft>
              <a:buNone/>
            </a:pPr>
            <a:r>
              <a:rPr lang="en-US" sz="830" dirty="0">
                <a:solidFill>
                  <a:srgbClr val="2C3136"/>
                </a:solidFill>
                <a:latin typeface="Arial" pitchFamily="34" charset="0"/>
                <a:ea typeface="Arial" pitchFamily="34" charset="-122"/>
                <a:cs typeface="Arial" pitchFamily="34" charset="-120"/>
              </a:rPr>
              <a:t>, namun tidak ada rencana mitigasi atau relokasi yang disebutkan untuk aset-aset tersebut</a:t>
            </a:r>
            <a:endParaRPr lang="en-US" sz="830" dirty="0"/>
          </a:p>
        </p:txBody>
      </p:sp>
      <p:sp>
        <p:nvSpPr>
          <p:cNvPr id="8" name="Text 6"/>
          <p:cNvSpPr/>
          <p:nvPr/>
        </p:nvSpPr>
        <p:spPr>
          <a:xfrm>
            <a:off x="5359301" y="2820888"/>
            <a:ext cx="3378101" cy="529977"/>
          </a:xfrm>
          <a:prstGeom prst="rect">
            <a:avLst/>
          </a:prstGeom>
          <a:solidFill>
            <a:srgbClr val="FFFFFF"/>
          </a:solidFill>
          <a:ln/>
        </p:spPr>
        <p:txBody>
          <a:bodyPr wrap="square" rtlCol="0" anchor="ctr"/>
          <a:lstStyle/>
          <a:p>
            <a:pPr indent="0" marL="0">
              <a:buNone/>
            </a:pPr>
            <a:endParaRPr lang="en-US" dirty="0"/>
          </a:p>
        </p:txBody>
      </p:sp>
      <p:sp>
        <p:nvSpPr>
          <p:cNvPr id="9" name="Shape 7"/>
          <p:cNvSpPr/>
          <p:nvPr/>
        </p:nvSpPr>
        <p:spPr>
          <a:xfrm>
            <a:off x="5359301" y="2835176"/>
            <a:ext cx="3378101" cy="0"/>
          </a:xfrm>
          <a:prstGeom prst="line">
            <a:avLst/>
          </a:prstGeom>
          <a:noFill/>
          <a:ln w="28575">
            <a:solidFill>
              <a:srgbClr val="4A7C59"/>
            </a:solidFill>
            <a:prstDash val="solid"/>
          </a:ln>
        </p:spPr>
      </p:sp>
      <p:sp>
        <p:nvSpPr>
          <p:cNvPr id="10" name="Text 8"/>
          <p:cNvSpPr/>
          <p:nvPr/>
        </p:nvSpPr>
        <p:spPr>
          <a:xfrm>
            <a:off x="5486251" y="3001714"/>
            <a:ext cx="3186684" cy="247650"/>
          </a:xfrm>
          <a:prstGeom prst="rect">
            <a:avLst/>
          </a:prstGeom>
          <a:noFill/>
          <a:ln/>
        </p:spPr>
        <p:txBody>
          <a:bodyPr wrap="square" lIns="0" tIns="0" rIns="0" bIns="0" rtlCol="0" anchor="t"/>
          <a:lstStyle/>
          <a:p>
            <a:pPr algn="l" indent="0" marL="0">
              <a:lnSpc>
                <a:spcPts val="975"/>
              </a:lnSpc>
              <a:spcBef>
                <a:spcPts val="400"/>
              </a:spcBef>
              <a:buNone/>
            </a:pPr>
            <a:r>
              <a:rPr lang="en-US" sz="780" dirty="0">
                <a:solidFill>
                  <a:srgbClr val="6E7379"/>
                </a:solidFill>
                <a:latin typeface="Arial" pitchFamily="34" charset="0"/>
                <a:ea typeface="Arial" pitchFamily="34" charset="-122"/>
                <a:cs typeface="Arial" pitchFamily="34" charset="-120"/>
              </a:rPr>
              <a:t>Penurunan nilai agunan terparah: Bengkulu −9,98%, Sulawesi Utara −9,88%, Maluku −9,39%, Sumatera Barat −8,52%.</a:t>
            </a:r>
            <a:endParaRPr lang="en-US" sz="78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06301" y="1421904"/>
          <a:ext cx="4800600" cy="2336750"/>
        </p:xfrm>
        <a:graphic>
          <a:graphicData uri="http://schemas.openxmlformats.org/drawingml/2006/table">
            <a:tbl>
              <a:tblPr/>
              <a:tblGrid>
                <a:gridCol w="2880360"/>
                <a:gridCol w="1920240"/>
              </a:tblGrid>
              <a:tr h="259639">
                <a:tc>
                  <a:txBody>
                    <a:bodyPr/>
                    <a:lstStyle/>
                    <a:p>
                      <a:pPr algn="l" indent="0" marL="0">
                        <a:buNone/>
                      </a:pPr>
                      <a:r>
                        <a:rPr lang="en-US" sz="780" b="1" dirty="0">
                          <a:solidFill>
                            <a:srgbClr val="FFFFFF"/>
                          </a:solidFill>
                          <a:latin typeface="Arial" pitchFamily="34" charset="0"/>
                          <a:ea typeface="Arial" pitchFamily="34" charset="-122"/>
                          <a:cs typeface="Arial" pitchFamily="34" charset="-120"/>
                        </a:rPr>
                        <a:t>Metrik Hasil Pilot Project CRMS 2025</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80" b="1" dirty="0">
                          <a:solidFill>
                            <a:srgbClr val="FFFFFF"/>
                          </a:solidFill>
                          <a:latin typeface="Arial" pitchFamily="34" charset="0"/>
                          <a:ea typeface="Arial" pitchFamily="34" charset="-122"/>
                          <a:cs typeface="Arial" pitchFamily="34" charset="-120"/>
                        </a:rPr>
                        <a:t>Hasil</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Penurunan nilai agunan (skenario RCP 8.5)</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b="1" dirty="0">
                          <a:solidFill>
                            <a:srgbClr val="16191D"/>
                          </a:solidFill>
                          <a:latin typeface="Arial" pitchFamily="34" charset="0"/>
                          <a:ea typeface="Arial" pitchFamily="34" charset="-122"/>
                          <a:cs typeface="Arial" pitchFamily="34" charset="-120"/>
                        </a:rPr>
                        <a:t>−3% YoY</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Kenaikan ECL — total portofolio</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dirty="0">
                          <a:solidFill>
                            <a:srgbClr val="16191D"/>
                          </a:solidFill>
                          <a:latin typeface="Arial" pitchFamily="34" charset="0"/>
                          <a:ea typeface="Arial" pitchFamily="34" charset="-122"/>
                          <a:cs typeface="Arial" pitchFamily="34" charset="-120"/>
                        </a:rPr>
                        <a:t>+3%</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Kenaikan ECL — sektor pengadaan listrik</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b="1" dirty="0">
                          <a:solidFill>
                            <a:srgbClr val="C1502E"/>
                          </a:solidFill>
                          <a:latin typeface="Arial" pitchFamily="34" charset="0"/>
                          <a:ea typeface="Arial" pitchFamily="34" charset="-122"/>
                          <a:cs typeface="Arial" pitchFamily="34" charset="-120"/>
                        </a:rPr>
                        <a:t>+9%  (≈Rp100 miliar)</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NPL pada skenario Current Policy 2025–2026</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dirty="0">
                          <a:solidFill>
                            <a:srgbClr val="16191D"/>
                          </a:solidFill>
                          <a:latin typeface="Arial" pitchFamily="34" charset="0"/>
                          <a:ea typeface="Arial" pitchFamily="34" charset="-122"/>
                          <a:cs typeface="Arial" pitchFamily="34" charset="-120"/>
                        </a:rPr>
                        <a:t>hingga 1,4%</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ECL pada skenario Net Zero 2050 vs baseline</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dirty="0">
                          <a:solidFill>
                            <a:srgbClr val="16191D"/>
                          </a:solidFill>
                          <a:latin typeface="Arial" pitchFamily="34" charset="0"/>
                          <a:ea typeface="Arial" pitchFamily="34" charset="-122"/>
                          <a:cs typeface="Arial" pitchFamily="34" charset="-120"/>
                        </a:rPr>
                        <a:t>+11 hingga +12%</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CAR pada skenario Net Zero 2050</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dirty="0">
                          <a:solidFill>
                            <a:srgbClr val="16191D"/>
                          </a:solidFill>
                          <a:latin typeface="Arial" pitchFamily="34" charset="0"/>
                          <a:ea typeface="Arial" pitchFamily="34" charset="-122"/>
                          <a:cs typeface="Arial" pitchFamily="34" charset="-120"/>
                        </a:rPr>
                        <a:t>18–19%  (−1 pp)</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Risiko banjir gedung kantor (jangka pendek)</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b="1" dirty="0">
                          <a:solidFill>
                            <a:srgbClr val="C1502E"/>
                          </a:solidFill>
                          <a:latin typeface="Arial" pitchFamily="34" charset="0"/>
                          <a:ea typeface="Arial" pitchFamily="34" charset="-122"/>
                          <a:cs typeface="Arial" pitchFamily="34" charset="-120"/>
                        </a:rPr>
                        <a:t>Red Flag 10%, High 32%</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59639">
                <a:tc>
                  <a:txBody>
                    <a:bodyPr/>
                    <a:lstStyle/>
                    <a:p>
                      <a:pPr algn="l" indent="0" marL="0">
                        <a:buNone/>
                      </a:pPr>
                      <a:r>
                        <a:rPr lang="en-US" sz="780" dirty="0">
                          <a:solidFill>
                            <a:srgbClr val="16191D"/>
                          </a:solidFill>
                          <a:latin typeface="Arial" pitchFamily="34" charset="0"/>
                          <a:ea typeface="Arial" pitchFamily="34" charset="-122"/>
                          <a:cs typeface="Arial" pitchFamily="34" charset="-120"/>
                        </a:rPr>
                        <a:t>Risiko kebakaran hutan gedung kantor</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80" dirty="0">
                          <a:solidFill>
                            <a:srgbClr val="16191D"/>
                          </a:solidFill>
                          <a:latin typeface="Arial" pitchFamily="34" charset="0"/>
                          <a:ea typeface="Arial" pitchFamily="34" charset="-122"/>
                          <a:cs typeface="Arial" pitchFamily="34" charset="-120"/>
                        </a:rPr>
                        <a:t>High 9%, Medium 70%</a:t>
                      </a:r>
                      <a:endParaRPr lang="en-US" sz="78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ASSURANCE DAN BATAS DATA</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98,8% Emisi Berada di Luar Seluruh Lingkup Assurance</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406301" y="1094036"/>
            <a:ext cx="2743200" cy="2189411"/>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6301" y="1108323"/>
            <a:ext cx="2743200" cy="0"/>
          </a:xfrm>
          <a:prstGeom prst="line">
            <a:avLst/>
          </a:prstGeom>
          <a:noFill/>
          <a:ln w="28575">
            <a:solidFill>
              <a:srgbClr val="B08327"/>
            </a:solidFill>
            <a:prstDash val="solid"/>
          </a:ln>
        </p:spPr>
      </p:sp>
      <p:sp>
        <p:nvSpPr>
          <p:cNvPr id="7" name="Text 5"/>
          <p:cNvSpPr/>
          <p:nvPr/>
        </p:nvSpPr>
        <p:spPr>
          <a:xfrm>
            <a:off x="533251" y="1249561"/>
            <a:ext cx="2539085" cy="190500"/>
          </a:xfrm>
          <a:prstGeom prst="rect">
            <a:avLst/>
          </a:prstGeom>
          <a:noFill/>
          <a:ln/>
        </p:spPr>
        <p:txBody>
          <a:bodyPr wrap="square" lIns="0" tIns="0" rIns="0" bIns="0" rtlCol="0" anchor="t"/>
          <a:lstStyle/>
          <a:p>
            <a:pPr algn="l" indent="0" marL="0">
              <a:buNone/>
            </a:pPr>
            <a:r>
              <a:rPr lang="en-US" sz="680" b="1" dirty="0">
                <a:solidFill>
                  <a:srgbClr val="8B6A1F"/>
                </a:solidFill>
                <a:latin typeface="Arial" pitchFamily="34" charset="0"/>
                <a:ea typeface="Arial" pitchFamily="34" charset="-122"/>
                <a:cs typeface="Arial" pitchFamily="34" charset="-120"/>
              </a:rPr>
              <a:t>CAKUPAN LEBIH SEMPIT DARI YANG DINYATAKAN</a:t>
            </a:r>
            <a:endParaRPr lang="en-US" sz="680" dirty="0"/>
          </a:p>
        </p:txBody>
      </p:sp>
      <p:sp>
        <p:nvSpPr>
          <p:cNvPr id="8" name="Text 6"/>
          <p:cNvSpPr/>
          <p:nvPr/>
        </p:nvSpPr>
        <p:spPr>
          <a:xfrm>
            <a:off x="533251" y="1516261"/>
            <a:ext cx="2539085" cy="604242"/>
          </a:xfrm>
          <a:prstGeom prst="rect">
            <a:avLst/>
          </a:prstGeom>
          <a:noFill/>
          <a:ln/>
        </p:spPr>
        <p:txBody>
          <a:bodyPr wrap="square" lIns="0" tIns="0" rIns="0" bIns="0" rtlCol="0" anchor="t"/>
          <a:lstStyle/>
          <a:p>
            <a:pPr algn="l" indent="0" marL="0">
              <a:lnSpc>
                <a:spcPts val="1189"/>
              </a:lnSpc>
              <a:spcBef>
                <a:spcPts val="600"/>
              </a:spcBef>
              <a:buNone/>
            </a:pPr>
            <a:r>
              <a:rPr lang="en-US" sz="820" dirty="0">
                <a:solidFill>
                  <a:srgbClr val="2C3136"/>
                </a:solidFill>
                <a:latin typeface="Arial" pitchFamily="34" charset="0"/>
                <a:ea typeface="Arial" pitchFamily="34" charset="-122"/>
                <a:cs typeface="Arial" pitchFamily="34" charset="-120"/>
              </a:rPr>
              <a:t>Bab Tentang Laporan menyatakan assurance mencakup KPI </a:t>
            </a:r>
            <a:pPr algn="l" indent="0" marL="0">
              <a:lnSpc>
                <a:spcPts val="1189"/>
              </a:lnSpc>
              <a:spcBef>
                <a:spcPts val="600"/>
              </a:spcBef>
              <a:buNone/>
            </a:pPr>
            <a:r>
              <a:rPr lang="en-US" sz="820" b="1" dirty="0">
                <a:solidFill>
                  <a:srgbClr val="2C3136"/>
                </a:solidFill>
                <a:latin typeface="Arial" pitchFamily="34" charset="0"/>
                <a:ea typeface="Arial" pitchFamily="34" charset="-122"/>
                <a:cs typeface="Arial" pitchFamily="34" charset="-120"/>
              </a:rPr>
              <a:t>lingkungan dan sosial</a:t>
            </a:r>
            <a:pPr algn="l" indent="0" marL="0">
              <a:lnSpc>
                <a:spcPts val="1189"/>
              </a:lnSpc>
              <a:spcBef>
                <a:spcPts val="600"/>
              </a:spcBef>
              <a:buNone/>
            </a:pPr>
            <a:r>
              <a:rPr lang="en-US" sz="820" dirty="0">
                <a:solidFill>
                  <a:srgbClr val="2C3136"/>
                </a:solidFill>
                <a:latin typeface="Arial" pitchFamily="34" charset="0"/>
                <a:ea typeface="Arial" pitchFamily="34" charset="-122"/>
                <a:cs typeface="Arial" pitchFamily="34" charset="-120"/>
              </a:rPr>
              <a:t>. Statement Sucofindo menyebut empat dan hanya empat, seluruhnya sosial:</a:t>
            </a:r>
            <a:endParaRPr lang="en-US" sz="820" dirty="0"/>
          </a:p>
        </p:txBody>
      </p:sp>
      <p:sp>
        <p:nvSpPr>
          <p:cNvPr id="9" name="Text 7"/>
          <p:cNvSpPr/>
          <p:nvPr/>
        </p:nvSpPr>
        <p:spPr>
          <a:xfrm>
            <a:off x="533251" y="2183904"/>
            <a:ext cx="2489299" cy="775692"/>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GRI 404 — Training and Education</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GRI 405 — Diversity and Equal Opportunity</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GRI 413 — Local Communities</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GRI 418 — Customer Privacy</a:t>
            </a:r>
            <a:endParaRPr lang="en-US" sz="820" dirty="0"/>
          </a:p>
        </p:txBody>
      </p:sp>
      <p:sp>
        <p:nvSpPr>
          <p:cNvPr id="10" name="Text 8"/>
          <p:cNvSpPr/>
          <p:nvPr/>
        </p:nvSpPr>
        <p:spPr>
          <a:xfrm>
            <a:off x="533251" y="3035796"/>
            <a:ext cx="2539085" cy="120700"/>
          </a:xfrm>
          <a:prstGeom prst="rect">
            <a:avLst/>
          </a:prstGeom>
          <a:noFill/>
          <a:ln/>
        </p:spPr>
        <p:txBody>
          <a:bodyPr wrap="square" lIns="0" tIns="0" rIns="0" bIns="0" rtlCol="0" anchor="t"/>
          <a:lstStyle/>
          <a:p>
            <a:pPr algn="l" indent="0" marL="0">
              <a:lnSpc>
                <a:spcPts val="950"/>
              </a:lnSpc>
              <a:spcBef>
                <a:spcPts val="600"/>
              </a:spcBef>
              <a:buNone/>
            </a:pPr>
            <a:r>
              <a:rPr lang="en-US" sz="760" dirty="0">
                <a:solidFill>
                  <a:srgbClr val="6E7379"/>
                </a:solidFill>
                <a:latin typeface="Arial" pitchFamily="34" charset="0"/>
                <a:ea typeface="Arial" pitchFamily="34" charset="-122"/>
                <a:cs typeface="Arial" pitchFamily="34" charset="-120"/>
              </a:rPr>
              <a:t>Tidak ada satu pun KPI lingkungan dalam lingkup.</a:t>
            </a:r>
            <a:endParaRPr lang="en-US" sz="760" dirty="0"/>
          </a:p>
        </p:txBody>
      </p:sp>
      <p:sp>
        <p:nvSpPr>
          <p:cNvPr id="11" name="Text 9"/>
          <p:cNvSpPr/>
          <p:nvPr/>
        </p:nvSpPr>
        <p:spPr>
          <a:xfrm>
            <a:off x="3276451" y="1094036"/>
            <a:ext cx="2743200" cy="2189411"/>
          </a:xfrm>
          <a:prstGeom prst="rect">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3276451" y="1108323"/>
            <a:ext cx="2743200" cy="0"/>
          </a:xfrm>
          <a:prstGeom prst="line">
            <a:avLst/>
          </a:prstGeom>
          <a:noFill/>
          <a:ln w="28575">
            <a:solidFill>
              <a:srgbClr val="C1502E"/>
            </a:solidFill>
            <a:prstDash val="solid"/>
          </a:ln>
        </p:spPr>
      </p:sp>
      <p:sp>
        <p:nvSpPr>
          <p:cNvPr id="13" name="Text 11"/>
          <p:cNvSpPr/>
          <p:nvPr/>
        </p:nvSpPr>
        <p:spPr>
          <a:xfrm>
            <a:off x="3403402" y="1249561"/>
            <a:ext cx="2539085" cy="95250"/>
          </a:xfrm>
          <a:prstGeom prst="rect">
            <a:avLst/>
          </a:prstGeom>
          <a:noFill/>
          <a:ln/>
        </p:spPr>
        <p:txBody>
          <a:bodyPr wrap="square" lIns="0" tIns="0" rIns="0" bIns="0" rtlCol="0" anchor="t"/>
          <a:lstStyle/>
          <a:p>
            <a:pPr algn="l" indent="0" marL="0">
              <a:buNone/>
            </a:pPr>
            <a:r>
              <a:rPr lang="en-US" sz="680" b="1" dirty="0">
                <a:solidFill>
                  <a:srgbClr val="A8421F"/>
                </a:solidFill>
                <a:latin typeface="Arial" pitchFamily="34" charset="0"/>
                <a:ea typeface="Arial" pitchFamily="34" charset="-122"/>
                <a:cs typeface="Arial" pitchFamily="34" charset="-120"/>
              </a:rPr>
              <a:t>YANG TIDAK DIVERIFIKASI SIAPA PUN</a:t>
            </a:r>
            <a:endParaRPr lang="en-US" sz="680" dirty="0"/>
          </a:p>
        </p:txBody>
      </p:sp>
      <p:sp>
        <p:nvSpPr>
          <p:cNvPr id="14" name="Text 12"/>
          <p:cNvSpPr/>
          <p:nvPr/>
        </p:nvSpPr>
        <p:spPr>
          <a:xfrm>
            <a:off x="3403402" y="1421011"/>
            <a:ext cx="2539085" cy="604242"/>
          </a:xfrm>
          <a:prstGeom prst="rect">
            <a:avLst/>
          </a:prstGeom>
          <a:noFill/>
          <a:ln/>
        </p:spPr>
        <p:txBody>
          <a:bodyPr wrap="square" lIns="0" tIns="0" rIns="0" bIns="0" rtlCol="0" anchor="t"/>
          <a:lstStyle/>
          <a:p>
            <a:pPr algn="l" indent="0" marL="0">
              <a:lnSpc>
                <a:spcPts val="1189"/>
              </a:lnSpc>
              <a:spcBef>
                <a:spcPts val="600"/>
              </a:spcBef>
              <a:buNone/>
            </a:pPr>
            <a:r>
              <a:rPr lang="en-US" sz="820" dirty="0">
                <a:solidFill>
                  <a:srgbClr val="2C3136"/>
                </a:solidFill>
                <a:latin typeface="Arial" pitchFamily="34" charset="0"/>
                <a:ea typeface="Arial" pitchFamily="34" charset="-122"/>
                <a:cs typeface="Arial" pitchFamily="34" charset="-120"/>
              </a:rPr>
              <a:t>Verifikasi GRK terpisah (ISO 14064-3, limited assurance, ambang materialitas 5%) hanya mencakup Cakupan 1 dan 2 sebesar 243.735,65 tCO2.</a:t>
            </a:r>
            <a:endParaRPr lang="en-US" sz="820" dirty="0"/>
          </a:p>
        </p:txBody>
      </p:sp>
      <p:sp>
        <p:nvSpPr>
          <p:cNvPr id="15" name="Text 13"/>
          <p:cNvSpPr/>
          <p:nvPr/>
        </p:nvSpPr>
        <p:spPr>
          <a:xfrm>
            <a:off x="3403402" y="2101453"/>
            <a:ext cx="2539085" cy="453182"/>
          </a:xfrm>
          <a:prstGeom prst="rect">
            <a:avLst/>
          </a:prstGeom>
          <a:noFill/>
          <a:ln/>
        </p:spPr>
        <p:txBody>
          <a:bodyPr wrap="square" lIns="0" tIns="0" rIns="0" bIns="0" rtlCol="0" anchor="t"/>
          <a:lstStyle/>
          <a:p>
            <a:pPr algn="l" indent="0" marL="0">
              <a:lnSpc>
                <a:spcPts val="1189"/>
              </a:lnSpc>
              <a:spcBef>
                <a:spcPts val="600"/>
              </a:spcBef>
              <a:buNone/>
            </a:pPr>
            <a:r>
              <a:rPr lang="en-US" sz="820" b="1" dirty="0">
                <a:solidFill>
                  <a:srgbClr val="2C3136"/>
                </a:solidFill>
                <a:latin typeface="Arial" pitchFamily="34" charset="0"/>
                <a:ea typeface="Arial" pitchFamily="34" charset="-122"/>
                <a:cs typeface="Arial" pitchFamily="34" charset="-120"/>
              </a:rPr>
              <a:t>Financed emissions 20,3 juta tCO2e</a:t>
            </a:r>
            <a:pPr algn="l" indent="0" marL="0">
              <a:lnSpc>
                <a:spcPts val="1189"/>
              </a:lnSpc>
              <a:spcBef>
                <a:spcPts val="600"/>
              </a:spcBef>
              <a:buNone/>
            </a:pPr>
            <a:r>
              <a:rPr lang="en-US" sz="820" dirty="0">
                <a:solidFill>
                  <a:srgbClr val="2C3136"/>
                </a:solidFill>
                <a:latin typeface="Arial" pitchFamily="34" charset="0"/>
                <a:ea typeface="Arial" pitchFamily="34" charset="-122"/>
                <a:cs typeface="Arial" pitchFamily="34" charset="-120"/>
              </a:rPr>
              <a:t> — 98,8% dari total emisi GRK Bank Mandiri — berada di luar kedua lingkup.</a:t>
            </a:r>
            <a:endParaRPr lang="en-US" sz="820" dirty="0"/>
          </a:p>
        </p:txBody>
      </p:sp>
      <p:sp>
        <p:nvSpPr>
          <p:cNvPr id="16" name="Text 14"/>
          <p:cNvSpPr/>
          <p:nvPr/>
        </p:nvSpPr>
        <p:spPr>
          <a:xfrm>
            <a:off x="3403402" y="2630835"/>
            <a:ext cx="2539085" cy="241399"/>
          </a:xfrm>
          <a:prstGeom prst="rect">
            <a:avLst/>
          </a:prstGeom>
          <a:noFill/>
          <a:ln/>
        </p:spPr>
        <p:txBody>
          <a:bodyPr wrap="square" lIns="0" tIns="0" rIns="0" bIns="0" rtlCol="0" anchor="t"/>
          <a:lstStyle/>
          <a:p>
            <a:pPr algn="l" indent="0" marL="0">
              <a:lnSpc>
                <a:spcPts val="950"/>
              </a:lnSpc>
              <a:spcBef>
                <a:spcPts val="600"/>
              </a:spcBef>
              <a:buNone/>
            </a:pPr>
            <a:r>
              <a:rPr lang="en-US" sz="760" dirty="0">
                <a:solidFill>
                  <a:srgbClr val="6E7379"/>
                </a:solidFill>
                <a:latin typeface="Arial" pitchFamily="34" charset="0"/>
                <a:ea typeface="Arial" pitchFamily="34" charset="-122"/>
                <a:cs typeface="Arial" pitchFamily="34" charset="-120"/>
              </a:rPr>
              <a:t>Sertifikat menyatakan tipe GRK adalah </a:t>
            </a:r>
            <a:pPr algn="l" indent="0" marL="0">
              <a:lnSpc>
                <a:spcPts val="950"/>
              </a:lnSpc>
              <a:spcBef>
                <a:spcPts val="600"/>
              </a:spcBef>
              <a:buNone/>
            </a:pPr>
            <a:r>
              <a:rPr lang="en-US" sz="760" b="1" dirty="0">
                <a:solidFill>
                  <a:srgbClr val="6E7379"/>
                </a:solidFill>
                <a:latin typeface="Arial" pitchFamily="34" charset="0"/>
                <a:ea typeface="Arial" pitchFamily="34" charset="-122"/>
                <a:cs typeface="Arial" pitchFamily="34" charset="-120"/>
              </a:rPr>
              <a:t>CO2</a:t>
            </a:r>
            <a:pPr algn="l" indent="0" marL="0">
              <a:lnSpc>
                <a:spcPts val="950"/>
              </a:lnSpc>
              <a:spcBef>
                <a:spcPts val="600"/>
              </a:spcBef>
              <a:buNone/>
            </a:pPr>
            <a:r>
              <a:rPr lang="en-US" sz="760" dirty="0">
                <a:solidFill>
                  <a:srgbClr val="6E7379"/>
                </a:solidFill>
                <a:latin typeface="Arial" pitchFamily="34" charset="0"/>
                <a:ea typeface="Arial" pitchFamily="34" charset="-122"/>
                <a:cs typeface="Arial" pitchFamily="34" charset="-120"/>
              </a:rPr>
              <a:t>, sementara seluruh laporan menyajikannya sebagai CO2e.</a:t>
            </a:r>
            <a:endParaRPr lang="en-US" sz="760" dirty="0"/>
          </a:p>
        </p:txBody>
      </p:sp>
      <p:sp>
        <p:nvSpPr>
          <p:cNvPr id="17" name="Text 15"/>
          <p:cNvSpPr/>
          <p:nvPr/>
        </p:nvSpPr>
        <p:spPr>
          <a:xfrm>
            <a:off x="6146602" y="1094036"/>
            <a:ext cx="2590800" cy="2189411"/>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6146602" y="1108323"/>
            <a:ext cx="2590800" cy="0"/>
          </a:xfrm>
          <a:prstGeom prst="line">
            <a:avLst/>
          </a:prstGeom>
          <a:noFill/>
          <a:ln w="28575">
            <a:solidFill>
              <a:srgbClr val="6E7379"/>
            </a:solidFill>
            <a:prstDash val="solid"/>
          </a:ln>
        </p:spPr>
      </p:sp>
      <p:sp>
        <p:nvSpPr>
          <p:cNvPr id="19" name="Text 17"/>
          <p:cNvSpPr/>
          <p:nvPr/>
        </p:nvSpPr>
        <p:spPr>
          <a:xfrm>
            <a:off x="6273552" y="1249561"/>
            <a:ext cx="2383637" cy="95250"/>
          </a:xfrm>
          <a:prstGeom prst="rect">
            <a:avLst/>
          </a:prstGeom>
          <a:noFill/>
          <a:ln/>
        </p:spPr>
        <p:txBody>
          <a:bodyPr wrap="square" lIns="0" tIns="0" rIns="0" bIns="0" rtlCol="0" anchor="t"/>
          <a:lstStyle/>
          <a:p>
            <a:pPr algn="l" indent="0" marL="0">
              <a:buNone/>
            </a:pPr>
            <a:r>
              <a:rPr lang="en-US" sz="680" b="1" dirty="0">
                <a:solidFill>
                  <a:srgbClr val="6E7379"/>
                </a:solidFill>
                <a:latin typeface="Arial" pitchFamily="34" charset="0"/>
                <a:ea typeface="Arial" pitchFamily="34" charset="-122"/>
                <a:cs typeface="Arial" pitchFamily="34" charset="-120"/>
              </a:rPr>
              <a:t>BATAS DATA DI CATATAN KAKI</a:t>
            </a:r>
            <a:endParaRPr lang="en-US" sz="680" dirty="0"/>
          </a:p>
        </p:txBody>
      </p:sp>
      <p:sp>
        <p:nvSpPr>
          <p:cNvPr id="20" name="Text 18"/>
          <p:cNvSpPr/>
          <p:nvPr/>
        </p:nvSpPr>
        <p:spPr>
          <a:xfrm>
            <a:off x="6273552" y="1421011"/>
            <a:ext cx="2336899" cy="1379934"/>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Limbah B3 dan limbah cair: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hanya Plaza Mandiri</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 satu gedung dari 2.153 kantor cabang</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Limbah domestik: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tiga gedung</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Scope 3 Kategori 1 hanya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431 tCO2e</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atas pengadaan Rp7,70 triliun</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Konsumsi listrik dihitung dari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biaya dibagi tarif</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bukan data meteran</a:t>
            </a:r>
            <a:endParaRPr lang="en-US" sz="820" dirty="0"/>
          </a:p>
        </p:txBody>
      </p:sp>
      <p:sp>
        <p:nvSpPr>
          <p:cNvPr id="21" name="Text 19"/>
          <p:cNvSpPr/>
          <p:nvPr/>
        </p:nvSpPr>
        <p:spPr>
          <a:xfrm>
            <a:off x="406301" y="3423047"/>
            <a:ext cx="8331101" cy="634752"/>
          </a:xfrm>
          <a:prstGeom prst="rect">
            <a:avLst/>
          </a:prstGeom>
          <a:solidFill>
            <a:srgbClr val="16191D"/>
          </a:solidFill>
          <a:ln/>
        </p:spPr>
        <p:txBody>
          <a:bodyPr wrap="square" rtlCol="0" anchor="ctr"/>
          <a:lstStyle/>
          <a:p>
            <a:pPr indent="0" marL="0">
              <a:buNone/>
            </a:pPr>
            <a:endParaRPr lang="en-US" dirty="0"/>
          </a:p>
        </p:txBody>
      </p:sp>
      <p:sp>
        <p:nvSpPr>
          <p:cNvPr id="22" name="Text 20"/>
          <p:cNvSpPr/>
          <p:nvPr/>
        </p:nvSpPr>
        <p:spPr>
          <a:xfrm>
            <a:off x="558701" y="3524548"/>
            <a:ext cx="8186827" cy="431750"/>
          </a:xfrm>
          <a:prstGeom prst="rect">
            <a:avLst/>
          </a:prstGeom>
          <a:noFill/>
          <a:ln/>
        </p:spPr>
        <p:txBody>
          <a:bodyPr wrap="square" lIns="0" tIns="0" rIns="0" bIns="0" rtlCol="0" anchor="t"/>
          <a:lstStyle/>
          <a:p>
            <a:pPr algn="l" indent="0" marL="0">
              <a:lnSpc>
                <a:spcPts val="1134"/>
              </a:lnSpc>
              <a:buNone/>
            </a:pPr>
            <a:r>
              <a:rPr lang="en-US" sz="840" b="1" dirty="0">
                <a:solidFill>
                  <a:srgbClr val="5FB6CC"/>
                </a:solidFill>
                <a:latin typeface="Arial" pitchFamily="34" charset="0"/>
                <a:ea typeface="Arial" pitchFamily="34" charset="-122"/>
                <a:cs typeface="Arial" pitchFamily="34" charset="-120"/>
              </a:rPr>
              <a:t>Catatan independensi.</a:t>
            </a:r>
            <a:pPr algn="l" indent="0" marL="0">
              <a:lnSpc>
                <a:spcPts val="1134"/>
              </a:lnSpc>
              <a:buNone/>
            </a:pPr>
            <a:r>
              <a:rPr lang="en-US" sz="840" dirty="0">
                <a:solidFill>
                  <a:srgbClr val="F2EFE9"/>
                </a:solidFill>
                <a:latin typeface="Arial" pitchFamily="34" charset="0"/>
                <a:ea typeface="Arial" pitchFamily="34" charset="-122"/>
                <a:cs typeface="Arial" pitchFamily="34" charset="-120"/>
              </a:rPr>
              <a:t> Kop Independent Assurance Statement memuat logo Danantara Indonesia, IDSurvey, dan Sucofindo. Sucofindo menyatakan tidak ada benturan kepentingan — namun Sucofindo maupun Bank Mandiri sama-sama berada dalam portofolio Danantara. Hubungan struktural ini semestinya diungkapkan eksplisit pada bagian pemilihan assurance provider, bukan dibiarkan tersirat lewat logo.</a:t>
            </a:r>
            <a:endParaRPr lang="en-US" sz="84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2E7D91"/>
                </a:solidFill>
                <a:latin typeface="Arial" pitchFamily="34" charset="0"/>
                <a:ea typeface="Arial" pitchFamily="34" charset="-122"/>
                <a:cs typeface="Arial" pitchFamily="34" charset="-120"/>
              </a:rPr>
              <a:t>BANK MANDIRI · SOSIAL DAN TATA KELOLA</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Layanan Membaik, Keberagaman Board Menurun</a:t>
            </a:r>
            <a:endParaRPr lang="en-US" sz="2400" dirty="0"/>
          </a:p>
        </p:txBody>
      </p:sp>
      <p:sp>
        <p:nvSpPr>
          <p:cNvPr id="4" name="Text 2"/>
          <p:cNvSpPr/>
          <p:nvPr/>
        </p:nvSpPr>
        <p:spPr>
          <a:xfrm>
            <a:off x="406301" y="916335"/>
            <a:ext cx="8331398" cy="25301"/>
          </a:xfrm>
          <a:prstGeom prst="rect">
            <a:avLst/>
          </a:prstGeom>
          <a:solidFill>
            <a:srgbClr val="154C5B"/>
          </a:solidFill>
          <a:ln/>
        </p:spPr>
        <p:txBody>
          <a:bodyPr wrap="square" rtlCol="0" anchor="ctr"/>
          <a:lstStyle/>
          <a:p>
            <a:pPr indent="0" marL="0">
              <a:buNone/>
            </a:pPr>
            <a:endParaRPr lang="en-US" dirty="0"/>
          </a:p>
        </p:txBody>
      </p:sp>
      <p:sp>
        <p:nvSpPr>
          <p:cNvPr id="5" name="Text 3"/>
          <p:cNvSpPr/>
          <p:nvPr/>
        </p:nvSpPr>
        <p:spPr>
          <a:xfrm>
            <a:off x="406301" y="1081236"/>
            <a:ext cx="4197096" cy="95250"/>
          </a:xfrm>
          <a:prstGeom prst="rect">
            <a:avLst/>
          </a:prstGeom>
          <a:noFill/>
          <a:ln/>
        </p:spPr>
        <p:txBody>
          <a:bodyPr wrap="square" lIns="0" tIns="0" rIns="0" bIns="0" rtlCol="0" anchor="t"/>
          <a:lstStyle/>
          <a:p>
            <a:pPr algn="l" indent="0" marL="0">
              <a:buNone/>
            </a:pPr>
            <a:r>
              <a:rPr lang="en-US" sz="680" b="1" dirty="0">
                <a:solidFill>
                  <a:srgbClr val="3D6B4C"/>
                </a:solidFill>
                <a:latin typeface="Arial" pitchFamily="34" charset="0"/>
                <a:ea typeface="Arial" pitchFamily="34" charset="-122"/>
                <a:cs typeface="Arial" pitchFamily="34" charset="-120"/>
              </a:rPr>
              <a:t>YANG MEMBAIK</a:t>
            </a:r>
            <a:endParaRPr lang="en-US" sz="680" dirty="0"/>
          </a:p>
        </p:txBody>
      </p:sp>
      <p:sp>
        <p:nvSpPr>
          <p:cNvPr id="6" name="Text 4"/>
          <p:cNvSpPr/>
          <p:nvPr/>
        </p:nvSpPr>
        <p:spPr>
          <a:xfrm>
            <a:off x="406301" y="2941737"/>
            <a:ext cx="4114800" cy="510332"/>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Inklusi keuangan nyata: 111 ribu Mandiri Agen, 3,5 juta rekening dibuka, 963 ribu debitur KUR</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63% dari 3,13 juta pengguna Livin’ Merchant berada di area non-urban</a:t>
            </a:r>
            <a:endParaRPr lang="en-US" sz="820" dirty="0"/>
          </a:p>
        </p:txBody>
      </p:sp>
      <p:sp>
        <p:nvSpPr>
          <p:cNvPr id="7" name="Text 5"/>
          <p:cNvSpPr/>
          <p:nvPr/>
        </p:nvSpPr>
        <p:spPr>
          <a:xfrm>
            <a:off x="4622602" y="1081236"/>
            <a:ext cx="4197096" cy="95250"/>
          </a:xfrm>
          <a:prstGeom prst="rect">
            <a:avLst/>
          </a:prstGeom>
          <a:noFill/>
          <a:ln/>
        </p:spPr>
        <p:txBody>
          <a:bodyPr wrap="square" lIns="0" tIns="0" rIns="0" bIns="0" rtlCol="0" anchor="t"/>
          <a:lstStyle/>
          <a:p>
            <a:pPr algn="l" indent="0" marL="0">
              <a:buNone/>
            </a:pPr>
            <a:r>
              <a:rPr lang="en-US" sz="680" b="1" dirty="0">
                <a:solidFill>
                  <a:srgbClr val="A8421F"/>
                </a:solidFill>
                <a:latin typeface="Arial" pitchFamily="34" charset="0"/>
                <a:ea typeface="Arial" pitchFamily="34" charset="-122"/>
                <a:cs typeface="Arial" pitchFamily="34" charset="-120"/>
              </a:rPr>
              <a:t>YANG MENURUN ATAU PERLU KLARIFIKASI</a:t>
            </a:r>
            <a:endParaRPr lang="en-US" sz="680" dirty="0"/>
          </a:p>
        </p:txBody>
      </p:sp>
      <p:sp>
        <p:nvSpPr>
          <p:cNvPr id="8" name="Text 6"/>
          <p:cNvSpPr/>
          <p:nvPr/>
        </p:nvSpPr>
        <p:spPr>
          <a:xfrm>
            <a:off x="4622602" y="2941737"/>
            <a:ext cx="4114800" cy="869603"/>
          </a:xfrm>
          <a:prstGeom prst="rect">
            <a:avLst/>
          </a:prstGeom>
          <a:noFill/>
          <a:ln/>
        </p:spPr>
        <p:txBody>
          <a:bodyPr wrap="square" lIns="69850" tIns="0" rIns="0" bIns="0" rtlCol="0" anchor="t"/>
          <a:lstStyle/>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Komisaris Independen 49% —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di bawah ambang 50%</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yang disyaratkan POJK bagi bank; kemungkinan rata-rata tertimbang waktu, tetapi tidak dijelaskan</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Pegawai yang “telah dikomunikasikan” kebijakan antikorupsi tercatat 41.552 orang,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melebihi total pegawai 38.732</a:t>
            </a:r>
            <a:endParaRPr lang="en-US" sz="820" dirty="0"/>
          </a:p>
          <a:p>
            <a:pPr algn="l" marL="69850" indent="-69850">
              <a:lnSpc>
                <a:spcPts val="1189"/>
              </a:lnSpc>
              <a:spcAft>
                <a:spcPts val="450"/>
              </a:spcAft>
              <a:buSzPct val="100000"/>
              <a:buChar char="•"/>
            </a:pPr>
            <a:r>
              <a:rPr lang="en-US" sz="820" dirty="0">
                <a:solidFill>
                  <a:srgbClr val="2C3136"/>
                </a:solidFill>
                <a:latin typeface="Arial" pitchFamily="34" charset="0"/>
                <a:ea typeface="Arial" pitchFamily="34" charset="-122"/>
                <a:cs typeface="Arial" pitchFamily="34" charset="-120"/>
              </a:rPr>
              <a:t>Pelatihan antikorupsi </a:t>
            </a:r>
            <a:pPr algn="l" indent="0" marL="0">
              <a:lnSpc>
                <a:spcPts val="1189"/>
              </a:lnSpc>
              <a:spcAft>
                <a:spcPts val="450"/>
              </a:spcAft>
              <a:buNone/>
            </a:pPr>
            <a:r>
              <a:rPr lang="en-US" sz="820" b="1" dirty="0">
                <a:solidFill>
                  <a:srgbClr val="2C3136"/>
                </a:solidFill>
                <a:latin typeface="Arial" pitchFamily="34" charset="0"/>
                <a:ea typeface="Arial" pitchFamily="34" charset="-122"/>
                <a:cs typeface="Arial" pitchFamily="34" charset="-120"/>
              </a:rPr>
              <a:t>sangat volatil</a:t>
            </a:r>
            <a:pPr algn="l" indent="0" marL="0">
              <a:lnSpc>
                <a:spcPts val="1189"/>
              </a:lnSpc>
              <a:spcAft>
                <a:spcPts val="450"/>
              </a:spcAft>
              <a:buNone/>
            </a:pPr>
            <a:r>
              <a:rPr lang="en-US" sz="820" dirty="0">
                <a:solidFill>
                  <a:srgbClr val="2C3136"/>
                </a:solidFill>
                <a:latin typeface="Arial" pitchFamily="34" charset="0"/>
                <a:ea typeface="Arial" pitchFamily="34" charset="-122"/>
                <a:cs typeface="Arial" pitchFamily="34" charset="-120"/>
              </a:rPr>
              <a:t>: 11.111 lalu 4.306 lalu 38.368 orang</a:t>
            </a:r>
            <a:endParaRPr lang="en-US" sz="820" dirty="0"/>
          </a:p>
        </p:txBody>
      </p:sp>
      <p:sp>
        <p:nvSpPr>
          <p:cNvPr id="9" name="Text 7"/>
          <p:cNvSpPr/>
          <p:nvPr/>
        </p:nvSpPr>
        <p:spPr>
          <a:xfrm>
            <a:off x="406301" y="3982789"/>
            <a:ext cx="8331101" cy="448568"/>
          </a:xfrm>
          <a:prstGeom prst="rect">
            <a:avLst/>
          </a:prstGeom>
          <a:solidFill>
            <a:srgbClr val="16191D"/>
          </a:solidFill>
          <a:ln/>
        </p:spPr>
        <p:txBody>
          <a:bodyPr wrap="square" rtlCol="0" anchor="ctr"/>
          <a:lstStyle/>
          <a:p>
            <a:pPr indent="0" marL="0">
              <a:buNone/>
            </a:pPr>
            <a:endParaRPr lang="en-US" dirty="0"/>
          </a:p>
        </p:txBody>
      </p:sp>
      <p:sp>
        <p:nvSpPr>
          <p:cNvPr id="10" name="Text 8"/>
          <p:cNvSpPr/>
          <p:nvPr/>
        </p:nvSpPr>
        <p:spPr>
          <a:xfrm>
            <a:off x="558701" y="4071640"/>
            <a:ext cx="8186827" cy="270867"/>
          </a:xfrm>
          <a:prstGeom prst="rect">
            <a:avLst/>
          </a:prstGeom>
          <a:noFill/>
          <a:ln/>
        </p:spPr>
        <p:txBody>
          <a:bodyPr wrap="square" lIns="0" tIns="0" rIns="0" bIns="0" rtlCol="0" anchor="t"/>
          <a:lstStyle/>
          <a:p>
            <a:pPr algn="l" indent="0" marL="0">
              <a:lnSpc>
                <a:spcPts val="1066"/>
              </a:lnSpc>
              <a:buNone/>
            </a:pPr>
            <a:r>
              <a:rPr lang="en-US" sz="820" dirty="0">
                <a:solidFill>
                  <a:srgbClr val="F2EFE9"/>
                </a:solidFill>
                <a:latin typeface="Arial" pitchFamily="34" charset="0"/>
                <a:ea typeface="Arial" pitchFamily="34" charset="-122"/>
                <a:cs typeface="Arial" pitchFamily="34" charset="-120"/>
              </a:rPr>
              <a:t>Keberagaman gender di level board turun sejak 2023 pada tahun yang sama Bank Mandiri menerima </a:t>
            </a:r>
            <a:pPr algn="l" indent="0" marL="0">
              <a:lnSpc>
                <a:spcPts val="1066"/>
              </a:lnSpc>
              <a:buNone/>
            </a:pPr>
            <a:r>
              <a:rPr lang="en-US" sz="820" b="1" dirty="0">
                <a:solidFill>
                  <a:srgbClr val="F2EFE9"/>
                </a:solidFill>
                <a:latin typeface="Arial" pitchFamily="34" charset="0"/>
                <a:ea typeface="Arial" pitchFamily="34" charset="-122"/>
                <a:cs typeface="Arial" pitchFamily="34" charset="-120"/>
              </a:rPr>
              <a:t>Most Committed to DEI (Gold)</a:t>
            </a:r>
            <a:pPr algn="l" indent="0" marL="0">
              <a:lnSpc>
                <a:spcPts val="1066"/>
              </a:lnSpc>
              <a:buNone/>
            </a:pPr>
            <a:r>
              <a:rPr lang="en-US" sz="820" dirty="0">
                <a:solidFill>
                  <a:srgbClr val="F2EFE9"/>
                </a:solidFill>
                <a:latin typeface="Arial" pitchFamily="34" charset="0"/>
                <a:ea typeface="Arial" pitchFamily="34" charset="-122"/>
                <a:cs typeface="Arial" pitchFamily="34" charset="-120"/>
              </a:rPr>
              <a:t>, </a:t>
            </a:r>
            <a:pPr algn="l" indent="0" marL="0">
              <a:lnSpc>
                <a:spcPts val="1066"/>
              </a:lnSpc>
              <a:buNone/>
            </a:pPr>
            <a:r>
              <a:rPr lang="en-US" sz="820" b="1" dirty="0">
                <a:solidFill>
                  <a:srgbClr val="F2EFE9"/>
                </a:solidFill>
                <a:latin typeface="Arial" pitchFamily="34" charset="0"/>
                <a:ea typeface="Arial" pitchFamily="34" charset="-122"/>
                <a:cs typeface="Arial" pitchFamily="34" charset="-120"/>
              </a:rPr>
              <a:t>Most DEI Progressive Bank</a:t>
            </a:r>
            <a:pPr algn="l" indent="0" marL="0">
              <a:lnSpc>
                <a:spcPts val="1066"/>
              </a:lnSpc>
              <a:buNone/>
            </a:pPr>
            <a:r>
              <a:rPr lang="en-US" sz="820" dirty="0">
                <a:solidFill>
                  <a:srgbClr val="F2EFE9"/>
                </a:solidFill>
                <a:latin typeface="Arial" pitchFamily="34" charset="0"/>
                <a:ea typeface="Arial" pitchFamily="34" charset="-122"/>
                <a:cs typeface="Arial" pitchFamily="34" charset="-120"/>
              </a:rPr>
              <a:t>, dan </a:t>
            </a:r>
            <a:pPr algn="l" indent="0" marL="0">
              <a:lnSpc>
                <a:spcPts val="1066"/>
              </a:lnSpc>
              <a:buNone/>
            </a:pPr>
            <a:r>
              <a:rPr lang="en-US" sz="820" b="1" dirty="0">
                <a:solidFill>
                  <a:srgbClr val="F2EFE9"/>
                </a:solidFill>
                <a:latin typeface="Arial" pitchFamily="34" charset="0"/>
                <a:ea typeface="Arial" pitchFamily="34" charset="-122"/>
                <a:cs typeface="Arial" pitchFamily="34" charset="-120"/>
              </a:rPr>
              <a:t>Skor ESG Tertinggi pada Pilar Gender</a:t>
            </a:r>
            <a:pPr algn="l" indent="0" marL="0">
              <a:lnSpc>
                <a:spcPts val="1066"/>
              </a:lnSpc>
              <a:buNone/>
            </a:pPr>
            <a:r>
              <a:rPr lang="en-US" sz="820" dirty="0">
                <a:solidFill>
                  <a:srgbClr val="F2EFE9"/>
                </a:solidFill>
                <a:latin typeface="Arial" pitchFamily="34" charset="0"/>
                <a:ea typeface="Arial" pitchFamily="34" charset="-122"/>
                <a:cs typeface="Arial" pitchFamily="34" charset="-120"/>
              </a:rPr>
              <a:t>. Penghargaan ditampilkan; trennya tidak dinarasikan.</a:t>
            </a:r>
            <a:endParaRPr lang="en-US" sz="82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06301" y="1252686"/>
          <a:ext cx="4114800" cy="1600200"/>
        </p:xfrm>
        <a:graphic>
          <a:graphicData uri="http://schemas.openxmlformats.org/drawingml/2006/table">
            <a:tbl>
              <a:tblPr/>
              <a:tblGrid>
                <a:gridCol w="1892808"/>
                <a:gridCol w="740664"/>
                <a:gridCol w="740664"/>
                <a:gridCol w="740664"/>
              </a:tblGrid>
              <a:tr h="266700">
                <a:tc>
                  <a:txBody>
                    <a:bodyPr/>
                    <a:lstStyle/>
                    <a:p>
                      <a:pPr algn="l" indent="0" marL="0">
                        <a:buNone/>
                      </a:pPr>
                      <a:r>
                        <a:rPr lang="en-US" sz="760" b="1" dirty="0">
                          <a:solidFill>
                            <a:srgbClr val="FFFFFF"/>
                          </a:solidFill>
                          <a:latin typeface="Arial" pitchFamily="34" charset="0"/>
                          <a:ea typeface="Arial" pitchFamily="34" charset="-122"/>
                          <a:cs typeface="Arial" pitchFamily="34" charset="-120"/>
                        </a:rPr>
                        <a:t>Metrik</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2023</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Net Promoter Score</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4A7C59"/>
                          </a:solidFill>
                          <a:latin typeface="Arial" pitchFamily="34" charset="0"/>
                          <a:ea typeface="Arial" pitchFamily="34" charset="-122"/>
                          <a:cs typeface="Arial" pitchFamily="34" charset="-120"/>
                        </a:rPr>
                        <a:t>71</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67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66</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Pengaduan nasabah (ribu)</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4A7C59"/>
                          </a:solidFill>
                          <a:latin typeface="Arial" pitchFamily="34" charset="0"/>
                          <a:ea typeface="Arial" pitchFamily="34" charset="-122"/>
                          <a:cs typeface="Arial" pitchFamily="34" charset="-120"/>
                        </a:rPr>
                        <a:t>888</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984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1.082</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Pengaduan per 1 juta transaksi</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4A7C59"/>
                          </a:solidFill>
                          <a:latin typeface="Arial" pitchFamily="34" charset="0"/>
                          <a:ea typeface="Arial" pitchFamily="34" charset="-122"/>
                          <a:cs typeface="Arial" pitchFamily="34" charset="-120"/>
                        </a:rPr>
                        <a:t>75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114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149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Insiden kebocoran data</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0</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0</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0</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Pengguna aktif Livin' (juta)</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4A7C59"/>
                          </a:solidFill>
                          <a:latin typeface="Arial" pitchFamily="34" charset="0"/>
                          <a:ea typeface="Arial" pitchFamily="34" charset="-122"/>
                          <a:cs typeface="Arial" pitchFamily="34" charset="-120"/>
                        </a:rPr>
                        <a:t>24,7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14,9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13,2</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4622602" y="1252686"/>
          <a:ext cx="4114800" cy="1600200"/>
        </p:xfrm>
        <a:graphic>
          <a:graphicData uri="http://schemas.openxmlformats.org/drawingml/2006/table">
            <a:tbl>
              <a:tblPr/>
              <a:tblGrid>
                <a:gridCol w="1892808"/>
                <a:gridCol w="740664"/>
                <a:gridCol w="740664"/>
                <a:gridCol w="740664"/>
              </a:tblGrid>
              <a:tr h="266700">
                <a:tc>
                  <a:txBody>
                    <a:bodyPr/>
                    <a:lstStyle/>
                    <a:p>
                      <a:pPr algn="l" indent="0" marL="0">
                        <a:buNone/>
                      </a:pPr>
                      <a:r>
                        <a:rPr lang="en-US" sz="760" b="1" dirty="0">
                          <a:solidFill>
                            <a:srgbClr val="FFFFFF"/>
                          </a:solidFill>
                          <a:latin typeface="Arial" pitchFamily="34" charset="0"/>
                          <a:ea typeface="Arial" pitchFamily="34" charset="-122"/>
                          <a:cs typeface="Arial" pitchFamily="34" charset="-120"/>
                        </a:rPr>
                        <a:t>Metrik</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r" indent="0" marL="0">
                        <a:buNone/>
                      </a:pPr>
                      <a:r>
                        <a:rPr lang="en-US" sz="760" b="1" dirty="0">
                          <a:solidFill>
                            <a:srgbClr val="FFFFFF"/>
                          </a:solidFill>
                          <a:latin typeface="Arial" pitchFamily="34" charset="0"/>
                          <a:ea typeface="Arial" pitchFamily="34" charset="-122"/>
                          <a:cs typeface="Arial" pitchFamily="34" charset="-120"/>
                        </a:rPr>
                        <a:t>2023</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Komisaris perempuan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14%</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10%</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18%</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Direksi perempuan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17%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16191D"/>
                          </a:solidFill>
                          <a:latin typeface="Arial" pitchFamily="34" charset="0"/>
                          <a:ea typeface="Arial" pitchFamily="34" charset="-122"/>
                          <a:cs typeface="Arial" pitchFamily="34" charset="-120"/>
                        </a:rPr>
                        <a:t>25%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Komisaris Independen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49%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50%</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55%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Manajer perempuan</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45,8%</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48,9%</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48,7%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66700">
                <a:tc>
                  <a:txBody>
                    <a:bodyPr/>
                    <a:lstStyle/>
                    <a:p>
                      <a:pPr algn="l" indent="0" marL="0">
                        <a:buNone/>
                      </a:pPr>
                      <a:r>
                        <a:rPr lang="en-US" sz="760" dirty="0">
                          <a:solidFill>
                            <a:srgbClr val="16191D"/>
                          </a:solidFill>
                          <a:latin typeface="Arial" pitchFamily="34" charset="0"/>
                          <a:ea typeface="Arial" pitchFamily="34" charset="-122"/>
                          <a:cs typeface="Arial" pitchFamily="34" charset="-120"/>
                        </a:rPr>
                        <a:t>CGPI — Governance Structure</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b="1" dirty="0">
                          <a:solidFill>
                            <a:srgbClr val="C1502E"/>
                          </a:solidFill>
                          <a:latin typeface="Arial" pitchFamily="34" charset="0"/>
                          <a:ea typeface="Arial" pitchFamily="34" charset="-122"/>
                          <a:cs typeface="Arial" pitchFamily="34" charset="-120"/>
                        </a:rPr>
                        <a:t>25,77</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26,65</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r" indent="0" marL="0">
                        <a:buNone/>
                      </a:pPr>
                      <a:r>
                        <a:rPr lang="en-US" sz="760" dirty="0">
                          <a:solidFill>
                            <a:srgbClr val="16191D"/>
                          </a:solidFill>
                          <a:latin typeface="Arial" pitchFamily="34" charset="0"/>
                          <a:ea typeface="Arial" pitchFamily="34" charset="-122"/>
                          <a:cs typeface="Arial" pitchFamily="34" charset="-120"/>
                        </a:rPr>
                        <a:t>31,53</a:t>
                      </a:r>
                      <a:endParaRPr lang="en-US" sz="76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EFE9"/>
        </a:solidFill>
      </p:bgPr>
    </p:bg>
    <p:spTree>
      <p:nvGrpSpPr>
        <p:cNvPr id="1" name=""/>
        <p:cNvGrpSpPr/>
        <p:nvPr/>
      </p:nvGrpSpPr>
      <p:grpSpPr>
        <a:xfrm>
          <a:off x="0" y="0"/>
          <a:ext cx="0" cy="0"/>
          <a:chOff x="0" y="0"/>
          <a:chExt cx="0" cy="0"/>
        </a:xfrm>
      </p:grpSpPr>
      <p:sp>
        <p:nvSpPr>
          <p:cNvPr id="2" name="Text 0"/>
          <p:cNvSpPr/>
          <p:nvPr/>
        </p:nvSpPr>
        <p:spPr>
          <a:xfrm>
            <a:off x="406301" y="304800"/>
            <a:ext cx="8498026" cy="104775"/>
          </a:xfrm>
          <a:prstGeom prst="rect">
            <a:avLst/>
          </a:prstGeom>
          <a:noFill/>
          <a:ln/>
        </p:spPr>
        <p:txBody>
          <a:bodyPr wrap="square" lIns="0" tIns="0" rIns="0" bIns="0" rtlCol="0" anchor="t"/>
          <a:lstStyle/>
          <a:p>
            <a:pPr algn="l" indent="0" marL="0">
              <a:buNone/>
            </a:pPr>
            <a:r>
              <a:rPr lang="en-US" sz="750" b="1" dirty="0">
                <a:solidFill>
                  <a:srgbClr val="8B9096"/>
                </a:solidFill>
                <a:latin typeface="Arial" pitchFamily="34" charset="0"/>
                <a:ea typeface="Arial" pitchFamily="34" charset="-122"/>
                <a:cs typeface="Arial" pitchFamily="34" charset="-120"/>
              </a:rPr>
              <a:t>SINTESIS</a:t>
            </a:r>
            <a:endParaRPr lang="en-US" sz="750" dirty="0"/>
          </a:p>
        </p:txBody>
      </p:sp>
      <p:sp>
        <p:nvSpPr>
          <p:cNvPr id="3" name="Text 1"/>
          <p:cNvSpPr/>
          <p:nvPr/>
        </p:nvSpPr>
        <p:spPr>
          <a:xfrm>
            <a:off x="406301" y="460325"/>
            <a:ext cx="8498026" cy="329059"/>
          </a:xfrm>
          <a:prstGeom prst="rect">
            <a:avLst/>
          </a:prstGeom>
          <a:noFill/>
          <a:ln/>
        </p:spPr>
        <p:txBody>
          <a:bodyPr wrap="square" lIns="0" tIns="0" rIns="0" bIns="0" rtlCol="0" anchor="t"/>
          <a:lstStyle/>
          <a:p>
            <a:pPr algn="l" indent="0" marL="0">
              <a:lnSpc>
                <a:spcPts val="2592"/>
              </a:lnSpc>
              <a:spcBef>
                <a:spcPts val="400"/>
              </a:spcBef>
              <a:buNone/>
            </a:pPr>
            <a:r>
              <a:rPr lang="en-US" sz="2400" b="1" dirty="0">
                <a:solidFill>
                  <a:srgbClr val="16191D"/>
                </a:solidFill>
                <a:latin typeface="Arial" pitchFamily="34" charset="0"/>
                <a:ea typeface="Arial" pitchFamily="34" charset="-122"/>
                <a:cs typeface="Arial" pitchFamily="34" charset="-120"/>
              </a:rPr>
              <a:t>Financial Health Berdampingan</a:t>
            </a:r>
            <a:endParaRPr lang="en-US" sz="2400" dirty="0"/>
          </a:p>
        </p:txBody>
      </p:sp>
      <p:sp>
        <p:nvSpPr>
          <p:cNvPr id="4" name="Text 2"/>
          <p:cNvSpPr/>
          <p:nvPr/>
        </p:nvSpPr>
        <p:spPr>
          <a:xfrm>
            <a:off x="406301" y="916335"/>
            <a:ext cx="8331398" cy="25301"/>
          </a:xfrm>
          <a:prstGeom prst="rect">
            <a:avLst/>
          </a:prstGeom>
          <a:solidFill>
            <a:srgbClr val="16191D"/>
          </a:solidFill>
          <a:ln/>
        </p:spPr>
        <p:txBody>
          <a:bodyPr wrap="square" rtlCol="0" anchor="ctr"/>
          <a:lstStyle/>
          <a:p>
            <a:pPr indent="0" marL="0">
              <a:buNone/>
            </a:pPr>
            <a:endParaRPr lang="en-US" dirty="0"/>
          </a:p>
        </p:txBody>
      </p:sp>
      <p:sp>
        <p:nvSpPr>
          <p:cNvPr id="5" name="Shape 3"/>
          <p:cNvSpPr/>
          <p:nvPr/>
        </p:nvSpPr>
        <p:spPr>
          <a:xfrm>
            <a:off x="425351" y="3697337"/>
            <a:ext cx="0" cy="621060"/>
          </a:xfrm>
          <a:prstGeom prst="line">
            <a:avLst/>
          </a:prstGeom>
          <a:noFill/>
          <a:ln w="38100">
            <a:solidFill>
              <a:srgbClr val="C1502E"/>
            </a:solidFill>
            <a:prstDash val="solid"/>
          </a:ln>
        </p:spPr>
      </p:sp>
      <p:sp>
        <p:nvSpPr>
          <p:cNvPr id="6" name="Text 4"/>
          <p:cNvSpPr/>
          <p:nvPr/>
        </p:nvSpPr>
        <p:spPr>
          <a:xfrm>
            <a:off x="584002" y="3697337"/>
            <a:ext cx="4015841" cy="95250"/>
          </a:xfrm>
          <a:prstGeom prst="rect">
            <a:avLst/>
          </a:prstGeom>
          <a:noFill/>
          <a:ln/>
        </p:spPr>
        <p:txBody>
          <a:bodyPr wrap="square" lIns="0" tIns="0" rIns="0" bIns="0" rtlCol="0" anchor="t"/>
          <a:lstStyle/>
          <a:p>
            <a:pPr algn="l" indent="0" marL="0">
              <a:buNone/>
            </a:pPr>
            <a:r>
              <a:rPr lang="en-US" sz="680" b="1" dirty="0">
                <a:solidFill>
                  <a:srgbClr val="A8421F"/>
                </a:solidFill>
                <a:latin typeface="Arial" pitchFamily="34" charset="0"/>
                <a:ea typeface="Arial" pitchFamily="34" charset="-122"/>
                <a:cs typeface="Arial" pitchFamily="34" charset="-120"/>
              </a:rPr>
              <a:t>PGE</a:t>
            </a:r>
            <a:endParaRPr lang="en-US" sz="680" dirty="0"/>
          </a:p>
        </p:txBody>
      </p:sp>
      <p:sp>
        <p:nvSpPr>
          <p:cNvPr id="7" name="Text 5"/>
          <p:cNvSpPr/>
          <p:nvPr/>
        </p:nvSpPr>
        <p:spPr>
          <a:xfrm>
            <a:off x="584002" y="3843338"/>
            <a:ext cx="4015841" cy="475059"/>
          </a:xfrm>
          <a:prstGeom prst="rect">
            <a:avLst/>
          </a:prstGeom>
          <a:noFill/>
          <a:ln/>
        </p:spPr>
        <p:txBody>
          <a:bodyPr wrap="square" lIns="0" tIns="0" rIns="0" bIns="0" rtlCol="0" anchor="t"/>
          <a:lstStyle/>
          <a:p>
            <a:pPr algn="l" indent="0" marL="0">
              <a:lnSpc>
                <a:spcPts val="1247"/>
              </a:lnSpc>
              <a:spcBef>
                <a:spcPts val="400"/>
              </a:spcBef>
              <a:buNone/>
            </a:pPr>
            <a:r>
              <a:rPr lang="en-US" sz="860" dirty="0">
                <a:solidFill>
                  <a:srgbClr val="2C3136"/>
                </a:solidFill>
                <a:latin typeface="Arial" pitchFamily="34" charset="0"/>
                <a:ea typeface="Arial" pitchFamily="34" charset="-122"/>
                <a:cs typeface="Arial" pitchFamily="34" charset="-120"/>
              </a:rPr>
              <a:t>Utilitas solid penghasil kas yang </a:t>
            </a:r>
            <a:pPr algn="l" indent="0" marL="0">
              <a:lnSpc>
                <a:spcPts val="1247"/>
              </a:lnSpc>
              <a:spcBef>
                <a:spcPts val="400"/>
              </a:spcBef>
              <a:buNone/>
            </a:pPr>
            <a:r>
              <a:rPr lang="en-US" sz="860" b="1" dirty="0">
                <a:solidFill>
                  <a:srgbClr val="2C3136"/>
                </a:solidFill>
                <a:latin typeface="Arial" pitchFamily="34" charset="0"/>
                <a:ea typeface="Arial" pitchFamily="34" charset="-122"/>
                <a:cs typeface="Arial" pitchFamily="34" charset="-120"/>
              </a:rPr>
              <a:t>dinilai pasar sebagai perusahaan pertumbuhan</a:t>
            </a:r>
            <a:pPr algn="l" indent="0" marL="0">
              <a:lnSpc>
                <a:spcPts val="1247"/>
              </a:lnSpc>
              <a:spcBef>
                <a:spcPts val="400"/>
              </a:spcBef>
              <a:buNone/>
            </a:pPr>
            <a:r>
              <a:rPr lang="en-US" sz="860" dirty="0">
                <a:solidFill>
                  <a:srgbClr val="2C3136"/>
                </a:solidFill>
                <a:latin typeface="Arial" pitchFamily="34" charset="0"/>
                <a:ea typeface="Arial" pitchFamily="34" charset="-122"/>
                <a:cs typeface="Arial" pitchFamily="34" charset="-120"/>
              </a:rPr>
              <a:t>. P/E 20,74x dan P/BV 1,43x melawan ROE 6,73%. Selisih itu adalah harga yang dibayar untuk eksekusi masa depan.</a:t>
            </a:r>
            <a:endParaRPr lang="en-US" sz="860" dirty="0"/>
          </a:p>
        </p:txBody>
      </p:sp>
      <p:sp>
        <p:nvSpPr>
          <p:cNvPr id="8" name="Shape 6"/>
          <p:cNvSpPr/>
          <p:nvPr/>
        </p:nvSpPr>
        <p:spPr>
          <a:xfrm>
            <a:off x="4641652" y="3697337"/>
            <a:ext cx="0" cy="621060"/>
          </a:xfrm>
          <a:prstGeom prst="line">
            <a:avLst/>
          </a:prstGeom>
          <a:noFill/>
          <a:ln w="38100">
            <a:solidFill>
              <a:srgbClr val="154C5B"/>
            </a:solidFill>
            <a:prstDash val="solid"/>
          </a:ln>
        </p:spPr>
      </p:sp>
      <p:sp>
        <p:nvSpPr>
          <p:cNvPr id="9" name="Text 7"/>
          <p:cNvSpPr/>
          <p:nvPr/>
        </p:nvSpPr>
        <p:spPr>
          <a:xfrm>
            <a:off x="4800302" y="3697337"/>
            <a:ext cx="4015841" cy="95250"/>
          </a:xfrm>
          <a:prstGeom prst="rect">
            <a:avLst/>
          </a:prstGeom>
          <a:noFill/>
          <a:ln/>
        </p:spPr>
        <p:txBody>
          <a:bodyPr wrap="square" lIns="0" tIns="0" rIns="0" bIns="0" rtlCol="0" anchor="t"/>
          <a:lstStyle/>
          <a:p>
            <a:pPr algn="l" indent="0" marL="0">
              <a:buNone/>
            </a:pPr>
            <a:r>
              <a:rPr lang="en-US" sz="680" b="1" dirty="0">
                <a:solidFill>
                  <a:srgbClr val="154C5B"/>
                </a:solidFill>
                <a:latin typeface="Arial" pitchFamily="34" charset="0"/>
                <a:ea typeface="Arial" pitchFamily="34" charset="-122"/>
                <a:cs typeface="Arial" pitchFamily="34" charset="-120"/>
              </a:rPr>
              <a:t>BANK MANDIRI</a:t>
            </a:r>
            <a:endParaRPr lang="en-US" sz="680" dirty="0"/>
          </a:p>
        </p:txBody>
      </p:sp>
      <p:sp>
        <p:nvSpPr>
          <p:cNvPr id="10" name="Text 8"/>
          <p:cNvSpPr/>
          <p:nvPr/>
        </p:nvSpPr>
        <p:spPr>
          <a:xfrm>
            <a:off x="4800302" y="3843338"/>
            <a:ext cx="4015841" cy="475059"/>
          </a:xfrm>
          <a:prstGeom prst="rect">
            <a:avLst/>
          </a:prstGeom>
          <a:noFill/>
          <a:ln/>
        </p:spPr>
        <p:txBody>
          <a:bodyPr wrap="square" lIns="0" tIns="0" rIns="0" bIns="0" rtlCol="0" anchor="t"/>
          <a:lstStyle/>
          <a:p>
            <a:pPr algn="l" indent="0" marL="0">
              <a:lnSpc>
                <a:spcPts val="1247"/>
              </a:lnSpc>
              <a:spcBef>
                <a:spcPts val="400"/>
              </a:spcBef>
              <a:buNone/>
            </a:pPr>
            <a:r>
              <a:rPr lang="en-US" sz="860" dirty="0">
                <a:solidFill>
                  <a:srgbClr val="2C3136"/>
                </a:solidFill>
                <a:latin typeface="Arial" pitchFamily="34" charset="0"/>
                <a:ea typeface="Arial" pitchFamily="34" charset="-122"/>
                <a:cs typeface="Arial" pitchFamily="34" charset="-120"/>
              </a:rPr>
              <a:t>Bank dengan permodalan kokoh dan </a:t>
            </a:r>
            <a:pPr algn="l" indent="0" marL="0">
              <a:lnSpc>
                <a:spcPts val="1247"/>
              </a:lnSpc>
              <a:spcBef>
                <a:spcPts val="400"/>
              </a:spcBef>
              <a:buNone/>
            </a:pPr>
            <a:r>
              <a:rPr lang="en-US" sz="860" b="1" dirty="0">
                <a:solidFill>
                  <a:srgbClr val="2C3136"/>
                </a:solidFill>
                <a:latin typeface="Arial" pitchFamily="34" charset="0"/>
                <a:ea typeface="Arial" pitchFamily="34" charset="-122"/>
                <a:cs typeface="Arial" pitchFamily="34" charset="-120"/>
              </a:rPr>
              <a:t>infrastruktur keberlanjutan kelas atas</a:t>
            </a:r>
            <a:pPr algn="l" indent="0" marL="0">
              <a:lnSpc>
                <a:spcPts val="1247"/>
              </a:lnSpc>
              <a:spcBef>
                <a:spcPts val="400"/>
              </a:spcBef>
              <a:buNone/>
            </a:pPr>
            <a:r>
              <a:rPr lang="en-US" sz="860" dirty="0">
                <a:solidFill>
                  <a:srgbClr val="2C3136"/>
                </a:solidFill>
                <a:latin typeface="Arial" pitchFamily="34" charset="0"/>
                <a:ea typeface="Arial" pitchFamily="34" charset="-122"/>
                <a:cs typeface="Arial" pitchFamily="34" charset="-120"/>
              </a:rPr>
              <a:t>. MSCI naik BBB ke AA dan Sustainalytics 28,4 ke 9,5 dalam satu tahun — mengukur pengungkapan, bukan dekarbonisasi portofolio.</a:t>
            </a:r>
            <a:endParaRPr lang="en-US" sz="86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06301" y="1081236"/>
          <a:ext cx="8331101" cy="2489150"/>
        </p:xfrm>
        <a:graphic>
          <a:graphicData uri="http://schemas.openxmlformats.org/drawingml/2006/table">
            <a:tbl>
              <a:tblPr/>
              <a:tblGrid>
                <a:gridCol w="1999464"/>
                <a:gridCol w="3165818"/>
                <a:gridCol w="3165818"/>
              </a:tblGrid>
              <a:tr h="226286">
                <a:tc>
                  <a:txBody>
                    <a:bodyPr/>
                    <a:lstStyle/>
                    <a:p>
                      <a:pPr algn="l" indent="0" marL="0">
                        <a:buNone/>
                      </a:pPr>
                      <a:r>
                        <a:rPr lang="en-US" sz="750" b="1" dirty="0">
                          <a:solidFill>
                            <a:srgbClr val="FFFFFF"/>
                          </a:solidFill>
                          <a:latin typeface="Arial" pitchFamily="34" charset="0"/>
                          <a:ea typeface="Arial" pitchFamily="34" charset="-122"/>
                          <a:cs typeface="Arial" pitchFamily="34" charset="-120"/>
                        </a:rPr>
                        <a:t>Dimensi</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6191D"/>
                    </a:solidFill>
                  </a:tcPr>
                </a:tc>
                <a:tc>
                  <a:txBody>
                    <a:bodyPr/>
                    <a:lstStyle/>
                    <a:p>
                      <a:pPr algn="l" indent="0" marL="0">
                        <a:buNone/>
                      </a:pPr>
                      <a:r>
                        <a:rPr lang="en-US" sz="750" b="1" dirty="0">
                          <a:solidFill>
                            <a:srgbClr val="FFFFFF"/>
                          </a:solidFill>
                          <a:latin typeface="Arial" pitchFamily="34" charset="0"/>
                          <a:ea typeface="Arial" pitchFamily="34" charset="-122"/>
                          <a:cs typeface="Arial" pitchFamily="34" charset="-120"/>
                        </a:rPr>
                        <a:t>PGE</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C1502E"/>
                    </a:solidFill>
                  </a:tcPr>
                </a:tc>
                <a:tc>
                  <a:txBody>
                    <a:bodyPr/>
                    <a:lstStyle/>
                    <a:p>
                      <a:pPr algn="l" indent="0" marL="0">
                        <a:buNone/>
                      </a:pPr>
                      <a:r>
                        <a:rPr lang="en-US" sz="750" b="1" dirty="0">
                          <a:solidFill>
                            <a:srgbClr val="FFFFFF"/>
                          </a:solidFill>
                          <a:latin typeface="Arial" pitchFamily="34" charset="0"/>
                          <a:ea typeface="Arial" pitchFamily="34" charset="-122"/>
                          <a:cs typeface="Arial" pitchFamily="34" charset="-120"/>
                        </a:rPr>
                        <a:t>Bank Mandiri</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154C5B"/>
                    </a:solidFill>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Skala</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Aset USD3,03 miliar</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Aset Rp2.830 triliun</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Pertumbuhan pendapatan</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+6,3%</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+7,7% pendapatan bunga</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Pertumbuhan laba bersih</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b="1" dirty="0">
                          <a:solidFill>
                            <a:srgbClr val="C1502E"/>
                          </a:solidFill>
                          <a:latin typeface="Arial" pitchFamily="34" charset="0"/>
                          <a:ea typeface="Arial" pitchFamily="34" charset="-122"/>
                          <a:cs typeface="Arial" pitchFamily="34" charset="-120"/>
                        </a:rPr>
                        <a:t>−14,1%</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b="1" dirty="0">
                          <a:solidFill>
                            <a:srgbClr val="B08327"/>
                          </a:solidFill>
                          <a:latin typeface="Arial" pitchFamily="34" charset="0"/>
                          <a:ea typeface="Arial" pitchFamily="34" charset="-122"/>
                          <a:cs typeface="Arial" pitchFamily="34" charset="-120"/>
                        </a:rPr>
                        <a:t>+0,9%</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Profitabilitas</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ROE 6,73% — turun tiga tahun</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ROE 23,15% — turun tiga tahun</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Solvabilitas</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b="1" dirty="0">
                          <a:solidFill>
                            <a:srgbClr val="4A7C59"/>
                          </a:solidFill>
                          <a:latin typeface="Arial" pitchFamily="34" charset="0"/>
                          <a:ea typeface="Arial" pitchFamily="34" charset="-122"/>
                          <a:cs typeface="Arial" pitchFamily="34" charset="-120"/>
                        </a:rPr>
                        <a:t>Utang neto/EBITDA 0,10x</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b="1" dirty="0">
                          <a:solidFill>
                            <a:srgbClr val="4A7C59"/>
                          </a:solidFill>
                          <a:latin typeface="Arial" pitchFamily="34" charset="0"/>
                          <a:ea typeface="Arial" pitchFamily="34" charset="-122"/>
                          <a:cs typeface="Arial" pitchFamily="34" charset="-120"/>
                        </a:rPr>
                        <a:t>CAR 19,36%</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Likuiditas</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4A7C59"/>
                          </a:solidFill>
                          <a:latin typeface="Arial" pitchFamily="34" charset="0"/>
                          <a:ea typeface="Arial" pitchFamily="34" charset="-122"/>
                          <a:cs typeface="Arial" pitchFamily="34" charset="-120"/>
                        </a:rPr>
                        <a:t>Rasio lancar 411%</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4A7C59"/>
                          </a:solidFill>
                          <a:latin typeface="Arial" pitchFamily="34" charset="0"/>
                          <a:ea typeface="Arial" pitchFamily="34" charset="-122"/>
                          <a:cs typeface="Arial" pitchFamily="34" charset="-120"/>
                        </a:rPr>
                        <a:t>LDR 88,92%, LCR 137,4%</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Kualitas aset</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Penyisihan aset tetap USD112,6 juta</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NPL gross 0,96%</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Efisiensi</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C1502E"/>
                          </a:solidFill>
                          <a:latin typeface="Arial" pitchFamily="34" charset="0"/>
                          <a:ea typeface="Arial" pitchFamily="34" charset="-122"/>
                          <a:cs typeface="Arial" pitchFamily="34" charset="-120"/>
                        </a:rPr>
                        <a:t>Perputaran aset 0,14x</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C1502E"/>
                          </a:solidFill>
                          <a:latin typeface="Arial" pitchFamily="34" charset="0"/>
                          <a:ea typeface="Arial" pitchFamily="34" charset="-122"/>
                          <a:cs typeface="Arial" pitchFamily="34" charset="-120"/>
                        </a:rPr>
                        <a:t>BOPO 60,23% — memburuk</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dirty="0">
                          <a:solidFill>
                            <a:srgbClr val="16191D"/>
                          </a:solidFill>
                          <a:latin typeface="Arial" pitchFamily="34" charset="0"/>
                          <a:ea typeface="Arial" pitchFamily="34" charset="-122"/>
                          <a:cs typeface="Arial" pitchFamily="34" charset="-120"/>
                        </a:rPr>
                        <a:t>Kualitas laba</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4A7C59"/>
                          </a:solidFill>
                          <a:latin typeface="Arial" pitchFamily="34" charset="0"/>
                          <a:ea typeface="Arial" pitchFamily="34" charset="-122"/>
                          <a:cs typeface="Arial" pitchFamily="34" charset="-120"/>
                        </a:rPr>
                        <a:t>Arus kas operasi/EBITDA 0,95x</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c>
                  <a:txBody>
                    <a:bodyPr/>
                    <a:lstStyle/>
                    <a:p>
                      <a:pPr algn="l" indent="0" marL="0">
                        <a:buNone/>
                      </a:pPr>
                      <a:r>
                        <a:rPr lang="en-US" sz="750" dirty="0">
                          <a:solidFill>
                            <a:srgbClr val="B08327"/>
                          </a:solidFill>
                          <a:latin typeface="Arial" pitchFamily="34" charset="0"/>
                          <a:ea typeface="Arial" pitchFamily="34" charset="-122"/>
                          <a:cs typeface="Arial" pitchFamily="34" charset="-120"/>
                        </a:rPr>
                        <a:t>Laba +0,9% vs aset +16,6%</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tcPr>
                </a:tc>
              </a:tr>
              <a:tr h="226286">
                <a:tc>
                  <a:txBody>
                    <a:bodyPr/>
                    <a:lstStyle/>
                    <a:p>
                      <a:pPr algn="l" indent="0" marL="0">
                        <a:buNone/>
                      </a:pPr>
                      <a:r>
                        <a:rPr lang="en-US" sz="750" b="1" dirty="0">
                          <a:solidFill>
                            <a:srgbClr val="16191D"/>
                          </a:solidFill>
                          <a:latin typeface="Arial" pitchFamily="34" charset="0"/>
                          <a:ea typeface="Arial" pitchFamily="34" charset="-122"/>
                          <a:cs typeface="Arial" pitchFamily="34" charset="-120"/>
                        </a:rPr>
                        <a:t>Vonis kesehatan keuangan</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l" indent="0" marL="0">
                        <a:buNone/>
                      </a:pPr>
                      <a:r>
                        <a:rPr lang="en-US" sz="750" b="1" dirty="0">
                          <a:solidFill>
                            <a:srgbClr val="16191D"/>
                          </a:solidFill>
                          <a:latin typeface="Arial" pitchFamily="34" charset="0"/>
                          <a:ea typeface="Arial" pitchFamily="34" charset="-122"/>
                          <a:cs typeface="Arial" pitchFamily="34" charset="-120"/>
                        </a:rPr>
                        <a:t>Sangat kuat, kurang produktif</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c>
                  <a:txBody>
                    <a:bodyPr/>
                    <a:lstStyle/>
                    <a:p>
                      <a:pPr algn="l" indent="0" marL="0">
                        <a:buNone/>
                      </a:pPr>
                      <a:r>
                        <a:rPr lang="en-US" sz="750" b="1" dirty="0">
                          <a:solidFill>
                            <a:srgbClr val="16191D"/>
                          </a:solidFill>
                          <a:latin typeface="Arial" pitchFamily="34" charset="0"/>
                          <a:ea typeface="Arial" pitchFamily="34" charset="-122"/>
                          <a:cs typeface="Arial" pitchFamily="34" charset="-120"/>
                        </a:rPr>
                        <a:t>Kokoh, margin menyempit</a:t>
                      </a:r>
                      <a:endParaRPr lang="en-US" sz="750" dirty="0">
                        <a:latin typeface="Arial" charset="0"/>
                        <a:ea typeface="Arial" charset="0"/>
                        <a:cs typeface="Arial" charset="0"/>
                      </a:endParaRPr>
                    </a:p>
                  </a:txBody>
                  <a:tcPr marL="44450" marR="44450" marT="19050" marB="19050" anchor="ctr">
                    <a:lnL w="6350" cap="flat" cmpd="sng" algn="ctr">
                      <a:solidFill>
                        <a:srgbClr val="D8D3C9"/>
                      </a:solidFill>
                      <a:prstDash val="solid"/>
                      <a:round/>
                      <a:headEnd type="none" w="med" len="med"/>
                      <a:tailEnd type="none" w="med" len="med"/>
                    </a:lnL>
                    <a:lnR w="6350" cap="flat" cmpd="sng" algn="ctr">
                      <a:solidFill>
                        <a:srgbClr val="D8D3C9"/>
                      </a:solidFill>
                      <a:prstDash val="solid"/>
                      <a:round/>
                      <a:headEnd type="none" w="med" len="med"/>
                      <a:tailEnd type="none" w="med" len="med"/>
                    </a:lnR>
                    <a:lnT w="6350" cap="flat" cmpd="sng" algn="ctr">
                      <a:solidFill>
                        <a:srgbClr val="D8D3C9"/>
                      </a:solidFill>
                      <a:prstDash val="solid"/>
                      <a:round/>
                      <a:headEnd type="none" w="med" len="med"/>
                      <a:tailEnd type="none" w="med" len="med"/>
                    </a:lnT>
                    <a:lnB w="6350" cap="flat" cmpd="sng" algn="ctr">
                      <a:solidFill>
                        <a:srgbClr val="D8D3C9"/>
                      </a:solidFill>
                      <a:prstDash val="solid"/>
                      <a:round/>
                      <a:headEnd type="none" w="med" len="med"/>
                      <a:tailEnd type="none" w="med" len="med"/>
                    </a:lnB>
                    <a:solidFill>
                      <a:srgbClr val="EAE6DE"/>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16191D"/>
          </a:solidFill>
          <a:ln/>
        </p:spPr>
        <p:txBody>
          <a:bodyPr wrap="square" rtlCol="0" anchor="ctr"/>
          <a:lstStyle/>
          <a:p>
            <a:pPr indent="0" marL="0">
              <a:buNone/>
            </a:pPr>
            <a:endParaRPr lang="en-US" dirty="0"/>
          </a:p>
        </p:txBody>
      </p:sp>
      <p:sp>
        <p:nvSpPr>
          <p:cNvPr id="3" name="Text 1"/>
          <p:cNvSpPr/>
          <p:nvPr/>
        </p:nvSpPr>
        <p:spPr>
          <a:xfrm>
            <a:off x="507950" y="381000"/>
            <a:ext cx="8290661" cy="104775"/>
          </a:xfrm>
          <a:prstGeom prst="rect">
            <a:avLst/>
          </a:prstGeom>
          <a:noFill/>
          <a:ln/>
        </p:spPr>
        <p:txBody>
          <a:bodyPr wrap="square" lIns="0" tIns="0" rIns="0" bIns="0" rtlCol="0" anchor="t"/>
          <a:lstStyle/>
          <a:p>
            <a:pPr algn="l" indent="0" marL="0">
              <a:buNone/>
            </a:pPr>
            <a:r>
              <a:rPr lang="en-US" sz="750" b="1" dirty="0">
                <a:solidFill>
                  <a:srgbClr val="8B9096"/>
                </a:solidFill>
                <a:latin typeface="Arial" pitchFamily="34" charset="0"/>
                <a:ea typeface="Arial" pitchFamily="34" charset="-122"/>
                <a:cs typeface="Arial" pitchFamily="34" charset="-120"/>
              </a:rPr>
              <a:t>TINDAK LANJUT</a:t>
            </a:r>
            <a:endParaRPr lang="en-US" sz="750" dirty="0"/>
          </a:p>
        </p:txBody>
      </p:sp>
      <p:sp>
        <p:nvSpPr>
          <p:cNvPr id="4" name="Text 2"/>
          <p:cNvSpPr/>
          <p:nvPr/>
        </p:nvSpPr>
        <p:spPr>
          <a:xfrm>
            <a:off x="507950" y="536525"/>
            <a:ext cx="8290661" cy="356592"/>
          </a:xfrm>
          <a:prstGeom prst="rect">
            <a:avLst/>
          </a:prstGeom>
          <a:noFill/>
          <a:ln/>
        </p:spPr>
        <p:txBody>
          <a:bodyPr wrap="square" lIns="0" tIns="0" rIns="0" bIns="0" rtlCol="0" anchor="t"/>
          <a:lstStyle/>
          <a:p>
            <a:pPr algn="l" indent="0" marL="0">
              <a:lnSpc>
                <a:spcPts val="2808"/>
              </a:lnSpc>
              <a:spcBef>
                <a:spcPts val="400"/>
              </a:spcBef>
              <a:buNone/>
            </a:pPr>
            <a:r>
              <a:rPr lang="en-US" sz="2600" b="1" dirty="0">
                <a:solidFill>
                  <a:srgbClr val="F2EFE9"/>
                </a:solidFill>
                <a:latin typeface="Arial" pitchFamily="34" charset="0"/>
                <a:ea typeface="Arial" pitchFamily="34" charset="-122"/>
                <a:cs typeface="Arial" pitchFamily="34" charset="-120"/>
              </a:rPr>
              <a:t>Prioritas, Berurut Menurut Dampaknya</a:t>
            </a:r>
            <a:endParaRPr lang="en-US" sz="2600" dirty="0"/>
          </a:p>
        </p:txBody>
      </p:sp>
      <p:sp>
        <p:nvSpPr>
          <p:cNvPr id="5" name="Text 3"/>
          <p:cNvSpPr/>
          <p:nvPr/>
        </p:nvSpPr>
        <p:spPr>
          <a:xfrm>
            <a:off x="507950" y="1020068"/>
            <a:ext cx="8127950" cy="25301"/>
          </a:xfrm>
          <a:prstGeom prst="rect">
            <a:avLst/>
          </a:prstGeom>
          <a:solidFill>
            <a:srgbClr val="F2EFE9"/>
          </a:solidFill>
          <a:ln/>
        </p:spPr>
        <p:txBody>
          <a:bodyPr wrap="square" rtlCol="0" anchor="ctr"/>
          <a:lstStyle/>
          <a:p>
            <a:pPr indent="0" marL="0">
              <a:buNone/>
            </a:pPr>
            <a:endParaRPr lang="en-US" dirty="0"/>
          </a:p>
        </p:txBody>
      </p:sp>
      <p:sp>
        <p:nvSpPr>
          <p:cNvPr id="6" name="Shape 4"/>
          <p:cNvSpPr/>
          <p:nvPr/>
        </p:nvSpPr>
        <p:spPr>
          <a:xfrm>
            <a:off x="527000" y="1273969"/>
            <a:ext cx="0" cy="2167235"/>
          </a:xfrm>
          <a:prstGeom prst="line">
            <a:avLst/>
          </a:prstGeom>
          <a:noFill/>
          <a:ln w="38100">
            <a:solidFill>
              <a:srgbClr val="C1502E"/>
            </a:solidFill>
            <a:prstDash val="solid"/>
          </a:ln>
        </p:spPr>
      </p:sp>
      <p:sp>
        <p:nvSpPr>
          <p:cNvPr id="7" name="Text 5"/>
          <p:cNvSpPr/>
          <p:nvPr/>
        </p:nvSpPr>
        <p:spPr>
          <a:xfrm>
            <a:off x="698450" y="1273969"/>
            <a:ext cx="3847338" cy="95250"/>
          </a:xfrm>
          <a:prstGeom prst="rect">
            <a:avLst/>
          </a:prstGeom>
          <a:noFill/>
          <a:ln/>
        </p:spPr>
        <p:txBody>
          <a:bodyPr wrap="square" lIns="0" tIns="0" rIns="0" bIns="0" rtlCol="0" anchor="t"/>
          <a:lstStyle/>
          <a:p>
            <a:pPr algn="l" indent="0" marL="0">
              <a:buNone/>
            </a:pPr>
            <a:r>
              <a:rPr lang="en-US" sz="680" b="1" dirty="0">
                <a:solidFill>
                  <a:srgbClr val="E8845F"/>
                </a:solidFill>
                <a:latin typeface="Arial" pitchFamily="34" charset="0"/>
                <a:ea typeface="Arial" pitchFamily="34" charset="-122"/>
                <a:cs typeface="Arial" pitchFamily="34" charset="-120"/>
              </a:rPr>
              <a:t>PGE</a:t>
            </a:r>
            <a:endParaRPr lang="en-US" sz="680" dirty="0"/>
          </a:p>
        </p:txBody>
      </p:sp>
      <p:sp>
        <p:nvSpPr>
          <p:cNvPr id="8" name="Text 6"/>
          <p:cNvSpPr/>
          <p:nvPr/>
        </p:nvSpPr>
        <p:spPr>
          <a:xfrm>
            <a:off x="698450" y="1496169"/>
            <a:ext cx="3847338" cy="469255"/>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1.  Tuntaskan eksekusi eksplorasi.</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Dua tahun nol sumur dengan hambatan yang berulang. Program 21 sumur pada 2026 adalah ujian kredibilitas tesis pertumbuhan yang menopang premi valuasi</a:t>
            </a:r>
            <a:endParaRPr lang="en-US" sz="850" dirty="0"/>
          </a:p>
        </p:txBody>
      </p:sp>
      <p:sp>
        <p:nvSpPr>
          <p:cNvPr id="9" name="Text 7"/>
          <p:cNvSpPr/>
          <p:nvPr/>
        </p:nvSpPr>
        <p:spPr>
          <a:xfrm>
            <a:off x="698450" y="2092375"/>
            <a:ext cx="3847338" cy="312837"/>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2.  Kurangi volatilitas kurs.</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Eksposur Yen bersih setara USD144 juta tanpa akuntansi lindung nilai menyumbang swing USD23,6 juta tahun ini</a:t>
            </a:r>
            <a:endParaRPr lang="en-US" sz="850" dirty="0"/>
          </a:p>
        </p:txBody>
      </p:sp>
      <p:sp>
        <p:nvSpPr>
          <p:cNvPr id="10" name="Text 8"/>
          <p:cNvSpPr/>
          <p:nvPr/>
        </p:nvSpPr>
        <p:spPr>
          <a:xfrm>
            <a:off x="698450" y="2532162"/>
            <a:ext cx="3847338" cy="469255"/>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3.  Kerahkan kas menganggur.</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USD718 juta menghasilkan 4,1% melawan biaya obligasi 5,15%, sementara aset eksplorasi USD169 juta beku — area yang persis ditandai EY sebagai Hal Audit Utama</a:t>
            </a:r>
            <a:endParaRPr lang="en-US" sz="850" dirty="0"/>
          </a:p>
        </p:txBody>
      </p:sp>
      <p:sp>
        <p:nvSpPr>
          <p:cNvPr id="11" name="Text 9"/>
          <p:cNvSpPr/>
          <p:nvPr/>
        </p:nvSpPr>
        <p:spPr>
          <a:xfrm>
            <a:off x="698450" y="3128367"/>
            <a:ext cx="3847338" cy="312837"/>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4.  Rapikan konsistensi angka</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antara Ikhtisar, MD&amp;A, dan Catatan atas laporan keuangan</a:t>
            </a:r>
            <a:endParaRPr lang="en-US" sz="850" dirty="0"/>
          </a:p>
        </p:txBody>
      </p:sp>
      <p:sp>
        <p:nvSpPr>
          <p:cNvPr id="12" name="Shape 10"/>
          <p:cNvSpPr/>
          <p:nvPr/>
        </p:nvSpPr>
        <p:spPr>
          <a:xfrm>
            <a:off x="4692551" y="1273969"/>
            <a:ext cx="0" cy="2167235"/>
          </a:xfrm>
          <a:prstGeom prst="line">
            <a:avLst/>
          </a:prstGeom>
          <a:noFill/>
          <a:ln w="38100">
            <a:solidFill>
              <a:srgbClr val="2E7D91"/>
            </a:solidFill>
            <a:prstDash val="solid"/>
          </a:ln>
        </p:spPr>
      </p:sp>
      <p:sp>
        <p:nvSpPr>
          <p:cNvPr id="13" name="Text 11"/>
          <p:cNvSpPr/>
          <p:nvPr/>
        </p:nvSpPr>
        <p:spPr>
          <a:xfrm>
            <a:off x="4864001" y="1273969"/>
            <a:ext cx="3847338" cy="95250"/>
          </a:xfrm>
          <a:prstGeom prst="rect">
            <a:avLst/>
          </a:prstGeom>
          <a:noFill/>
          <a:ln/>
        </p:spPr>
        <p:txBody>
          <a:bodyPr wrap="square" lIns="0" tIns="0" rIns="0" bIns="0" rtlCol="0" anchor="t"/>
          <a:lstStyle/>
          <a:p>
            <a:pPr algn="l" indent="0" marL="0">
              <a:buNone/>
            </a:pPr>
            <a:r>
              <a:rPr lang="en-US" sz="680" b="1" dirty="0">
                <a:solidFill>
                  <a:srgbClr val="5FB6CC"/>
                </a:solidFill>
                <a:latin typeface="Arial" pitchFamily="34" charset="0"/>
                <a:ea typeface="Arial" pitchFamily="34" charset="-122"/>
                <a:cs typeface="Arial" pitchFamily="34" charset="-120"/>
              </a:rPr>
              <a:t>BANK MANDIRI</a:t>
            </a:r>
            <a:endParaRPr lang="en-US" sz="680" dirty="0"/>
          </a:p>
        </p:txBody>
      </p:sp>
      <p:sp>
        <p:nvSpPr>
          <p:cNvPr id="14" name="Text 12"/>
          <p:cNvSpPr/>
          <p:nvPr/>
        </p:nvSpPr>
        <p:spPr>
          <a:xfrm>
            <a:off x="4864001" y="1496169"/>
            <a:ext cx="3847338" cy="469255"/>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1.  Publikasikan target antara financed emissions.</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Mulai dari Power Generation, yang intensitasnya sudah turun 152,5 ke 88,7 dalam dua tahun — tren yang layak dijadikan target formal</a:t>
            </a:r>
            <a:endParaRPr lang="en-US" sz="850" dirty="0"/>
          </a:p>
        </p:txBody>
      </p:sp>
      <p:sp>
        <p:nvSpPr>
          <p:cNvPr id="15" name="Text 13"/>
          <p:cNvSpPr/>
          <p:nvPr/>
        </p:nvSpPr>
        <p:spPr>
          <a:xfrm>
            <a:off x="4864001" y="2092375"/>
            <a:ext cx="3847338" cy="312837"/>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2.  Perluas assurance ke KPI lingkungan,</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minimal financed emissions, dan selaraskan pernyataan hal. 40 dengan lampirannya</a:t>
            </a:r>
            <a:endParaRPr lang="en-US" sz="850" dirty="0"/>
          </a:p>
        </p:txBody>
      </p:sp>
      <p:sp>
        <p:nvSpPr>
          <p:cNvPr id="16" name="Text 14"/>
          <p:cNvSpPr/>
          <p:nvPr/>
        </p:nvSpPr>
        <p:spPr>
          <a:xfrm>
            <a:off x="4864001" y="2532162"/>
            <a:ext cx="3847338" cy="469255"/>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3.  Perbaiki pembingkaian, bukan angkanya.</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Sajikan emisi absolut berdampingan dengan intensitas, dan pangsa berkelanjutan berdampingan dengan nominalnya. Semua data sudah ada di dalam laporan</a:t>
            </a:r>
            <a:endParaRPr lang="en-US" sz="850" dirty="0"/>
          </a:p>
        </p:txBody>
      </p:sp>
      <p:sp>
        <p:nvSpPr>
          <p:cNvPr id="17" name="Text 15"/>
          <p:cNvSpPr/>
          <p:nvPr/>
        </p:nvSpPr>
        <p:spPr>
          <a:xfrm>
            <a:off x="4864001" y="3128367"/>
            <a:ext cx="3847338" cy="312837"/>
          </a:xfrm>
          <a:prstGeom prst="rect">
            <a:avLst/>
          </a:prstGeom>
          <a:noFill/>
          <a:ln/>
        </p:spPr>
        <p:txBody>
          <a:bodyPr wrap="square" lIns="0" tIns="0" rIns="0" bIns="0" rtlCol="0" anchor="t"/>
          <a:lstStyle/>
          <a:p>
            <a:pPr algn="l" indent="0" marL="0">
              <a:lnSpc>
                <a:spcPts val="1232"/>
              </a:lnSpc>
              <a:spcBef>
                <a:spcPts val="1000"/>
              </a:spcBef>
              <a:buNone/>
            </a:pPr>
            <a:r>
              <a:rPr lang="en-US" sz="850" b="1" dirty="0">
                <a:solidFill>
                  <a:srgbClr val="DDE1E5"/>
                </a:solidFill>
                <a:latin typeface="Arial" pitchFamily="34" charset="0"/>
                <a:ea typeface="Arial" pitchFamily="34" charset="-122"/>
                <a:cs typeface="Arial" pitchFamily="34" charset="-120"/>
              </a:rPr>
              <a:t>4.  Selaraskan belanja modal dengan NZE 2030,</a:t>
            </a:r>
            <a:pPr algn="l" indent="0" marL="0">
              <a:lnSpc>
                <a:spcPts val="1232"/>
              </a:lnSpc>
              <a:spcBef>
                <a:spcPts val="1000"/>
              </a:spcBef>
              <a:buNone/>
            </a:pPr>
            <a:r>
              <a:rPr lang="en-US" sz="850" dirty="0">
                <a:solidFill>
                  <a:srgbClr val="DDE1E5"/>
                </a:solidFill>
                <a:latin typeface="Arial" pitchFamily="34" charset="0"/>
                <a:ea typeface="Arial" pitchFamily="34" charset="-122"/>
                <a:cs typeface="Arial" pitchFamily="34" charset="-120"/>
              </a:rPr>
              <a:t> atau ungkapkan volume dan biaya strategi offset yang menjadi tumpuannya</a:t>
            </a:r>
            <a:endParaRPr lang="en-US" sz="850" dirty="0"/>
          </a:p>
        </p:txBody>
      </p:sp>
      <p:sp>
        <p:nvSpPr>
          <p:cNvPr id="18" name="Text 16"/>
          <p:cNvSpPr/>
          <p:nvPr/>
        </p:nvSpPr>
        <p:spPr>
          <a:xfrm>
            <a:off x="507950" y="3720554"/>
            <a:ext cx="8127950" cy="12650"/>
          </a:xfrm>
          <a:prstGeom prst="rect">
            <a:avLst/>
          </a:prstGeom>
          <a:solidFill>
            <a:srgbClr val="3A4046"/>
          </a:solidFill>
          <a:ln/>
        </p:spPr>
        <p:txBody>
          <a:bodyPr wrap="square" rtlCol="0" anchor="ctr"/>
          <a:lstStyle/>
          <a:p>
            <a:pPr indent="0" marL="0">
              <a:buNone/>
            </a:pPr>
            <a:endParaRPr lang="en-US" dirty="0"/>
          </a:p>
        </p:txBody>
      </p:sp>
      <p:sp>
        <p:nvSpPr>
          <p:cNvPr id="19" name="Text 17"/>
          <p:cNvSpPr/>
          <p:nvPr/>
        </p:nvSpPr>
        <p:spPr>
          <a:xfrm>
            <a:off x="507950" y="3885605"/>
            <a:ext cx="8290661" cy="337840"/>
          </a:xfrm>
          <a:prstGeom prst="rect">
            <a:avLst/>
          </a:prstGeom>
          <a:noFill/>
          <a:ln/>
        </p:spPr>
        <p:txBody>
          <a:bodyPr wrap="square" lIns="0" tIns="0" rIns="0" bIns="0" rtlCol="0" anchor="t"/>
          <a:lstStyle/>
          <a:p>
            <a:pPr algn="l" indent="0" marL="0">
              <a:lnSpc>
                <a:spcPts val="1330"/>
              </a:lnSpc>
              <a:spcBef>
                <a:spcPts val="1200"/>
              </a:spcBef>
              <a:buNone/>
            </a:pPr>
            <a:r>
              <a:rPr lang="en-US" sz="950" dirty="0">
                <a:solidFill>
                  <a:srgbClr val="B9BEC4"/>
                </a:solidFill>
                <a:latin typeface="Arial" pitchFamily="34" charset="0"/>
                <a:ea typeface="Arial" pitchFamily="34" charset="-122"/>
                <a:cs typeface="Arial" pitchFamily="34" charset="-120"/>
              </a:rPr>
              <a:t>Yang merusak kepercayaan bukan angka yang memburuk, melainkan angka yang memburuk yang tersedia lengkap di dalam laporan tetapi tidak disebut.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Telaah Laporan Tahunan PGE 2025 dan Laporan Keberlanjutan Bank Mandiri 2025</dc:title>
  <dc:subject>PptxGenJS Presentation</dc:subject>
  <dc:creator>Analisis Dokumen</dc:creator>
  <cp:lastModifiedBy>Analisis Dokumen</cp:lastModifiedBy>
  <cp:revision>1</cp:revision>
  <dcterms:created xsi:type="dcterms:W3CDTF">2026-09-06T08:19:12Z</dcterms:created>
  <dcterms:modified xsi:type="dcterms:W3CDTF">2026-09-06T08:19:12Z</dcterms:modified>
</cp:coreProperties>
</file>